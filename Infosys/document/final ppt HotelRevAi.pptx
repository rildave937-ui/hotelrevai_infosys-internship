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C6BFE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C6BFE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C6BFE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C6BFE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C6BFE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0">
                <a:solidFill>
                  <a:srgbClr val="C6BFE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57655"/>
            <a:ext cx="10058400" cy="565861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57655"/>
            <a:ext cx="10058400" cy="5659120"/>
          </a:xfrm>
          <a:custGeom>
            <a:avLst/>
            <a:gdLst/>
            <a:ahLst/>
            <a:cxnLst/>
            <a:rect l="l" t="t" r="r" b="b"/>
            <a:pathLst>
              <a:path w="10058400" h="5659120">
                <a:moveTo>
                  <a:pt x="10058400" y="5658611"/>
                </a:moveTo>
                <a:lnTo>
                  <a:pt x="0" y="5658611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5658611"/>
                </a:lnTo>
                <a:close/>
              </a:path>
            </a:pathLst>
          </a:custGeom>
          <a:solidFill>
            <a:srgbClr val="0A0C23">
              <a:alpha val="9452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58" y="1352851"/>
            <a:ext cx="9140940" cy="8490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0">
                <a:solidFill>
                  <a:srgbClr val="C6BFE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45189" y="2334222"/>
            <a:ext cx="4678045" cy="2938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C6BFE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Relationship Id="rId4" Type="http://schemas.openxmlformats.org/officeDocument/2006/relationships/image" Target="../media/image2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6"/>
            <a:ext cx="3771900" cy="565861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364265" y="2245922"/>
            <a:ext cx="4719320" cy="848994"/>
          </a:xfrm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80"/>
              </a:spcBef>
            </a:pPr>
            <a:r>
              <a:rPr dirty="0"/>
              <a:t>Hotel</a:t>
            </a:r>
            <a:r>
              <a:rPr dirty="0" spc="-25"/>
              <a:t> </a:t>
            </a:r>
            <a:r>
              <a:rPr dirty="0" spc="-20"/>
              <a:t>Revenue</a:t>
            </a:r>
            <a:r>
              <a:rPr dirty="0" spc="-180"/>
              <a:t> </a:t>
            </a:r>
            <a:r>
              <a:rPr dirty="0"/>
              <a:t>Analysis</a:t>
            </a:r>
            <a:r>
              <a:rPr dirty="0" spc="-40"/>
              <a:t> </a:t>
            </a:r>
            <a:r>
              <a:rPr dirty="0" spc="-10"/>
              <a:t>(2018–2020)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4191" y="3290368"/>
            <a:ext cx="5171440" cy="10115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40900"/>
              </a:lnSpc>
              <a:spcBef>
                <a:spcPts val="85"/>
              </a:spcBef>
            </a:pP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This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comprehensive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data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analytics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project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examines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patterns,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 revenue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trends,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operational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performance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across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DAD8E8"/>
                </a:solidFill>
                <a:latin typeface="Tahoma"/>
                <a:cs typeface="Tahoma"/>
              </a:rPr>
              <a:t>a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three-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year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period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DAD8E8"/>
                </a:solidFill>
                <a:latin typeface="Tahoma"/>
                <a:cs typeface="Tahoma"/>
              </a:rPr>
              <a:t>from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70">
                <a:solidFill>
                  <a:srgbClr val="DAD8E8"/>
                </a:solidFill>
                <a:latin typeface="Tahoma"/>
                <a:cs typeface="Tahoma"/>
              </a:rPr>
              <a:t>2018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through </a:t>
            </a:r>
            <a:r>
              <a:rPr dirty="0" sz="1150">
                <a:solidFill>
                  <a:srgbClr val="DAD8E8"/>
                </a:solidFill>
                <a:latin typeface="Tahoma"/>
                <a:cs typeface="Tahoma"/>
              </a:rPr>
              <a:t>2020.</a:t>
            </a:r>
            <a:r>
              <a:rPr dirty="0" sz="1150" spc="-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DAD8E8"/>
                </a:solidFill>
                <a:latin typeface="Tahoma"/>
                <a:cs typeface="Tahoma"/>
              </a:rPr>
              <a:t>The</a:t>
            </a:r>
            <a:r>
              <a:rPr dirty="0" sz="1150" spc="-1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analysis</a:t>
            </a:r>
            <a:r>
              <a:rPr dirty="0" sz="1150" spc="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leverages</a:t>
            </a:r>
            <a:r>
              <a:rPr dirty="0" sz="1150">
                <a:solidFill>
                  <a:srgbClr val="DAD8E8"/>
                </a:solidFill>
                <a:latin typeface="Tahoma"/>
                <a:cs typeface="Tahoma"/>
              </a:rPr>
              <a:t> booking</a:t>
            </a:r>
            <a:r>
              <a:rPr dirty="0" sz="1150" spc="-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DAD8E8"/>
                </a:solidFill>
                <a:latin typeface="Tahoma"/>
                <a:cs typeface="Tahoma"/>
              </a:rPr>
              <a:t>data to</a:t>
            </a:r>
            <a:r>
              <a:rPr dirty="0" sz="1150" spc="-1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DAD8E8"/>
                </a:solidFill>
                <a:latin typeface="Tahoma"/>
                <a:cs typeface="Tahoma"/>
              </a:rPr>
              <a:t>identify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 revenue</a:t>
            </a:r>
            <a:r>
              <a:rPr dirty="0" sz="1150" spc="-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>
                <a:solidFill>
                  <a:srgbClr val="DAD8E8"/>
                </a:solidFill>
                <a:latin typeface="Tahoma"/>
                <a:cs typeface="Tahoma"/>
              </a:rPr>
              <a:t>opportunities</a:t>
            </a:r>
            <a:r>
              <a:rPr dirty="0" sz="1150" spc="-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and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operational</a:t>
            </a:r>
            <a:r>
              <a:rPr dirty="0" sz="1150" spc="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inefficiencies.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99576" y="6323088"/>
            <a:ext cx="1259205" cy="373380"/>
          </a:xfrm>
          <a:custGeom>
            <a:avLst/>
            <a:gdLst/>
            <a:ahLst/>
            <a:cxnLst/>
            <a:rect l="l" t="t" r="r" b="b"/>
            <a:pathLst>
              <a:path w="1259204" h="373379">
                <a:moveTo>
                  <a:pt x="1258824" y="0"/>
                </a:moveTo>
                <a:lnTo>
                  <a:pt x="0" y="0"/>
                </a:lnTo>
                <a:lnTo>
                  <a:pt x="0" y="373380"/>
                </a:lnTo>
                <a:lnTo>
                  <a:pt x="1258824" y="373380"/>
                </a:lnTo>
                <a:lnTo>
                  <a:pt x="1258824" y="368808"/>
                </a:lnTo>
                <a:lnTo>
                  <a:pt x="1258824" y="364236"/>
                </a:lnTo>
                <a:lnTo>
                  <a:pt x="1258824" y="7620"/>
                </a:lnTo>
                <a:lnTo>
                  <a:pt x="1258824" y="3048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89612" y="4530339"/>
            <a:ext cx="1727835" cy="2362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50">
                <a:solidFill>
                  <a:srgbClr val="C6BFED"/>
                </a:solidFill>
                <a:latin typeface="Times New Roman"/>
                <a:cs typeface="Times New Roman"/>
              </a:rPr>
              <a:t>Project</a:t>
            </a:r>
            <a:r>
              <a:rPr dirty="0" sz="1350" spc="425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C6BFED"/>
                </a:solidFill>
                <a:latin typeface="Times New Roman"/>
                <a:cs typeface="Times New Roman"/>
              </a:rPr>
              <a:t>Mentor:</a:t>
            </a:r>
            <a:r>
              <a:rPr dirty="0" sz="1350" spc="10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350" spc="-10">
                <a:solidFill>
                  <a:srgbClr val="C6BFED"/>
                </a:solidFill>
                <a:latin typeface="Times New Roman"/>
                <a:cs typeface="Times New Roman"/>
              </a:rPr>
              <a:t>Selciya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28248" y="4530339"/>
            <a:ext cx="2086610" cy="15582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50">
                <a:solidFill>
                  <a:srgbClr val="C6BFED"/>
                </a:solidFill>
                <a:latin typeface="Times New Roman"/>
                <a:cs typeface="Times New Roman"/>
              </a:rPr>
              <a:t>Presented</a:t>
            </a:r>
            <a:r>
              <a:rPr dirty="0" sz="1350" spc="20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C6BFED"/>
                </a:solidFill>
                <a:latin typeface="Times New Roman"/>
                <a:cs typeface="Times New Roman"/>
              </a:rPr>
              <a:t>By:</a:t>
            </a:r>
            <a:r>
              <a:rPr dirty="0" sz="1350" spc="405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C6BFED"/>
                </a:solidFill>
                <a:latin typeface="Times New Roman"/>
                <a:cs typeface="Times New Roman"/>
              </a:rPr>
              <a:t>TEAM</a:t>
            </a:r>
            <a:r>
              <a:rPr dirty="0" sz="1350" spc="55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350" spc="-50">
                <a:solidFill>
                  <a:srgbClr val="C6BFED"/>
                </a:solidFill>
                <a:latin typeface="Times New Roman"/>
                <a:cs typeface="Times New Roman"/>
              </a:rPr>
              <a:t>C</a:t>
            </a:r>
            <a:endParaRPr sz="1350">
              <a:latin typeface="Times New Roman"/>
              <a:cs typeface="Times New Roman"/>
            </a:endParaRPr>
          </a:p>
          <a:p>
            <a:pPr marL="1035050" marR="5080" indent="-9525">
              <a:lnSpc>
                <a:spcPts val="1490"/>
              </a:lnSpc>
              <a:spcBef>
                <a:spcPts val="50"/>
              </a:spcBef>
            </a:pPr>
            <a:r>
              <a:rPr dirty="0" sz="1200">
                <a:solidFill>
                  <a:srgbClr val="C6BFED"/>
                </a:solidFill>
                <a:latin typeface="Times New Roman"/>
                <a:cs typeface="Times New Roman"/>
              </a:rPr>
              <a:t>Om</a:t>
            </a:r>
            <a:r>
              <a:rPr dirty="0" sz="1200" spc="55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Times New Roman"/>
                <a:cs typeface="Times New Roman"/>
              </a:rPr>
              <a:t>Bokare </a:t>
            </a:r>
            <a:r>
              <a:rPr dirty="0" sz="1200">
                <a:solidFill>
                  <a:srgbClr val="C6BFED"/>
                </a:solidFill>
                <a:latin typeface="Times New Roman"/>
                <a:cs typeface="Times New Roman"/>
              </a:rPr>
              <a:t>Rinisha</a:t>
            </a:r>
            <a:r>
              <a:rPr dirty="0" sz="1200" spc="95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Times New Roman"/>
                <a:cs typeface="Times New Roman"/>
              </a:rPr>
              <a:t>Shajitha </a:t>
            </a:r>
            <a:r>
              <a:rPr dirty="0" sz="1200">
                <a:solidFill>
                  <a:srgbClr val="C6BFED"/>
                </a:solidFill>
                <a:latin typeface="Times New Roman"/>
                <a:cs typeface="Times New Roman"/>
              </a:rPr>
              <a:t>Rinal</a:t>
            </a:r>
            <a:r>
              <a:rPr dirty="0" sz="1200" spc="70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C6BFED"/>
                </a:solidFill>
                <a:latin typeface="Times New Roman"/>
                <a:cs typeface="Times New Roman"/>
              </a:rPr>
              <a:t>Dave </a:t>
            </a:r>
            <a:r>
              <a:rPr dirty="0" sz="1200">
                <a:solidFill>
                  <a:srgbClr val="C6BFED"/>
                </a:solidFill>
                <a:latin typeface="Times New Roman"/>
                <a:cs typeface="Times New Roman"/>
              </a:rPr>
              <a:t>Mihira</a:t>
            </a:r>
            <a:r>
              <a:rPr dirty="0" sz="1200" spc="80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C6BFED"/>
                </a:solidFill>
                <a:latin typeface="Times New Roman"/>
                <a:cs typeface="Times New Roman"/>
              </a:rPr>
              <a:t>Sri</a:t>
            </a:r>
            <a:endParaRPr sz="1200">
              <a:latin typeface="Times New Roman"/>
              <a:cs typeface="Times New Roman"/>
            </a:endParaRPr>
          </a:p>
          <a:p>
            <a:pPr marL="1025525">
              <a:lnSpc>
                <a:spcPts val="1425"/>
              </a:lnSpc>
            </a:pPr>
            <a:r>
              <a:rPr dirty="0" sz="1200">
                <a:solidFill>
                  <a:srgbClr val="C6BFED"/>
                </a:solidFill>
                <a:latin typeface="Times New Roman"/>
                <a:cs typeface="Times New Roman"/>
              </a:rPr>
              <a:t>Aditi</a:t>
            </a:r>
            <a:r>
              <a:rPr dirty="0" sz="1200" spc="55">
                <a:solidFill>
                  <a:srgbClr val="C6BFED"/>
                </a:solidFill>
                <a:latin typeface="Times New Roman"/>
                <a:cs typeface="Times New Roman"/>
              </a:rPr>
              <a:t> </a:t>
            </a:r>
            <a:r>
              <a:rPr dirty="0" sz="1200" spc="-20">
                <a:solidFill>
                  <a:srgbClr val="C6BFED"/>
                </a:solidFill>
                <a:latin typeface="Times New Roman"/>
                <a:cs typeface="Times New Roman"/>
              </a:rPr>
              <a:t>Sahu</a:t>
            </a:r>
            <a:endParaRPr sz="1200">
              <a:latin typeface="Times New Roman"/>
              <a:cs typeface="Times New Roman"/>
            </a:endParaRPr>
          </a:p>
          <a:p>
            <a:pPr marL="1035050" marR="519430" indent="-9525">
              <a:lnSpc>
                <a:spcPts val="1490"/>
              </a:lnSpc>
              <a:spcBef>
                <a:spcPts val="55"/>
              </a:spcBef>
            </a:pPr>
            <a:r>
              <a:rPr dirty="0" sz="1200" spc="-10">
                <a:solidFill>
                  <a:srgbClr val="C6BFED"/>
                </a:solidFill>
                <a:latin typeface="Times New Roman"/>
                <a:cs typeface="Times New Roman"/>
              </a:rPr>
              <a:t>Alekhya Rethiga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6"/>
            <a:ext cx="3771900" cy="565861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269811" y="1352851"/>
            <a:ext cx="2940685" cy="4337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Problem</a:t>
            </a:r>
            <a:r>
              <a:rPr dirty="0" spc="55"/>
              <a:t> </a:t>
            </a:r>
            <a:r>
              <a:rPr dirty="0" spc="-10"/>
              <a:t>Statement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69748" y="2133145"/>
            <a:ext cx="5467350" cy="42043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650">
                <a:solidFill>
                  <a:srgbClr val="C6BFED"/>
                </a:solidFill>
                <a:latin typeface="Arial MT"/>
                <a:cs typeface="Arial MT"/>
              </a:rPr>
              <a:t>Project</a:t>
            </a:r>
            <a:r>
              <a:rPr dirty="0" sz="1650" spc="-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C6BFED"/>
                </a:solidFill>
                <a:latin typeface="Arial MT"/>
                <a:cs typeface="Arial MT"/>
              </a:rPr>
              <a:t>Context</a:t>
            </a:r>
            <a:endParaRPr sz="1650">
              <a:latin typeface="Arial MT"/>
              <a:cs typeface="Arial MT"/>
            </a:endParaRPr>
          </a:p>
          <a:p>
            <a:pPr algn="just" marL="12700" marR="5080">
              <a:lnSpc>
                <a:spcPct val="153700"/>
              </a:lnSpc>
              <a:spcBef>
                <a:spcPts val="1625"/>
              </a:spcBef>
            </a:pP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The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hospitality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industry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faces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increasing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pressure</a:t>
            </a:r>
            <a:r>
              <a:rPr dirty="0" sz="1350" spc="-1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to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optimize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while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maintaining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guest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 satisfaction.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operators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need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to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understand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booking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patterns,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seasonal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trends,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pricing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strategies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to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maximize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profitability.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Without</a:t>
            </a:r>
            <a:r>
              <a:rPr dirty="0" sz="1350" spc="1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comprehensive</a:t>
            </a:r>
            <a:r>
              <a:rPr dirty="0" sz="1350" spc="1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data</a:t>
            </a:r>
            <a:r>
              <a:rPr dirty="0" sz="1350" spc="1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analysis,</a:t>
            </a:r>
            <a:r>
              <a:rPr dirty="0" sz="1350" spc="1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1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management</a:t>
            </a:r>
            <a:r>
              <a:rPr dirty="0" sz="1350" spc="1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decisions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remain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reactive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rather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than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proactive.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35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650">
                <a:solidFill>
                  <a:srgbClr val="C6BFED"/>
                </a:solidFill>
                <a:latin typeface="Arial MT"/>
                <a:cs typeface="Arial MT"/>
              </a:rPr>
              <a:t>Core</a:t>
            </a:r>
            <a:r>
              <a:rPr dirty="0" sz="16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C6BFED"/>
                </a:solidFill>
                <a:latin typeface="Arial MT"/>
                <a:cs typeface="Arial MT"/>
              </a:rPr>
              <a:t>Challenges</a:t>
            </a:r>
            <a:endParaRPr sz="1650">
              <a:latin typeface="Arial MT"/>
              <a:cs typeface="Arial MT"/>
            </a:endParaRPr>
          </a:p>
          <a:p>
            <a:pPr marL="248920" indent="-236220">
              <a:lnSpc>
                <a:spcPct val="100000"/>
              </a:lnSpc>
              <a:spcBef>
                <a:spcPts val="1570"/>
              </a:spcBef>
              <a:buChar char="•"/>
              <a:tabLst>
                <a:tab pos="248920" algn="l"/>
              </a:tabLst>
            </a:pP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management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decisions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based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on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limited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historical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data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865"/>
              </a:spcBef>
              <a:buChar char="•"/>
              <a:tabLst>
                <a:tab pos="248920" algn="l"/>
              </a:tabLst>
            </a:pP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Difficulty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5">
                <a:solidFill>
                  <a:srgbClr val="DAD8E8"/>
                </a:solidFill>
                <a:latin typeface="Tahoma"/>
                <a:cs typeface="Tahoma"/>
              </a:rPr>
              <a:t>identifying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high-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value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customer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segments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850"/>
              </a:spcBef>
              <a:buChar char="•"/>
              <a:tabLst>
                <a:tab pos="248920" algn="l"/>
              </a:tabLst>
            </a:pP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Challenges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in</a:t>
            </a:r>
            <a:r>
              <a:rPr dirty="0" sz="135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optimizing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room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pricing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strategies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865"/>
              </a:spcBef>
              <a:buChar char="•"/>
              <a:tabLst>
                <a:tab pos="248920" algn="l"/>
              </a:tabLst>
            </a:pP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Limited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visibility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into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lead</a:t>
            </a:r>
            <a:r>
              <a:rPr dirty="0" sz="135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times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cancellation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patterns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850"/>
              </a:spcBef>
              <a:buChar char="•"/>
              <a:tabLst>
                <a:tab pos="248920" algn="l"/>
              </a:tabLst>
            </a:pP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Need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for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data-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driven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insights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to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guide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capacity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planning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799576" y="6323088"/>
            <a:ext cx="1259205" cy="373380"/>
          </a:xfrm>
          <a:custGeom>
            <a:avLst/>
            <a:gdLst/>
            <a:ahLst/>
            <a:cxnLst/>
            <a:rect l="l" t="t" r="r" b="b"/>
            <a:pathLst>
              <a:path w="1259204" h="373379">
                <a:moveTo>
                  <a:pt x="1258824" y="0"/>
                </a:moveTo>
                <a:lnTo>
                  <a:pt x="0" y="0"/>
                </a:lnTo>
                <a:lnTo>
                  <a:pt x="0" y="373380"/>
                </a:lnTo>
                <a:lnTo>
                  <a:pt x="1258824" y="373380"/>
                </a:lnTo>
                <a:lnTo>
                  <a:pt x="1258824" y="368808"/>
                </a:lnTo>
                <a:lnTo>
                  <a:pt x="1258824" y="364236"/>
                </a:lnTo>
                <a:lnTo>
                  <a:pt x="1258824" y="7620"/>
                </a:lnTo>
                <a:lnTo>
                  <a:pt x="1258824" y="3048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7158" y="1453341"/>
            <a:ext cx="5624195" cy="3968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spc="-75" b="1">
                <a:latin typeface="Arial"/>
                <a:cs typeface="Arial"/>
              </a:rPr>
              <a:t>Project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spc="-90" b="1">
                <a:latin typeface="Arial"/>
                <a:cs typeface="Arial"/>
              </a:rPr>
              <a:t>Objectives:</a:t>
            </a:r>
            <a:r>
              <a:rPr dirty="0" sz="2400" spc="-150" b="1">
                <a:latin typeface="Arial"/>
                <a:cs typeface="Arial"/>
              </a:rPr>
              <a:t> </a:t>
            </a:r>
            <a:r>
              <a:rPr dirty="0" sz="2400" spc="-130" b="1">
                <a:latin typeface="Arial"/>
                <a:cs typeface="Arial"/>
              </a:rPr>
              <a:t>A</a:t>
            </a:r>
            <a:r>
              <a:rPr dirty="0" sz="2400" spc="-100" b="1">
                <a:latin typeface="Arial"/>
                <a:cs typeface="Arial"/>
              </a:rPr>
              <a:t> </a:t>
            </a:r>
            <a:r>
              <a:rPr dirty="0" sz="2400" spc="-65" b="1">
                <a:latin typeface="Arial"/>
                <a:cs typeface="Arial"/>
              </a:rPr>
              <a:t>Strategic</a:t>
            </a:r>
            <a:r>
              <a:rPr dirty="0" sz="2400" spc="-1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Roadmap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147" y="1928840"/>
            <a:ext cx="8963025" cy="42354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1480"/>
              </a:lnSpc>
              <a:spcBef>
                <a:spcPts val="295"/>
              </a:spcBef>
            </a:pP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This</a:t>
            </a:r>
            <a:r>
              <a:rPr dirty="0" sz="1350" spc="18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analysis</a:t>
            </a:r>
            <a:r>
              <a:rPr dirty="0" sz="1350" spc="2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was</a:t>
            </a:r>
            <a:r>
              <a:rPr dirty="0" sz="1350" spc="1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designed</a:t>
            </a:r>
            <a:r>
              <a:rPr dirty="0" sz="1350" spc="1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to</a:t>
            </a:r>
            <a:r>
              <a:rPr dirty="0" sz="1350" spc="1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address</a:t>
            </a:r>
            <a:r>
              <a:rPr dirty="0" sz="1350" spc="1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five</a:t>
            </a:r>
            <a:r>
              <a:rPr dirty="0" sz="1350" spc="17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critical</a:t>
            </a:r>
            <a:r>
              <a:rPr dirty="0" sz="1350" spc="18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business</a:t>
            </a:r>
            <a:r>
              <a:rPr dirty="0" sz="1350" spc="1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questions</a:t>
            </a:r>
            <a:r>
              <a:rPr dirty="0" sz="1350" spc="18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that</a:t>
            </a:r>
            <a:r>
              <a:rPr dirty="0" sz="1350" spc="1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would</a:t>
            </a:r>
            <a:r>
              <a:rPr dirty="0" sz="1350" spc="17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guide</a:t>
            </a:r>
            <a:r>
              <a:rPr dirty="0" sz="1350" spc="17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strategic</a:t>
            </a:r>
            <a:r>
              <a:rPr dirty="0" sz="1350" spc="1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decision-</a:t>
            </a:r>
            <a:r>
              <a:rPr dirty="0" sz="1350" spc="-10">
                <a:solidFill>
                  <a:srgbClr val="C6BFED"/>
                </a:solidFill>
                <a:latin typeface="Arial MT"/>
                <a:cs typeface="Arial MT"/>
              </a:rPr>
              <a:t>making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for</a:t>
            </a:r>
            <a:r>
              <a:rPr dirty="0" sz="1350" spc="8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hotel</a:t>
            </a:r>
            <a:r>
              <a:rPr dirty="0" sz="1350" spc="6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management.</a:t>
            </a:r>
            <a:r>
              <a:rPr dirty="0" sz="13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Each</a:t>
            </a:r>
            <a:r>
              <a:rPr dirty="0" sz="1350" spc="5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objective</a:t>
            </a:r>
            <a:r>
              <a:rPr dirty="0" sz="1350" spc="4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was</a:t>
            </a:r>
            <a:r>
              <a:rPr dirty="0" sz="1350" spc="10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carefully</a:t>
            </a:r>
            <a:r>
              <a:rPr dirty="0" sz="13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crafted</a:t>
            </a:r>
            <a:r>
              <a:rPr dirty="0" sz="1350" spc="6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to</a:t>
            </a:r>
            <a:r>
              <a:rPr dirty="0" sz="1350" spc="5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extract</a:t>
            </a:r>
            <a:r>
              <a:rPr dirty="0" sz="1350" spc="7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maximum</a:t>
            </a:r>
            <a:r>
              <a:rPr dirty="0" sz="1350" spc="6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value</a:t>
            </a:r>
            <a:r>
              <a:rPr dirty="0" sz="1350" spc="6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from</a:t>
            </a:r>
            <a:r>
              <a:rPr dirty="0" sz="13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the</a:t>
            </a:r>
            <a:r>
              <a:rPr dirty="0" sz="1350" spc="6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>
                <a:solidFill>
                  <a:srgbClr val="C6BFED"/>
                </a:solidFill>
                <a:latin typeface="Arial MT"/>
                <a:cs typeface="Arial MT"/>
              </a:rPr>
              <a:t>available</a:t>
            </a:r>
            <a:r>
              <a:rPr dirty="0" sz="1350" spc="5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50" spc="-10">
                <a:solidFill>
                  <a:srgbClr val="C6BFED"/>
                </a:solidFill>
                <a:latin typeface="Arial MT"/>
                <a:cs typeface="Arial MT"/>
              </a:rPr>
              <a:t>data.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8348" y="2610612"/>
            <a:ext cx="2947670" cy="1983105"/>
            <a:chOff x="498348" y="2610612"/>
            <a:chExt cx="2947670" cy="1983105"/>
          </a:xfrm>
        </p:grpSpPr>
        <p:sp>
          <p:nvSpPr>
            <p:cNvPr id="6" name="object 6"/>
            <p:cNvSpPr/>
            <p:nvPr/>
          </p:nvSpPr>
          <p:spPr>
            <a:xfrm>
              <a:off x="501383" y="2612148"/>
              <a:ext cx="2943225" cy="1978660"/>
            </a:xfrm>
            <a:custGeom>
              <a:avLst/>
              <a:gdLst/>
              <a:ahLst/>
              <a:cxnLst/>
              <a:rect l="l" t="t" r="r" b="b"/>
              <a:pathLst>
                <a:path w="2943225" h="1978660">
                  <a:moveTo>
                    <a:pt x="2942844" y="3048"/>
                  </a:moveTo>
                  <a:lnTo>
                    <a:pt x="2939808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7620"/>
                  </a:lnTo>
                  <a:lnTo>
                    <a:pt x="0" y="1975104"/>
                  </a:lnTo>
                  <a:lnTo>
                    <a:pt x="2286" y="1977390"/>
                  </a:lnTo>
                  <a:lnTo>
                    <a:pt x="2286" y="1978660"/>
                  </a:lnTo>
                  <a:lnTo>
                    <a:pt x="1470240" y="1978660"/>
                  </a:lnTo>
                  <a:lnTo>
                    <a:pt x="1470240" y="1978152"/>
                  </a:lnTo>
                  <a:lnTo>
                    <a:pt x="2939808" y="1978152"/>
                  </a:lnTo>
                  <a:lnTo>
                    <a:pt x="2942844" y="1975104"/>
                  </a:lnTo>
                  <a:lnTo>
                    <a:pt x="2942844" y="3048"/>
                  </a:lnTo>
                  <a:close/>
                </a:path>
              </a:pathLst>
            </a:custGeom>
            <a:solidFill>
              <a:srgbClr val="F7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98348" y="2610612"/>
              <a:ext cx="2947670" cy="1983105"/>
            </a:xfrm>
            <a:custGeom>
              <a:avLst/>
              <a:gdLst/>
              <a:ahLst/>
              <a:cxnLst/>
              <a:rect l="l" t="t" r="r" b="b"/>
              <a:pathLst>
                <a:path w="2947670" h="1983104">
                  <a:moveTo>
                    <a:pt x="2939796" y="1982724"/>
                  </a:moveTo>
                  <a:lnTo>
                    <a:pt x="9144" y="1982724"/>
                  </a:lnTo>
                  <a:lnTo>
                    <a:pt x="6096" y="1981199"/>
                  </a:lnTo>
                  <a:lnTo>
                    <a:pt x="4572" y="1981199"/>
                  </a:lnTo>
                  <a:lnTo>
                    <a:pt x="3048" y="1979676"/>
                  </a:lnTo>
                  <a:lnTo>
                    <a:pt x="1524" y="1976628"/>
                  </a:lnTo>
                  <a:lnTo>
                    <a:pt x="2941319" y="1976628"/>
                  </a:lnTo>
                  <a:lnTo>
                    <a:pt x="2942844" y="1975104"/>
                  </a:lnTo>
                  <a:lnTo>
                    <a:pt x="2942844" y="6096"/>
                  </a:lnTo>
                  <a:lnTo>
                    <a:pt x="2939796" y="4572"/>
                  </a:lnTo>
                  <a:lnTo>
                    <a:pt x="1524" y="4572"/>
                  </a:lnTo>
                  <a:lnTo>
                    <a:pt x="3048" y="3048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2942844" y="0"/>
                  </a:lnTo>
                  <a:lnTo>
                    <a:pt x="2945892" y="1524"/>
                  </a:lnTo>
                  <a:lnTo>
                    <a:pt x="2945892" y="3048"/>
                  </a:lnTo>
                  <a:lnTo>
                    <a:pt x="2947416" y="4572"/>
                  </a:lnTo>
                  <a:lnTo>
                    <a:pt x="2947416" y="1976628"/>
                  </a:lnTo>
                  <a:lnTo>
                    <a:pt x="2945892" y="1979676"/>
                  </a:lnTo>
                  <a:lnTo>
                    <a:pt x="2939796" y="1982724"/>
                  </a:lnTo>
                  <a:close/>
                </a:path>
                <a:path w="2947670" h="1983104">
                  <a:moveTo>
                    <a:pt x="6096" y="1976628"/>
                  </a:moveTo>
                  <a:lnTo>
                    <a:pt x="0" y="1976628"/>
                  </a:lnTo>
                  <a:lnTo>
                    <a:pt x="0" y="4572"/>
                  </a:lnTo>
                  <a:lnTo>
                    <a:pt x="7620" y="4572"/>
                  </a:lnTo>
                  <a:lnTo>
                    <a:pt x="6096" y="6096"/>
                  </a:lnTo>
                  <a:lnTo>
                    <a:pt x="4572" y="9144"/>
                  </a:lnTo>
                  <a:lnTo>
                    <a:pt x="6096" y="9144"/>
                  </a:lnTo>
                  <a:lnTo>
                    <a:pt x="6096" y="1972056"/>
                  </a:lnTo>
                  <a:lnTo>
                    <a:pt x="4572" y="1972056"/>
                  </a:lnTo>
                  <a:lnTo>
                    <a:pt x="6096" y="1975104"/>
                  </a:lnTo>
                  <a:lnTo>
                    <a:pt x="6096" y="1976628"/>
                  </a:lnTo>
                  <a:close/>
                </a:path>
                <a:path w="2947670" h="1983104">
                  <a:moveTo>
                    <a:pt x="2942844" y="7620"/>
                  </a:moveTo>
                  <a:lnTo>
                    <a:pt x="2941319" y="6096"/>
                  </a:lnTo>
                  <a:lnTo>
                    <a:pt x="2942844" y="6096"/>
                  </a:lnTo>
                  <a:lnTo>
                    <a:pt x="2942844" y="7620"/>
                  </a:lnTo>
                  <a:close/>
                </a:path>
                <a:path w="2947670" h="1983104">
                  <a:moveTo>
                    <a:pt x="6096" y="1973580"/>
                  </a:moveTo>
                  <a:lnTo>
                    <a:pt x="4572" y="1972056"/>
                  </a:lnTo>
                  <a:lnTo>
                    <a:pt x="6096" y="1972056"/>
                  </a:lnTo>
                  <a:lnTo>
                    <a:pt x="6096" y="1973580"/>
                  </a:lnTo>
                  <a:close/>
                </a:path>
                <a:path w="2947670" h="1983104">
                  <a:moveTo>
                    <a:pt x="2941827" y="1975612"/>
                  </a:moveTo>
                  <a:lnTo>
                    <a:pt x="2942844" y="1973580"/>
                  </a:lnTo>
                  <a:lnTo>
                    <a:pt x="2942844" y="1975104"/>
                  </a:lnTo>
                  <a:lnTo>
                    <a:pt x="2941827" y="1975612"/>
                  </a:lnTo>
                  <a:close/>
                </a:path>
                <a:path w="2947670" h="1983104">
                  <a:moveTo>
                    <a:pt x="7620" y="1976628"/>
                  </a:moveTo>
                  <a:lnTo>
                    <a:pt x="6096" y="1976628"/>
                  </a:lnTo>
                  <a:lnTo>
                    <a:pt x="6096" y="1975104"/>
                  </a:lnTo>
                  <a:lnTo>
                    <a:pt x="7620" y="1976628"/>
                  </a:lnTo>
                  <a:close/>
                </a:path>
                <a:path w="2947670" h="1983104">
                  <a:moveTo>
                    <a:pt x="2941319" y="1976628"/>
                  </a:moveTo>
                  <a:lnTo>
                    <a:pt x="2941827" y="1975612"/>
                  </a:lnTo>
                  <a:lnTo>
                    <a:pt x="2942844" y="1975104"/>
                  </a:lnTo>
                  <a:lnTo>
                    <a:pt x="2941319" y="1976628"/>
                  </a:lnTo>
                  <a:close/>
                </a:path>
                <a:path w="2947670" h="1983104">
                  <a:moveTo>
                    <a:pt x="2941319" y="1976628"/>
                  </a:moveTo>
                  <a:lnTo>
                    <a:pt x="2939796" y="1976628"/>
                  </a:lnTo>
                  <a:lnTo>
                    <a:pt x="2941827" y="1975612"/>
                  </a:lnTo>
                  <a:lnTo>
                    <a:pt x="2941319" y="1976628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18249" y="3102729"/>
            <a:ext cx="2444115" cy="133350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1350" spc="-25" b="1">
                <a:solidFill>
                  <a:srgbClr val="151616"/>
                </a:solidFill>
                <a:latin typeface="Arial"/>
                <a:cs typeface="Arial"/>
              </a:rPr>
              <a:t>Analyze</a:t>
            </a:r>
            <a:r>
              <a:rPr dirty="0" sz="1350" spc="-60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51616"/>
                </a:solidFill>
                <a:latin typeface="Arial"/>
                <a:cs typeface="Arial"/>
              </a:rPr>
              <a:t>Revenue</a:t>
            </a:r>
            <a:r>
              <a:rPr dirty="0" sz="1350" spc="-55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51616"/>
                </a:solidFill>
                <a:latin typeface="Arial"/>
                <a:cs typeface="Arial"/>
              </a:rPr>
              <a:t>Trends</a:t>
            </a:r>
            <a:endParaRPr sz="1350">
              <a:latin typeface="Arial"/>
              <a:cs typeface="Arial"/>
            </a:endParaRPr>
          </a:p>
          <a:p>
            <a:pPr marL="67310" marR="5080">
              <a:lnSpc>
                <a:spcPct val="114500"/>
              </a:lnSpc>
              <a:spcBef>
                <a:spcPts val="380"/>
              </a:spcBef>
            </a:pP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Examine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temporal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patterns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in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revenue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generation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across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different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time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periods,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seasons,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market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conditions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identify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growth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opportunities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risk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factors.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55491" y="2610612"/>
            <a:ext cx="2948940" cy="1983105"/>
            <a:chOff x="3555491" y="2610612"/>
            <a:chExt cx="2948940" cy="1983105"/>
          </a:xfrm>
        </p:grpSpPr>
        <p:sp>
          <p:nvSpPr>
            <p:cNvPr id="10" name="object 10"/>
            <p:cNvSpPr/>
            <p:nvPr/>
          </p:nvSpPr>
          <p:spPr>
            <a:xfrm>
              <a:off x="3558540" y="2612148"/>
              <a:ext cx="2943225" cy="1978660"/>
            </a:xfrm>
            <a:custGeom>
              <a:avLst/>
              <a:gdLst/>
              <a:ahLst/>
              <a:cxnLst/>
              <a:rect l="l" t="t" r="r" b="b"/>
              <a:pathLst>
                <a:path w="2943225" h="1978660">
                  <a:moveTo>
                    <a:pt x="2942831" y="3048"/>
                  </a:moveTo>
                  <a:lnTo>
                    <a:pt x="2939796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7620"/>
                  </a:lnTo>
                  <a:lnTo>
                    <a:pt x="0" y="1975104"/>
                  </a:lnTo>
                  <a:lnTo>
                    <a:pt x="2273" y="1977377"/>
                  </a:lnTo>
                  <a:lnTo>
                    <a:pt x="2273" y="1978660"/>
                  </a:lnTo>
                  <a:lnTo>
                    <a:pt x="1470990" y="1978660"/>
                  </a:lnTo>
                  <a:lnTo>
                    <a:pt x="1470990" y="1978152"/>
                  </a:lnTo>
                  <a:lnTo>
                    <a:pt x="2939796" y="1978152"/>
                  </a:lnTo>
                  <a:lnTo>
                    <a:pt x="2939796" y="1978660"/>
                  </a:lnTo>
                  <a:lnTo>
                    <a:pt x="2940558" y="1978660"/>
                  </a:lnTo>
                  <a:lnTo>
                    <a:pt x="2940558" y="1977390"/>
                  </a:lnTo>
                  <a:lnTo>
                    <a:pt x="2942831" y="1975104"/>
                  </a:lnTo>
                  <a:lnTo>
                    <a:pt x="2942831" y="3048"/>
                  </a:lnTo>
                  <a:close/>
                </a:path>
              </a:pathLst>
            </a:custGeom>
            <a:solidFill>
              <a:srgbClr val="F7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555491" y="2610612"/>
              <a:ext cx="2948940" cy="1983105"/>
            </a:xfrm>
            <a:custGeom>
              <a:avLst/>
              <a:gdLst/>
              <a:ahLst/>
              <a:cxnLst/>
              <a:rect l="l" t="t" r="r" b="b"/>
              <a:pathLst>
                <a:path w="2948940" h="1983104">
                  <a:moveTo>
                    <a:pt x="2939796" y="1982724"/>
                  </a:moveTo>
                  <a:lnTo>
                    <a:pt x="9144" y="1982724"/>
                  </a:lnTo>
                  <a:lnTo>
                    <a:pt x="3048" y="1979676"/>
                  </a:lnTo>
                  <a:lnTo>
                    <a:pt x="0" y="197358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3048" y="3048"/>
                  </a:lnTo>
                  <a:lnTo>
                    <a:pt x="3048" y="1524"/>
                  </a:lnTo>
                  <a:lnTo>
                    <a:pt x="6096" y="0"/>
                  </a:lnTo>
                  <a:lnTo>
                    <a:pt x="2942844" y="0"/>
                  </a:lnTo>
                  <a:lnTo>
                    <a:pt x="2945892" y="1524"/>
                  </a:lnTo>
                  <a:lnTo>
                    <a:pt x="2945892" y="3048"/>
                  </a:lnTo>
                  <a:lnTo>
                    <a:pt x="2947416" y="4572"/>
                  </a:lnTo>
                  <a:lnTo>
                    <a:pt x="9144" y="4572"/>
                  </a:lnTo>
                  <a:lnTo>
                    <a:pt x="6096" y="6096"/>
                  </a:lnTo>
                  <a:lnTo>
                    <a:pt x="6096" y="1975104"/>
                  </a:lnTo>
                  <a:lnTo>
                    <a:pt x="7620" y="1976628"/>
                  </a:lnTo>
                  <a:lnTo>
                    <a:pt x="2947416" y="1976628"/>
                  </a:lnTo>
                  <a:lnTo>
                    <a:pt x="2945892" y="1979676"/>
                  </a:lnTo>
                  <a:lnTo>
                    <a:pt x="2939796" y="1982724"/>
                  </a:lnTo>
                  <a:close/>
                </a:path>
                <a:path w="2948940" h="1983104">
                  <a:moveTo>
                    <a:pt x="2947416" y="1976628"/>
                  </a:moveTo>
                  <a:lnTo>
                    <a:pt x="2941319" y="1976628"/>
                  </a:lnTo>
                  <a:lnTo>
                    <a:pt x="2942844" y="1975104"/>
                  </a:lnTo>
                  <a:lnTo>
                    <a:pt x="2942844" y="6096"/>
                  </a:lnTo>
                  <a:lnTo>
                    <a:pt x="2939796" y="4572"/>
                  </a:lnTo>
                  <a:lnTo>
                    <a:pt x="2947416" y="4572"/>
                  </a:lnTo>
                  <a:lnTo>
                    <a:pt x="2947416" y="6096"/>
                  </a:lnTo>
                  <a:lnTo>
                    <a:pt x="2948940" y="7620"/>
                  </a:lnTo>
                  <a:lnTo>
                    <a:pt x="2948940" y="1973580"/>
                  </a:lnTo>
                  <a:lnTo>
                    <a:pt x="2947416" y="1976628"/>
                  </a:lnTo>
                  <a:close/>
                </a:path>
                <a:path w="2948940" h="1983104">
                  <a:moveTo>
                    <a:pt x="6096" y="7620"/>
                  </a:moveTo>
                  <a:lnTo>
                    <a:pt x="6096" y="6096"/>
                  </a:lnTo>
                  <a:lnTo>
                    <a:pt x="7620" y="6096"/>
                  </a:lnTo>
                  <a:lnTo>
                    <a:pt x="6096" y="7620"/>
                  </a:lnTo>
                  <a:close/>
                </a:path>
                <a:path w="2948940" h="1983104">
                  <a:moveTo>
                    <a:pt x="2942844" y="7620"/>
                  </a:moveTo>
                  <a:lnTo>
                    <a:pt x="2941319" y="6096"/>
                  </a:lnTo>
                  <a:lnTo>
                    <a:pt x="2942844" y="6096"/>
                  </a:lnTo>
                  <a:lnTo>
                    <a:pt x="2942844" y="7620"/>
                  </a:lnTo>
                  <a:close/>
                </a:path>
                <a:path w="2948940" h="1983104">
                  <a:moveTo>
                    <a:pt x="7620" y="1976628"/>
                  </a:moveTo>
                  <a:lnTo>
                    <a:pt x="6096" y="1975104"/>
                  </a:lnTo>
                  <a:lnTo>
                    <a:pt x="6096" y="1973580"/>
                  </a:lnTo>
                  <a:lnTo>
                    <a:pt x="7620" y="1976628"/>
                  </a:lnTo>
                  <a:close/>
                </a:path>
                <a:path w="2948940" h="1983104">
                  <a:moveTo>
                    <a:pt x="2941319" y="1976628"/>
                  </a:moveTo>
                  <a:lnTo>
                    <a:pt x="2942844" y="1973580"/>
                  </a:lnTo>
                  <a:lnTo>
                    <a:pt x="2942844" y="1975104"/>
                  </a:lnTo>
                  <a:lnTo>
                    <a:pt x="2941319" y="1976628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625119" y="3192279"/>
            <a:ext cx="2755265" cy="10826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30"/>
              </a:spcBef>
            </a:pPr>
            <a:r>
              <a:rPr dirty="0" sz="1350" spc="-45" b="1">
                <a:solidFill>
                  <a:srgbClr val="151616"/>
                </a:solidFill>
                <a:latin typeface="Arial"/>
                <a:cs typeface="Arial"/>
              </a:rPr>
              <a:t>Study</a:t>
            </a:r>
            <a:r>
              <a:rPr dirty="0" sz="1350" spc="-40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1350" spc="-55" b="1">
                <a:solidFill>
                  <a:srgbClr val="151616"/>
                </a:solidFill>
                <a:latin typeface="Arial"/>
                <a:cs typeface="Arial"/>
              </a:rPr>
              <a:t>Booking</a:t>
            </a:r>
            <a:r>
              <a:rPr dirty="0" sz="1350" spc="-15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51616"/>
                </a:solidFill>
                <a:latin typeface="Arial"/>
                <a:cs typeface="Arial"/>
              </a:rPr>
              <a:t>Behavior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620"/>
              </a:spcBef>
            </a:pP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Understand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how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customers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book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rooms,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their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lead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times,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booking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channels,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and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cancellation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patterns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optimize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 reservation strategies.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12635" y="2610612"/>
            <a:ext cx="2948940" cy="1983105"/>
            <a:chOff x="6612635" y="2610612"/>
            <a:chExt cx="2948940" cy="1983105"/>
          </a:xfrm>
        </p:grpSpPr>
        <p:sp>
          <p:nvSpPr>
            <p:cNvPr id="14" name="object 14"/>
            <p:cNvSpPr/>
            <p:nvPr/>
          </p:nvSpPr>
          <p:spPr>
            <a:xfrm>
              <a:off x="6615671" y="2612148"/>
              <a:ext cx="2943225" cy="1978660"/>
            </a:xfrm>
            <a:custGeom>
              <a:avLst/>
              <a:gdLst/>
              <a:ahLst/>
              <a:cxnLst/>
              <a:rect l="l" t="t" r="r" b="b"/>
              <a:pathLst>
                <a:path w="2943225" h="1978660">
                  <a:moveTo>
                    <a:pt x="2942844" y="3048"/>
                  </a:moveTo>
                  <a:lnTo>
                    <a:pt x="2939808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7620"/>
                  </a:lnTo>
                  <a:lnTo>
                    <a:pt x="0" y="1975104"/>
                  </a:lnTo>
                  <a:lnTo>
                    <a:pt x="3048" y="1978152"/>
                  </a:lnTo>
                  <a:lnTo>
                    <a:pt x="2939808" y="1978152"/>
                  </a:lnTo>
                  <a:lnTo>
                    <a:pt x="2939808" y="1978660"/>
                  </a:lnTo>
                  <a:lnTo>
                    <a:pt x="2940570" y="1978660"/>
                  </a:lnTo>
                  <a:lnTo>
                    <a:pt x="2940570" y="1977390"/>
                  </a:lnTo>
                  <a:lnTo>
                    <a:pt x="2942844" y="1975104"/>
                  </a:lnTo>
                  <a:lnTo>
                    <a:pt x="2942844" y="3048"/>
                  </a:lnTo>
                  <a:close/>
                </a:path>
              </a:pathLst>
            </a:custGeom>
            <a:solidFill>
              <a:srgbClr val="F7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12635" y="2610612"/>
              <a:ext cx="2948940" cy="1983105"/>
            </a:xfrm>
            <a:custGeom>
              <a:avLst/>
              <a:gdLst/>
              <a:ahLst/>
              <a:cxnLst/>
              <a:rect l="l" t="t" r="r" b="b"/>
              <a:pathLst>
                <a:path w="2948940" h="1983104">
                  <a:moveTo>
                    <a:pt x="2939796" y="1982724"/>
                  </a:moveTo>
                  <a:lnTo>
                    <a:pt x="9144" y="1982724"/>
                  </a:lnTo>
                  <a:lnTo>
                    <a:pt x="3048" y="1979676"/>
                  </a:lnTo>
                  <a:lnTo>
                    <a:pt x="0" y="1973580"/>
                  </a:lnTo>
                  <a:lnTo>
                    <a:pt x="0" y="7620"/>
                  </a:lnTo>
                  <a:lnTo>
                    <a:pt x="1524" y="6096"/>
                  </a:lnTo>
                  <a:lnTo>
                    <a:pt x="1524" y="4572"/>
                  </a:lnTo>
                  <a:lnTo>
                    <a:pt x="3048" y="3048"/>
                  </a:lnTo>
                  <a:lnTo>
                    <a:pt x="3048" y="1524"/>
                  </a:lnTo>
                  <a:lnTo>
                    <a:pt x="6096" y="0"/>
                  </a:lnTo>
                  <a:lnTo>
                    <a:pt x="2944368" y="0"/>
                  </a:lnTo>
                  <a:lnTo>
                    <a:pt x="2945892" y="1524"/>
                  </a:lnTo>
                  <a:lnTo>
                    <a:pt x="2945892" y="3048"/>
                  </a:lnTo>
                  <a:lnTo>
                    <a:pt x="2947416" y="4572"/>
                  </a:lnTo>
                  <a:lnTo>
                    <a:pt x="9144" y="4572"/>
                  </a:lnTo>
                  <a:lnTo>
                    <a:pt x="6096" y="6096"/>
                  </a:lnTo>
                  <a:lnTo>
                    <a:pt x="6096" y="1975104"/>
                  </a:lnTo>
                  <a:lnTo>
                    <a:pt x="7620" y="1976628"/>
                  </a:lnTo>
                  <a:lnTo>
                    <a:pt x="2947416" y="1976628"/>
                  </a:lnTo>
                  <a:lnTo>
                    <a:pt x="2945892" y="1979676"/>
                  </a:lnTo>
                  <a:lnTo>
                    <a:pt x="2944368" y="1981199"/>
                  </a:lnTo>
                  <a:lnTo>
                    <a:pt x="2942844" y="1981199"/>
                  </a:lnTo>
                  <a:lnTo>
                    <a:pt x="2939796" y="1982724"/>
                  </a:lnTo>
                  <a:close/>
                </a:path>
                <a:path w="2948940" h="1983104">
                  <a:moveTo>
                    <a:pt x="2948940" y="1976628"/>
                  </a:moveTo>
                  <a:lnTo>
                    <a:pt x="2942844" y="1976628"/>
                  </a:lnTo>
                  <a:lnTo>
                    <a:pt x="2942844" y="6096"/>
                  </a:lnTo>
                  <a:lnTo>
                    <a:pt x="2941319" y="4572"/>
                  </a:lnTo>
                  <a:lnTo>
                    <a:pt x="2948940" y="4572"/>
                  </a:lnTo>
                  <a:lnTo>
                    <a:pt x="2948940" y="1976628"/>
                  </a:lnTo>
                  <a:close/>
                </a:path>
                <a:path w="2948940" h="1983104">
                  <a:moveTo>
                    <a:pt x="6096" y="7620"/>
                  </a:moveTo>
                  <a:lnTo>
                    <a:pt x="6096" y="6096"/>
                  </a:lnTo>
                  <a:lnTo>
                    <a:pt x="7620" y="6096"/>
                  </a:lnTo>
                  <a:lnTo>
                    <a:pt x="6096" y="7620"/>
                  </a:lnTo>
                  <a:close/>
                </a:path>
                <a:path w="2948940" h="1983104">
                  <a:moveTo>
                    <a:pt x="7111" y="1975611"/>
                  </a:moveTo>
                  <a:lnTo>
                    <a:pt x="6096" y="1975104"/>
                  </a:lnTo>
                  <a:lnTo>
                    <a:pt x="6096" y="1973580"/>
                  </a:lnTo>
                  <a:lnTo>
                    <a:pt x="7111" y="1975611"/>
                  </a:lnTo>
                  <a:close/>
                </a:path>
                <a:path w="2948940" h="1983104">
                  <a:moveTo>
                    <a:pt x="7620" y="1976628"/>
                  </a:moveTo>
                  <a:lnTo>
                    <a:pt x="6096" y="1975104"/>
                  </a:lnTo>
                  <a:lnTo>
                    <a:pt x="7111" y="1975611"/>
                  </a:lnTo>
                  <a:lnTo>
                    <a:pt x="7620" y="1976628"/>
                  </a:lnTo>
                  <a:close/>
                </a:path>
                <a:path w="2948940" h="1983104">
                  <a:moveTo>
                    <a:pt x="2942844" y="1976628"/>
                  </a:moveTo>
                  <a:lnTo>
                    <a:pt x="2941319" y="1976628"/>
                  </a:lnTo>
                  <a:lnTo>
                    <a:pt x="2942844" y="1975104"/>
                  </a:lnTo>
                  <a:lnTo>
                    <a:pt x="2942844" y="1976628"/>
                  </a:lnTo>
                  <a:close/>
                </a:path>
                <a:path w="2948940" h="1983104">
                  <a:moveTo>
                    <a:pt x="9144" y="1976628"/>
                  </a:moveTo>
                  <a:lnTo>
                    <a:pt x="7620" y="1976628"/>
                  </a:lnTo>
                  <a:lnTo>
                    <a:pt x="7111" y="1975611"/>
                  </a:lnTo>
                  <a:lnTo>
                    <a:pt x="9144" y="1976628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732479" y="3196814"/>
            <a:ext cx="2647315" cy="125603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908050">
              <a:lnSpc>
                <a:spcPts val="1480"/>
              </a:lnSpc>
              <a:spcBef>
                <a:spcPts val="295"/>
              </a:spcBef>
            </a:pPr>
            <a:r>
              <a:rPr dirty="0" sz="1350" spc="-40" b="1">
                <a:solidFill>
                  <a:srgbClr val="151616"/>
                </a:solidFill>
                <a:latin typeface="Arial"/>
                <a:cs typeface="Arial"/>
              </a:rPr>
              <a:t>Understand</a:t>
            </a:r>
            <a:r>
              <a:rPr dirty="0" sz="1350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1350" spc="-45" b="1">
                <a:solidFill>
                  <a:srgbClr val="151616"/>
                </a:solidFill>
                <a:latin typeface="Arial"/>
                <a:cs typeface="Arial"/>
              </a:rPr>
              <a:t>Customer </a:t>
            </a:r>
            <a:r>
              <a:rPr dirty="0" sz="1350" spc="-10" b="1">
                <a:solidFill>
                  <a:srgbClr val="151616"/>
                </a:solidFill>
                <a:latin typeface="Arial"/>
                <a:cs typeface="Arial"/>
              </a:rPr>
              <a:t>Segmentation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14500"/>
              </a:lnSpc>
              <a:spcBef>
                <a:spcPts val="484"/>
              </a:spcBef>
            </a:pP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Identify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distinct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customer</a:t>
            </a:r>
            <a:r>
              <a:rPr dirty="0" sz="1100" spc="-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groups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based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on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demographics,</a:t>
            </a:r>
            <a:r>
              <a:rPr dirty="0" sz="1100" spc="-4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booking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patterns,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and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spending</a:t>
            </a:r>
            <a:r>
              <a:rPr dirty="0" sz="1100" spc="-4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behavior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enable</a:t>
            </a:r>
            <a:r>
              <a:rPr dirty="0" sz="1100" spc="-4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targeted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marketing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approaches.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98348" y="4701540"/>
            <a:ext cx="4478020" cy="1595755"/>
            <a:chOff x="498348" y="4701540"/>
            <a:chExt cx="4478020" cy="1595755"/>
          </a:xfrm>
        </p:grpSpPr>
        <p:sp>
          <p:nvSpPr>
            <p:cNvPr id="18" name="object 18"/>
            <p:cNvSpPr/>
            <p:nvPr/>
          </p:nvSpPr>
          <p:spPr>
            <a:xfrm>
              <a:off x="501396" y="4704588"/>
              <a:ext cx="4471670" cy="1590040"/>
            </a:xfrm>
            <a:custGeom>
              <a:avLst/>
              <a:gdLst/>
              <a:ahLst/>
              <a:cxnLst/>
              <a:rect l="l" t="t" r="r" b="b"/>
              <a:pathLst>
                <a:path w="4471670" h="1590039">
                  <a:moveTo>
                    <a:pt x="4468367" y="1589532"/>
                  </a:moveTo>
                  <a:lnTo>
                    <a:pt x="3048" y="1589532"/>
                  </a:lnTo>
                  <a:lnTo>
                    <a:pt x="0" y="1588008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4468367" y="0"/>
                  </a:lnTo>
                  <a:lnTo>
                    <a:pt x="4471416" y="3048"/>
                  </a:lnTo>
                  <a:lnTo>
                    <a:pt x="4471416" y="1588008"/>
                  </a:lnTo>
                  <a:lnTo>
                    <a:pt x="4468367" y="1589532"/>
                  </a:lnTo>
                  <a:close/>
                </a:path>
              </a:pathLst>
            </a:custGeom>
            <a:solidFill>
              <a:srgbClr val="F7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98348" y="4701540"/>
              <a:ext cx="4478020" cy="1595755"/>
            </a:xfrm>
            <a:custGeom>
              <a:avLst/>
              <a:gdLst/>
              <a:ahLst/>
              <a:cxnLst/>
              <a:rect l="l" t="t" r="r" b="b"/>
              <a:pathLst>
                <a:path w="4478020" h="1595754">
                  <a:moveTo>
                    <a:pt x="4475988" y="1591056"/>
                  </a:moveTo>
                  <a:lnTo>
                    <a:pt x="4468368" y="1591056"/>
                  </a:lnTo>
                  <a:lnTo>
                    <a:pt x="4471416" y="1589532"/>
                  </a:lnTo>
                  <a:lnTo>
                    <a:pt x="4471416" y="7620"/>
                  </a:lnTo>
                  <a:lnTo>
                    <a:pt x="4469892" y="6096"/>
                  </a:lnTo>
                  <a:lnTo>
                    <a:pt x="1524" y="6096"/>
                  </a:lnTo>
                  <a:lnTo>
                    <a:pt x="3048" y="3048"/>
                  </a:lnTo>
                  <a:lnTo>
                    <a:pt x="4572" y="1524"/>
                  </a:lnTo>
                  <a:lnTo>
                    <a:pt x="6096" y="1524"/>
                  </a:lnTo>
                  <a:lnTo>
                    <a:pt x="9144" y="0"/>
                  </a:lnTo>
                  <a:lnTo>
                    <a:pt x="4468368" y="0"/>
                  </a:lnTo>
                  <a:lnTo>
                    <a:pt x="4474464" y="3048"/>
                  </a:lnTo>
                  <a:lnTo>
                    <a:pt x="4477512" y="9144"/>
                  </a:lnTo>
                  <a:lnTo>
                    <a:pt x="4477512" y="1588007"/>
                  </a:lnTo>
                  <a:lnTo>
                    <a:pt x="4475988" y="1589532"/>
                  </a:lnTo>
                  <a:lnTo>
                    <a:pt x="4475988" y="1591056"/>
                  </a:lnTo>
                  <a:close/>
                </a:path>
                <a:path w="4478020" h="1595754">
                  <a:moveTo>
                    <a:pt x="4471416" y="1595628"/>
                  </a:moveTo>
                  <a:lnTo>
                    <a:pt x="4572" y="1595628"/>
                  </a:lnTo>
                  <a:lnTo>
                    <a:pt x="3048" y="1594103"/>
                  </a:lnTo>
                  <a:lnTo>
                    <a:pt x="3048" y="1592580"/>
                  </a:lnTo>
                  <a:lnTo>
                    <a:pt x="0" y="1589532"/>
                  </a:lnTo>
                  <a:lnTo>
                    <a:pt x="0" y="6096"/>
                  </a:lnTo>
                  <a:lnTo>
                    <a:pt x="6096" y="6096"/>
                  </a:lnTo>
                  <a:lnTo>
                    <a:pt x="6096" y="7620"/>
                  </a:lnTo>
                  <a:lnTo>
                    <a:pt x="4572" y="9144"/>
                  </a:lnTo>
                  <a:lnTo>
                    <a:pt x="6096" y="9144"/>
                  </a:lnTo>
                  <a:lnTo>
                    <a:pt x="6096" y="1586484"/>
                  </a:lnTo>
                  <a:lnTo>
                    <a:pt x="4572" y="1586484"/>
                  </a:lnTo>
                  <a:lnTo>
                    <a:pt x="6096" y="1589532"/>
                  </a:lnTo>
                  <a:lnTo>
                    <a:pt x="7620" y="1591056"/>
                  </a:lnTo>
                  <a:lnTo>
                    <a:pt x="4475988" y="1591056"/>
                  </a:lnTo>
                  <a:lnTo>
                    <a:pt x="4474464" y="1592580"/>
                  </a:lnTo>
                  <a:lnTo>
                    <a:pt x="4474464" y="1594103"/>
                  </a:lnTo>
                  <a:lnTo>
                    <a:pt x="4471416" y="1595628"/>
                  </a:lnTo>
                  <a:close/>
                </a:path>
                <a:path w="4478020" h="1595754">
                  <a:moveTo>
                    <a:pt x="6096" y="7620"/>
                  </a:moveTo>
                  <a:lnTo>
                    <a:pt x="6096" y="6096"/>
                  </a:lnTo>
                  <a:lnTo>
                    <a:pt x="7620" y="6096"/>
                  </a:lnTo>
                  <a:lnTo>
                    <a:pt x="6096" y="7620"/>
                  </a:lnTo>
                  <a:close/>
                </a:path>
                <a:path w="4478020" h="1595754">
                  <a:moveTo>
                    <a:pt x="4470400" y="7112"/>
                  </a:moveTo>
                  <a:lnTo>
                    <a:pt x="4468368" y="6096"/>
                  </a:lnTo>
                  <a:lnTo>
                    <a:pt x="4469892" y="6096"/>
                  </a:lnTo>
                  <a:lnTo>
                    <a:pt x="4470400" y="7112"/>
                  </a:lnTo>
                  <a:close/>
                </a:path>
                <a:path w="4478020" h="1595754">
                  <a:moveTo>
                    <a:pt x="4471416" y="7620"/>
                  </a:moveTo>
                  <a:lnTo>
                    <a:pt x="4470400" y="7112"/>
                  </a:lnTo>
                  <a:lnTo>
                    <a:pt x="4469892" y="6096"/>
                  </a:lnTo>
                  <a:lnTo>
                    <a:pt x="4471416" y="7620"/>
                  </a:lnTo>
                  <a:close/>
                </a:path>
                <a:path w="4478020" h="1595754">
                  <a:moveTo>
                    <a:pt x="4471416" y="9144"/>
                  </a:moveTo>
                  <a:lnTo>
                    <a:pt x="4470400" y="7112"/>
                  </a:lnTo>
                  <a:lnTo>
                    <a:pt x="4471416" y="7620"/>
                  </a:lnTo>
                  <a:lnTo>
                    <a:pt x="4471416" y="9144"/>
                  </a:lnTo>
                  <a:close/>
                </a:path>
                <a:path w="4478020" h="1595754">
                  <a:moveTo>
                    <a:pt x="4471416" y="1589532"/>
                  </a:moveTo>
                  <a:lnTo>
                    <a:pt x="4469892" y="1589532"/>
                  </a:lnTo>
                  <a:lnTo>
                    <a:pt x="4471416" y="1588007"/>
                  </a:lnTo>
                  <a:lnTo>
                    <a:pt x="4471416" y="1589532"/>
                  </a:lnTo>
                  <a:close/>
                </a:path>
                <a:path w="4478020" h="1595754">
                  <a:moveTo>
                    <a:pt x="9144" y="1591056"/>
                  </a:moveTo>
                  <a:lnTo>
                    <a:pt x="7620" y="1591056"/>
                  </a:lnTo>
                  <a:lnTo>
                    <a:pt x="7620" y="1589532"/>
                  </a:lnTo>
                  <a:lnTo>
                    <a:pt x="9144" y="1591056"/>
                  </a:lnTo>
                  <a:close/>
                </a:path>
                <a:path w="4478020" h="1595754">
                  <a:moveTo>
                    <a:pt x="4468368" y="1591056"/>
                  </a:moveTo>
                  <a:lnTo>
                    <a:pt x="4466844" y="1591056"/>
                  </a:lnTo>
                  <a:lnTo>
                    <a:pt x="4469892" y="1589532"/>
                  </a:lnTo>
                  <a:lnTo>
                    <a:pt x="4468368" y="1591056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18237" y="5178027"/>
            <a:ext cx="3826510" cy="78803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350" spc="-20" b="1">
                <a:solidFill>
                  <a:srgbClr val="151616"/>
                </a:solidFill>
                <a:latin typeface="Arial"/>
                <a:cs typeface="Arial"/>
              </a:rPr>
              <a:t>Evaluate</a:t>
            </a:r>
            <a:r>
              <a:rPr dirty="0" sz="1350" spc="-40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151616"/>
                </a:solidFill>
                <a:latin typeface="Arial"/>
                <a:cs typeface="Arial"/>
              </a:rPr>
              <a:t>Pricing</a:t>
            </a:r>
            <a:r>
              <a:rPr dirty="0" sz="1350" spc="-45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51616"/>
                </a:solidFill>
                <a:latin typeface="Arial"/>
                <a:cs typeface="Arial"/>
              </a:rPr>
              <a:t>Strategies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14599"/>
              </a:lnSpc>
              <a:spcBef>
                <a:spcPts val="489"/>
              </a:spcBef>
            </a:pP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Analyze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average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daily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rates,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revenue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per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available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room,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and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pricing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elasticity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across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different</a:t>
            </a:r>
            <a:r>
              <a:rPr dirty="0" sz="1100" spc="-4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segments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and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time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periods.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084064" y="4701540"/>
            <a:ext cx="4478020" cy="1595755"/>
            <a:chOff x="5084064" y="4701540"/>
            <a:chExt cx="4478020" cy="1595755"/>
          </a:xfrm>
        </p:grpSpPr>
        <p:sp>
          <p:nvSpPr>
            <p:cNvPr id="22" name="object 22"/>
            <p:cNvSpPr/>
            <p:nvPr/>
          </p:nvSpPr>
          <p:spPr>
            <a:xfrm>
              <a:off x="5087112" y="4704588"/>
              <a:ext cx="4471670" cy="1590040"/>
            </a:xfrm>
            <a:custGeom>
              <a:avLst/>
              <a:gdLst/>
              <a:ahLst/>
              <a:cxnLst/>
              <a:rect l="l" t="t" r="r" b="b"/>
              <a:pathLst>
                <a:path w="4471670" h="1590039">
                  <a:moveTo>
                    <a:pt x="4468367" y="1589532"/>
                  </a:moveTo>
                  <a:lnTo>
                    <a:pt x="3048" y="1589532"/>
                  </a:lnTo>
                  <a:lnTo>
                    <a:pt x="0" y="1588008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4468367" y="0"/>
                  </a:lnTo>
                  <a:lnTo>
                    <a:pt x="4471416" y="3048"/>
                  </a:lnTo>
                  <a:lnTo>
                    <a:pt x="4471416" y="1588008"/>
                  </a:lnTo>
                  <a:lnTo>
                    <a:pt x="4468367" y="1589532"/>
                  </a:lnTo>
                  <a:close/>
                </a:path>
              </a:pathLst>
            </a:custGeom>
            <a:solidFill>
              <a:srgbClr val="F7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084064" y="4701540"/>
              <a:ext cx="4478020" cy="1595755"/>
            </a:xfrm>
            <a:custGeom>
              <a:avLst/>
              <a:gdLst/>
              <a:ahLst/>
              <a:cxnLst/>
              <a:rect l="l" t="t" r="r" b="b"/>
              <a:pathLst>
                <a:path w="4478020" h="1595754">
                  <a:moveTo>
                    <a:pt x="4472940" y="1595628"/>
                  </a:moveTo>
                  <a:lnTo>
                    <a:pt x="6096" y="1595628"/>
                  </a:lnTo>
                  <a:lnTo>
                    <a:pt x="3048" y="1594103"/>
                  </a:lnTo>
                  <a:lnTo>
                    <a:pt x="3048" y="1592580"/>
                  </a:lnTo>
                  <a:lnTo>
                    <a:pt x="1524" y="1591056"/>
                  </a:lnTo>
                  <a:lnTo>
                    <a:pt x="1524" y="1589532"/>
                  </a:lnTo>
                  <a:lnTo>
                    <a:pt x="0" y="1588007"/>
                  </a:lnTo>
                  <a:lnTo>
                    <a:pt x="0" y="9144"/>
                  </a:lnTo>
                  <a:lnTo>
                    <a:pt x="3048" y="3048"/>
                  </a:lnTo>
                  <a:lnTo>
                    <a:pt x="9144" y="0"/>
                  </a:lnTo>
                  <a:lnTo>
                    <a:pt x="4468368" y="0"/>
                  </a:lnTo>
                  <a:lnTo>
                    <a:pt x="4471416" y="1524"/>
                  </a:lnTo>
                  <a:lnTo>
                    <a:pt x="4472940" y="1524"/>
                  </a:lnTo>
                  <a:lnTo>
                    <a:pt x="4474464" y="3048"/>
                  </a:lnTo>
                  <a:lnTo>
                    <a:pt x="4475988" y="6096"/>
                  </a:lnTo>
                  <a:lnTo>
                    <a:pt x="7620" y="6096"/>
                  </a:lnTo>
                  <a:lnTo>
                    <a:pt x="6096" y="7620"/>
                  </a:lnTo>
                  <a:lnTo>
                    <a:pt x="6096" y="1589532"/>
                  </a:lnTo>
                  <a:lnTo>
                    <a:pt x="9144" y="1591056"/>
                  </a:lnTo>
                  <a:lnTo>
                    <a:pt x="4475988" y="1591056"/>
                  </a:lnTo>
                  <a:lnTo>
                    <a:pt x="4474464" y="1592580"/>
                  </a:lnTo>
                  <a:lnTo>
                    <a:pt x="4474464" y="1594103"/>
                  </a:lnTo>
                  <a:lnTo>
                    <a:pt x="4472940" y="1595628"/>
                  </a:lnTo>
                  <a:close/>
                </a:path>
                <a:path w="4478020" h="1595754">
                  <a:moveTo>
                    <a:pt x="6096" y="7620"/>
                  </a:moveTo>
                  <a:lnTo>
                    <a:pt x="7620" y="6096"/>
                  </a:lnTo>
                  <a:lnTo>
                    <a:pt x="7112" y="7112"/>
                  </a:lnTo>
                  <a:lnTo>
                    <a:pt x="6096" y="7620"/>
                  </a:lnTo>
                  <a:close/>
                </a:path>
                <a:path w="4478020" h="1595754">
                  <a:moveTo>
                    <a:pt x="7112" y="7112"/>
                  </a:moveTo>
                  <a:lnTo>
                    <a:pt x="7620" y="6096"/>
                  </a:lnTo>
                  <a:lnTo>
                    <a:pt x="9144" y="6096"/>
                  </a:lnTo>
                  <a:lnTo>
                    <a:pt x="7112" y="7112"/>
                  </a:lnTo>
                  <a:close/>
                </a:path>
                <a:path w="4478020" h="1595754">
                  <a:moveTo>
                    <a:pt x="4471416" y="7620"/>
                  </a:moveTo>
                  <a:lnTo>
                    <a:pt x="4469892" y="6096"/>
                  </a:lnTo>
                  <a:lnTo>
                    <a:pt x="4471416" y="6096"/>
                  </a:lnTo>
                  <a:lnTo>
                    <a:pt x="4471416" y="7620"/>
                  </a:lnTo>
                  <a:close/>
                </a:path>
                <a:path w="4478020" h="1595754">
                  <a:moveTo>
                    <a:pt x="4475988" y="1591056"/>
                  </a:moveTo>
                  <a:lnTo>
                    <a:pt x="4469892" y="1591056"/>
                  </a:lnTo>
                  <a:lnTo>
                    <a:pt x="4471416" y="1589532"/>
                  </a:lnTo>
                  <a:lnTo>
                    <a:pt x="4472940" y="1586484"/>
                  </a:lnTo>
                  <a:lnTo>
                    <a:pt x="4471416" y="1586484"/>
                  </a:lnTo>
                  <a:lnTo>
                    <a:pt x="4471416" y="9144"/>
                  </a:lnTo>
                  <a:lnTo>
                    <a:pt x="4472940" y="9144"/>
                  </a:lnTo>
                  <a:lnTo>
                    <a:pt x="4471416" y="7620"/>
                  </a:lnTo>
                  <a:lnTo>
                    <a:pt x="4471416" y="6096"/>
                  </a:lnTo>
                  <a:lnTo>
                    <a:pt x="4477512" y="6096"/>
                  </a:lnTo>
                  <a:lnTo>
                    <a:pt x="4477512" y="1589532"/>
                  </a:lnTo>
                  <a:lnTo>
                    <a:pt x="4475988" y="1591056"/>
                  </a:lnTo>
                  <a:close/>
                </a:path>
                <a:path w="4478020" h="1595754">
                  <a:moveTo>
                    <a:pt x="6096" y="9144"/>
                  </a:moveTo>
                  <a:lnTo>
                    <a:pt x="6096" y="7620"/>
                  </a:lnTo>
                  <a:lnTo>
                    <a:pt x="7112" y="7112"/>
                  </a:lnTo>
                  <a:lnTo>
                    <a:pt x="6096" y="9144"/>
                  </a:lnTo>
                  <a:close/>
                </a:path>
                <a:path w="4478020" h="1595754">
                  <a:moveTo>
                    <a:pt x="7620" y="1589532"/>
                  </a:moveTo>
                  <a:lnTo>
                    <a:pt x="6096" y="1589532"/>
                  </a:lnTo>
                  <a:lnTo>
                    <a:pt x="6096" y="1588007"/>
                  </a:lnTo>
                  <a:lnTo>
                    <a:pt x="7620" y="1589532"/>
                  </a:lnTo>
                  <a:close/>
                </a:path>
                <a:path w="4478020" h="1595754">
                  <a:moveTo>
                    <a:pt x="10668" y="1591056"/>
                  </a:moveTo>
                  <a:lnTo>
                    <a:pt x="9144" y="1591056"/>
                  </a:lnTo>
                  <a:lnTo>
                    <a:pt x="7620" y="1589532"/>
                  </a:lnTo>
                  <a:lnTo>
                    <a:pt x="10668" y="1591056"/>
                  </a:lnTo>
                  <a:close/>
                </a:path>
                <a:path w="4478020" h="1595754">
                  <a:moveTo>
                    <a:pt x="4469892" y="1591056"/>
                  </a:moveTo>
                  <a:lnTo>
                    <a:pt x="4468368" y="1591056"/>
                  </a:lnTo>
                  <a:lnTo>
                    <a:pt x="4469892" y="1589532"/>
                  </a:lnTo>
                  <a:lnTo>
                    <a:pt x="4469892" y="1591056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203906" y="5178027"/>
            <a:ext cx="4097654" cy="98044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969"/>
              </a:spcBef>
            </a:pPr>
            <a:r>
              <a:rPr dirty="0" sz="1350" spc="-20" b="1">
                <a:solidFill>
                  <a:srgbClr val="151616"/>
                </a:solidFill>
                <a:latin typeface="Arial"/>
                <a:cs typeface="Arial"/>
              </a:rPr>
              <a:t>Generate</a:t>
            </a:r>
            <a:r>
              <a:rPr dirty="0" sz="1350" spc="-75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1350" spc="-45" b="1">
                <a:solidFill>
                  <a:srgbClr val="151616"/>
                </a:solidFill>
                <a:latin typeface="Arial"/>
                <a:cs typeface="Arial"/>
              </a:rPr>
              <a:t>Actionable</a:t>
            </a:r>
            <a:r>
              <a:rPr dirty="0" sz="1350" b="1">
                <a:solidFill>
                  <a:srgbClr val="151616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151616"/>
                </a:solidFill>
                <a:latin typeface="Arial"/>
                <a:cs typeface="Arial"/>
              </a:rPr>
              <a:t>Insights</a:t>
            </a:r>
            <a:endParaRPr sz="1350">
              <a:latin typeface="Arial"/>
              <a:cs typeface="Arial"/>
            </a:endParaRPr>
          </a:p>
          <a:p>
            <a:pPr algn="just" marL="12700" marR="5080">
              <a:lnSpc>
                <a:spcPct val="114599"/>
              </a:lnSpc>
              <a:spcBef>
                <a:spcPts val="489"/>
              </a:spcBef>
            </a:pP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Transform</a:t>
            </a:r>
            <a:r>
              <a:rPr dirty="0" sz="1100" spc="-6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data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findings</a:t>
            </a:r>
            <a:r>
              <a:rPr dirty="0" sz="1100" spc="-3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into</a:t>
            </a:r>
            <a:r>
              <a:rPr dirty="0" sz="1100" spc="-1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concrete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recommendations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that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hotel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management</a:t>
            </a:r>
            <a:r>
              <a:rPr dirty="0" sz="1100" spc="-5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can</a:t>
            </a:r>
            <a:r>
              <a:rPr dirty="0" sz="1100" spc="-2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implement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immediately</a:t>
            </a:r>
            <a:r>
              <a:rPr dirty="0" sz="1100" spc="-30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to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51616"/>
                </a:solidFill>
                <a:latin typeface="Arial MT"/>
                <a:cs typeface="Arial MT"/>
              </a:rPr>
              <a:t>improve</a:t>
            </a:r>
            <a:r>
              <a:rPr dirty="0" sz="1100" spc="-25">
                <a:solidFill>
                  <a:srgbClr val="15161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51616"/>
                </a:solidFill>
                <a:latin typeface="Arial MT"/>
                <a:cs typeface="Arial MT"/>
              </a:rPr>
              <a:t>performance metrics.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0936" y="2712720"/>
            <a:ext cx="472439" cy="397763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88079" y="2676144"/>
            <a:ext cx="509015" cy="46177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46747" y="2691384"/>
            <a:ext cx="522732" cy="463295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0936" y="4820411"/>
            <a:ext cx="472439" cy="469391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5218176" y="4794503"/>
            <a:ext cx="4840605" cy="1902460"/>
            <a:chOff x="5218176" y="4794503"/>
            <a:chExt cx="4840605" cy="1902460"/>
          </a:xfrm>
        </p:grpSpPr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18176" y="4794503"/>
              <a:ext cx="498347" cy="43281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799576" y="6323088"/>
              <a:ext cx="1259205" cy="373380"/>
            </a:xfrm>
            <a:custGeom>
              <a:avLst/>
              <a:gdLst/>
              <a:ahLst/>
              <a:cxnLst/>
              <a:rect l="l" t="t" r="r" b="b"/>
              <a:pathLst>
                <a:path w="1259204" h="373379">
                  <a:moveTo>
                    <a:pt x="1258824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1258824" y="373380"/>
                  </a:lnTo>
                  <a:lnTo>
                    <a:pt x="1258824" y="368808"/>
                  </a:lnTo>
                  <a:lnTo>
                    <a:pt x="1258824" y="364236"/>
                  </a:lnTo>
                  <a:lnTo>
                    <a:pt x="1258824" y="7620"/>
                  </a:lnTo>
                  <a:lnTo>
                    <a:pt x="1258824" y="3048"/>
                  </a:lnTo>
                  <a:lnTo>
                    <a:pt x="1258824" y="0"/>
                  </a:lnTo>
                  <a:close/>
                </a:path>
              </a:pathLst>
            </a:custGeom>
            <a:solidFill>
              <a:srgbClr val="000C26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7656"/>
            <a:ext cx="3771900" cy="5658611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951199" y="1387865"/>
            <a:ext cx="5676900" cy="738505"/>
          </a:xfrm>
          <a:prstGeom prst="rect"/>
        </p:spPr>
        <p:txBody>
          <a:bodyPr wrap="square" lIns="0" tIns="114935" rIns="0" bIns="0" rtlCol="0" vert="horz">
            <a:spAutoFit/>
          </a:bodyPr>
          <a:lstStyle/>
          <a:p>
            <a:pPr marL="12700" marR="5080">
              <a:lnSpc>
                <a:spcPct val="75500"/>
              </a:lnSpc>
              <a:spcBef>
                <a:spcPts val="905"/>
              </a:spcBef>
            </a:pPr>
            <a:r>
              <a:rPr dirty="0" spc="-35" b="1">
                <a:latin typeface="Arial"/>
                <a:cs typeface="Arial"/>
              </a:rPr>
              <a:t>Dataset</a:t>
            </a:r>
            <a:r>
              <a:rPr dirty="0" spc="-140" b="1">
                <a:latin typeface="Arial"/>
                <a:cs typeface="Arial"/>
              </a:rPr>
              <a:t> </a:t>
            </a:r>
            <a:r>
              <a:rPr dirty="0" spc="-95" b="1">
                <a:latin typeface="Arial"/>
                <a:cs typeface="Arial"/>
              </a:rPr>
              <a:t>Overview:</a:t>
            </a:r>
            <a:r>
              <a:rPr dirty="0" spc="-9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The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 spc="-90" b="1">
                <a:latin typeface="Arial"/>
                <a:cs typeface="Arial"/>
              </a:rPr>
              <a:t>Foundation</a:t>
            </a:r>
            <a:r>
              <a:rPr dirty="0" spc="-70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of </a:t>
            </a:r>
            <a:r>
              <a:rPr dirty="0" spc="-10" b="1">
                <a:latin typeface="Arial"/>
                <a:cs typeface="Arial"/>
              </a:rPr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51228" y="2341873"/>
            <a:ext cx="3811904" cy="31902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07645">
              <a:lnSpc>
                <a:spcPct val="100000"/>
              </a:lnSpc>
              <a:spcBef>
                <a:spcPts val="114"/>
              </a:spcBef>
            </a:pPr>
            <a:r>
              <a:rPr dirty="0" sz="1700" spc="-60" b="1">
                <a:solidFill>
                  <a:srgbClr val="C6BFED"/>
                </a:solidFill>
                <a:latin typeface="Arial"/>
                <a:cs typeface="Arial"/>
              </a:rPr>
              <a:t>Comprehensive</a:t>
            </a:r>
            <a:r>
              <a:rPr dirty="0" sz="1700" spc="-4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C6BFED"/>
                </a:solidFill>
                <a:latin typeface="Arial"/>
                <a:cs typeface="Arial"/>
              </a:rPr>
              <a:t>Data</a:t>
            </a:r>
            <a:r>
              <a:rPr dirty="0" sz="1700" spc="-4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700" spc="-10" b="1">
                <a:solidFill>
                  <a:srgbClr val="C6BFED"/>
                </a:solidFill>
                <a:latin typeface="Arial"/>
                <a:cs typeface="Arial"/>
              </a:rPr>
              <a:t>Coverage</a:t>
            </a:r>
            <a:endParaRPr sz="1700">
              <a:latin typeface="Arial"/>
              <a:cs typeface="Arial"/>
            </a:endParaRPr>
          </a:p>
          <a:p>
            <a:pPr marL="208915" indent="-196215">
              <a:lnSpc>
                <a:spcPts val="1235"/>
              </a:lnSpc>
              <a:spcBef>
                <a:spcPts val="1350"/>
              </a:spcBef>
              <a:buChar char="•"/>
              <a:tabLst>
                <a:tab pos="208915" algn="l"/>
              </a:tabLst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The</a:t>
            </a:r>
            <a:r>
              <a:rPr dirty="0" sz="1200" spc="7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dataset</a:t>
            </a:r>
            <a:r>
              <a:rPr dirty="0" sz="1200" spc="1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spans</a:t>
            </a:r>
            <a:r>
              <a:rPr dirty="0" sz="1200" spc="8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three</a:t>
            </a:r>
            <a:r>
              <a:rPr dirty="0" sz="1200" spc="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years</a:t>
            </a:r>
            <a:r>
              <a:rPr dirty="0" sz="1200" spc="15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(2018-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2020),</a:t>
            </a:r>
            <a:endParaRPr sz="1200">
              <a:latin typeface="Arial MT"/>
              <a:cs typeface="Arial MT"/>
            </a:endParaRPr>
          </a:p>
          <a:p>
            <a:pPr marL="208915">
              <a:lnSpc>
                <a:spcPts val="1030"/>
              </a:lnSpc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capturing</a:t>
            </a:r>
            <a:r>
              <a:rPr dirty="0" sz="1200" spc="10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</a:t>
            </a:r>
            <a:r>
              <a:rPr dirty="0" sz="1200" spc="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complete</a:t>
            </a:r>
            <a:r>
              <a:rPr dirty="0" sz="1200" spc="8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business</a:t>
            </a:r>
            <a:r>
              <a:rPr dirty="0" sz="1200" spc="1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cycle</a:t>
            </a:r>
            <a:r>
              <a:rPr dirty="0" sz="1200" spc="10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that</a:t>
            </a:r>
            <a:r>
              <a:rPr dirty="0" sz="1200" spc="1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includes</a:t>
            </a:r>
            <a:endParaRPr sz="1200">
              <a:latin typeface="Arial MT"/>
              <a:cs typeface="Arial MT"/>
            </a:endParaRPr>
          </a:p>
          <a:p>
            <a:pPr marL="208915" marR="882650">
              <a:lnSpc>
                <a:spcPct val="71700"/>
              </a:lnSpc>
              <a:spcBef>
                <a:spcPts val="204"/>
              </a:spcBef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seasonal</a:t>
            </a:r>
            <a:r>
              <a:rPr dirty="0" sz="1200" spc="1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variations</a:t>
            </a:r>
            <a:r>
              <a:rPr dirty="0" sz="1200" spc="14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200" spc="15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year-over-</a:t>
            </a:r>
            <a:r>
              <a:rPr dirty="0" sz="1200" spc="-20">
                <a:solidFill>
                  <a:srgbClr val="C6BFED"/>
                </a:solidFill>
                <a:latin typeface="Arial MT"/>
                <a:cs typeface="Arial MT"/>
              </a:rPr>
              <a:t>year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performance.</a:t>
            </a:r>
            <a:endParaRPr sz="1200">
              <a:latin typeface="Arial MT"/>
              <a:cs typeface="Arial MT"/>
            </a:endParaRPr>
          </a:p>
          <a:p>
            <a:pPr marL="208915" marR="150495" indent="-196850">
              <a:lnSpc>
                <a:spcPct val="71700"/>
              </a:lnSpc>
              <a:spcBef>
                <a:spcPts val="1030"/>
              </a:spcBef>
              <a:buChar char="•"/>
              <a:tabLst>
                <a:tab pos="208915" algn="l"/>
              </a:tabLst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This</a:t>
            </a:r>
            <a:r>
              <a:rPr dirty="0" sz="1200" spc="7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temporal</a:t>
            </a:r>
            <a:r>
              <a:rPr dirty="0" sz="1200" spc="1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breadth</a:t>
            </a:r>
            <a:r>
              <a:rPr dirty="0" sz="1200" spc="1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enables</a:t>
            </a:r>
            <a:r>
              <a:rPr dirty="0" sz="1200" spc="114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trend</a:t>
            </a:r>
            <a:r>
              <a:rPr dirty="0" sz="1200" spc="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analysis</a:t>
            </a:r>
            <a:r>
              <a:rPr dirty="0" sz="1200" spc="1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25">
                <a:solidFill>
                  <a:srgbClr val="C6BFED"/>
                </a:solidFill>
                <a:latin typeface="Arial MT"/>
                <a:cs typeface="Arial MT"/>
              </a:rPr>
              <a:t>and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year-to-year</a:t>
            </a:r>
            <a:r>
              <a:rPr dirty="0" sz="1200" spc="16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comparisons.</a:t>
            </a:r>
            <a:endParaRPr sz="1200">
              <a:latin typeface="Arial MT"/>
              <a:cs typeface="Arial MT"/>
            </a:endParaRPr>
          </a:p>
          <a:p>
            <a:pPr marL="208915" indent="-196215">
              <a:lnSpc>
                <a:spcPts val="1235"/>
              </a:lnSpc>
              <a:spcBef>
                <a:spcPts val="625"/>
              </a:spcBef>
              <a:buChar char="•"/>
              <a:tabLst>
                <a:tab pos="208915" algn="l"/>
              </a:tabLst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The</a:t>
            </a:r>
            <a:r>
              <a:rPr dirty="0" sz="1200" spc="7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200" spc="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encompasses</a:t>
            </a:r>
            <a:r>
              <a:rPr dirty="0" sz="1200" spc="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both</a:t>
            </a:r>
            <a:r>
              <a:rPr dirty="0" sz="1200" spc="9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city</a:t>
            </a:r>
            <a:r>
              <a:rPr dirty="0" sz="1200" spc="7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hotels</a:t>
            </a:r>
            <a:r>
              <a:rPr dirty="0" sz="1200" spc="10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200" spc="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resort</a:t>
            </a:r>
            <a:endParaRPr sz="1200">
              <a:latin typeface="Arial MT"/>
              <a:cs typeface="Arial MT"/>
            </a:endParaRPr>
          </a:p>
          <a:p>
            <a:pPr marL="208915" marR="161290">
              <a:lnSpc>
                <a:spcPct val="71700"/>
              </a:lnSpc>
              <a:spcBef>
                <a:spcPts val="204"/>
              </a:spcBef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properties,</a:t>
            </a:r>
            <a:r>
              <a:rPr dirty="0" sz="1200" spc="1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providing</a:t>
            </a:r>
            <a:r>
              <a:rPr dirty="0" sz="1200" spc="1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insights</a:t>
            </a:r>
            <a:r>
              <a:rPr dirty="0" sz="1200" spc="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into</a:t>
            </a:r>
            <a:r>
              <a:rPr dirty="0" sz="1200" spc="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different</a:t>
            </a:r>
            <a:r>
              <a:rPr dirty="0" sz="1200" spc="1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market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segments</a:t>
            </a:r>
            <a:r>
              <a:rPr dirty="0" sz="1200" spc="10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200" spc="1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operational</a:t>
            </a:r>
            <a:r>
              <a:rPr dirty="0" sz="1200" spc="15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models.</a:t>
            </a:r>
            <a:endParaRPr sz="1200">
              <a:latin typeface="Arial MT"/>
              <a:cs typeface="Arial MT"/>
            </a:endParaRPr>
          </a:p>
          <a:p>
            <a:pPr marL="208915" indent="-196215">
              <a:lnSpc>
                <a:spcPts val="1235"/>
              </a:lnSpc>
              <a:spcBef>
                <a:spcPts val="1080"/>
              </a:spcBef>
              <a:buChar char="•"/>
              <a:tabLst>
                <a:tab pos="208915" algn="l"/>
              </a:tabLst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Key</a:t>
            </a:r>
            <a:r>
              <a:rPr dirty="0" sz="1200" spc="9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200" spc="1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elements</a:t>
            </a:r>
            <a:r>
              <a:rPr dirty="0" sz="1200" spc="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include</a:t>
            </a:r>
            <a:r>
              <a:rPr dirty="0" sz="1200" spc="114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booking</a:t>
            </a:r>
            <a:r>
              <a:rPr dirty="0" sz="1200" spc="114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details,</a:t>
            </a:r>
            <a:r>
              <a:rPr dirty="0" sz="1200" spc="1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revenue</a:t>
            </a:r>
            <a:endParaRPr sz="1200">
              <a:latin typeface="Arial MT"/>
              <a:cs typeface="Arial MT"/>
            </a:endParaRPr>
          </a:p>
          <a:p>
            <a:pPr marL="208915">
              <a:lnSpc>
                <a:spcPts val="1030"/>
              </a:lnSpc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figures,</a:t>
            </a:r>
            <a:r>
              <a:rPr dirty="0" sz="1200" spc="1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average</a:t>
            </a:r>
            <a:r>
              <a:rPr dirty="0" sz="1200" spc="1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daily</a:t>
            </a:r>
            <a:r>
              <a:rPr dirty="0" sz="1200" spc="114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rates,</a:t>
            </a:r>
            <a:r>
              <a:rPr dirty="0" sz="1200" spc="8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occupancy</a:t>
            </a:r>
            <a:r>
              <a:rPr dirty="0" sz="1200" spc="114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rates,</a:t>
            </a:r>
            <a:endParaRPr sz="1200">
              <a:latin typeface="Arial MT"/>
              <a:cs typeface="Arial MT"/>
            </a:endParaRPr>
          </a:p>
          <a:p>
            <a:pPr marL="208915" marR="598170">
              <a:lnSpc>
                <a:spcPct val="71700"/>
              </a:lnSpc>
              <a:spcBef>
                <a:spcPts val="204"/>
              </a:spcBef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market</a:t>
            </a:r>
            <a:r>
              <a:rPr dirty="0" sz="1200" spc="1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segments,</a:t>
            </a:r>
            <a:r>
              <a:rPr dirty="0" sz="1200" spc="1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customer</a:t>
            </a:r>
            <a:r>
              <a:rPr dirty="0" sz="1200" spc="9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types,</a:t>
            </a:r>
            <a:r>
              <a:rPr dirty="0" sz="1200" spc="15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booking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channels,</a:t>
            </a:r>
            <a:r>
              <a:rPr dirty="0" sz="1200" spc="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200" spc="9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stay</a:t>
            </a:r>
            <a:r>
              <a:rPr dirty="0" sz="1200" spc="8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durations.</a:t>
            </a:r>
            <a:endParaRPr sz="1200">
              <a:latin typeface="Arial MT"/>
              <a:cs typeface="Arial MT"/>
            </a:endParaRPr>
          </a:p>
          <a:p>
            <a:pPr marL="208915" indent="-196215">
              <a:lnSpc>
                <a:spcPts val="1235"/>
              </a:lnSpc>
              <a:spcBef>
                <a:spcPts val="620"/>
              </a:spcBef>
              <a:buChar char="•"/>
              <a:tabLst>
                <a:tab pos="208915" algn="l"/>
              </a:tabLst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This</a:t>
            </a:r>
            <a:r>
              <a:rPr dirty="0" sz="1200" spc="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comprehensive</a:t>
            </a:r>
            <a:r>
              <a:rPr dirty="0" sz="1200" spc="1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coverage</a:t>
            </a:r>
            <a:r>
              <a:rPr dirty="0" sz="1200" spc="1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allows</a:t>
            </a:r>
            <a:r>
              <a:rPr dirty="0" sz="1200" spc="15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for</a:t>
            </a:r>
            <a:r>
              <a:rPr dirty="0" sz="1200" spc="114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multi-</a:t>
            </a:r>
            <a:endParaRPr sz="1200">
              <a:latin typeface="Arial MT"/>
              <a:cs typeface="Arial MT"/>
            </a:endParaRPr>
          </a:p>
          <a:p>
            <a:pPr marL="208915" marR="421640">
              <a:lnSpc>
                <a:spcPct val="71700"/>
              </a:lnSpc>
              <a:spcBef>
                <a:spcPts val="204"/>
              </a:spcBef>
            </a:pP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dimensional</a:t>
            </a:r>
            <a:r>
              <a:rPr dirty="0" sz="1200" spc="1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analysis</a:t>
            </a:r>
            <a:r>
              <a:rPr dirty="0" sz="1200" spc="16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across</a:t>
            </a:r>
            <a:r>
              <a:rPr dirty="0" sz="1200" spc="1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C6BFED"/>
                </a:solidFill>
                <a:latin typeface="Arial MT"/>
                <a:cs typeface="Arial MT"/>
              </a:rPr>
              <a:t>various</a:t>
            </a:r>
            <a:r>
              <a:rPr dirty="0" sz="1200" spc="1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C6BFED"/>
                </a:solidFill>
                <a:latin typeface="Arial MT"/>
                <a:cs typeface="Arial MT"/>
              </a:rPr>
              <a:t>business dimensions.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49574" y="2340404"/>
            <a:ext cx="909319" cy="86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500" spc="-50" b="1">
                <a:solidFill>
                  <a:srgbClr val="C6BFED"/>
                </a:solidFill>
                <a:latin typeface="Arial"/>
                <a:cs typeface="Arial"/>
              </a:rPr>
              <a:t>3</a:t>
            </a:r>
            <a:endParaRPr sz="2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930"/>
              </a:spcBef>
            </a:pPr>
            <a:r>
              <a:rPr dirty="0" sz="900" spc="-20" b="1">
                <a:solidFill>
                  <a:srgbClr val="C6BFED"/>
                </a:solidFill>
                <a:latin typeface="Arial"/>
                <a:cs typeface="Arial"/>
              </a:rPr>
              <a:t>Years</a:t>
            </a:r>
            <a:r>
              <a:rPr dirty="0" sz="900" spc="-3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C6BFED"/>
                </a:solidFill>
                <a:latin typeface="Arial"/>
                <a:cs typeface="Arial"/>
              </a:rPr>
              <a:t>of</a:t>
            </a:r>
            <a:r>
              <a:rPr dirty="0" sz="900" spc="-2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C6BFED"/>
                </a:solidFill>
                <a:latin typeface="Arial"/>
                <a:cs typeface="Arial"/>
              </a:rPr>
              <a:t>Data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dirty="0" sz="750">
                <a:solidFill>
                  <a:srgbClr val="C6BFED"/>
                </a:solidFill>
                <a:latin typeface="Arial MT"/>
                <a:cs typeface="Arial MT"/>
              </a:rPr>
              <a:t>2018-2020</a:t>
            </a:r>
            <a:r>
              <a:rPr dirty="0" sz="7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C6BFED"/>
                </a:solidFill>
                <a:latin typeface="Arial MT"/>
                <a:cs typeface="Arial MT"/>
              </a:rPr>
              <a:t>coverage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60584" y="3306529"/>
            <a:ext cx="1286510" cy="866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500" spc="-10" b="1">
                <a:solidFill>
                  <a:srgbClr val="C6BFED"/>
                </a:solidFill>
                <a:latin typeface="Arial"/>
                <a:cs typeface="Arial"/>
              </a:rPr>
              <a:t>86.8K</a:t>
            </a:r>
            <a:endParaRPr sz="2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dirty="0" sz="900" spc="-35" b="1">
                <a:solidFill>
                  <a:srgbClr val="C6BFED"/>
                </a:solidFill>
                <a:latin typeface="Arial"/>
                <a:cs typeface="Arial"/>
              </a:rPr>
              <a:t>Total </a:t>
            </a:r>
            <a:r>
              <a:rPr dirty="0" sz="900" spc="-10" b="1">
                <a:solidFill>
                  <a:srgbClr val="C6BFED"/>
                </a:solidFill>
                <a:latin typeface="Arial"/>
                <a:cs typeface="Arial"/>
              </a:rPr>
              <a:t>Bookings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750">
                <a:solidFill>
                  <a:srgbClr val="C6BFED"/>
                </a:solidFill>
                <a:latin typeface="Arial MT"/>
                <a:cs typeface="Arial MT"/>
              </a:rPr>
              <a:t>Complete</a:t>
            </a:r>
            <a:r>
              <a:rPr dirty="0" sz="7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C6BFED"/>
                </a:solidFill>
                <a:latin typeface="Arial MT"/>
                <a:cs typeface="Arial MT"/>
              </a:rPr>
              <a:t>reservation</a:t>
            </a:r>
            <a:r>
              <a:rPr dirty="0" sz="7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C6BFED"/>
                </a:solidFill>
                <a:latin typeface="Arial MT"/>
                <a:cs typeface="Arial MT"/>
              </a:rPr>
              <a:t>records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56603" y="4265190"/>
            <a:ext cx="1093470" cy="8604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spc="-10" b="1">
                <a:solidFill>
                  <a:srgbClr val="C6BFED"/>
                </a:solidFill>
                <a:latin typeface="Arial"/>
                <a:cs typeface="Arial"/>
              </a:rPr>
              <a:t>$30.5M</a:t>
            </a:r>
            <a:endParaRPr sz="25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880"/>
              </a:spcBef>
            </a:pPr>
            <a:r>
              <a:rPr dirty="0" sz="900" spc="-10" b="1">
                <a:solidFill>
                  <a:srgbClr val="C6BFED"/>
                </a:solidFill>
                <a:latin typeface="Arial"/>
                <a:cs typeface="Arial"/>
              </a:rPr>
              <a:t>Revenue</a:t>
            </a:r>
            <a:r>
              <a:rPr dirty="0" sz="900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C6BFED"/>
                </a:solidFill>
                <a:latin typeface="Arial"/>
                <a:cs typeface="Arial"/>
              </a:rPr>
              <a:t>Generated</a:t>
            </a:r>
            <a:endParaRPr sz="900">
              <a:latin typeface="Arial"/>
              <a:cs typeface="Arial"/>
            </a:endParaRPr>
          </a:p>
          <a:p>
            <a:pPr marL="71755">
              <a:lnSpc>
                <a:spcPct val="100000"/>
              </a:lnSpc>
              <a:spcBef>
                <a:spcPts val="705"/>
              </a:spcBef>
            </a:pPr>
            <a:r>
              <a:rPr dirty="0" sz="750">
                <a:solidFill>
                  <a:srgbClr val="C6BFED"/>
                </a:solidFill>
                <a:latin typeface="Arial MT"/>
                <a:cs typeface="Arial MT"/>
              </a:rPr>
              <a:t>Accumulated</a:t>
            </a:r>
            <a:r>
              <a:rPr dirty="0" sz="7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750" spc="-10">
                <a:solidFill>
                  <a:srgbClr val="C6BFED"/>
                </a:solidFill>
                <a:latin typeface="Arial MT"/>
                <a:cs typeface="Arial MT"/>
              </a:rPr>
              <a:t>earnings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6614" y="5223850"/>
            <a:ext cx="774065" cy="86169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2500" spc="-25" b="1">
                <a:solidFill>
                  <a:srgbClr val="C6BFED"/>
                </a:solidFill>
                <a:latin typeface="Arial"/>
                <a:cs typeface="Arial"/>
              </a:rPr>
              <a:t>3.5</a:t>
            </a:r>
            <a:endParaRPr sz="250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  <a:spcBef>
                <a:spcPts val="880"/>
              </a:spcBef>
            </a:pPr>
            <a:r>
              <a:rPr dirty="0" sz="900" spc="-20" b="1">
                <a:solidFill>
                  <a:srgbClr val="C6BFED"/>
                </a:solidFill>
                <a:latin typeface="Arial"/>
                <a:cs typeface="Arial"/>
              </a:rPr>
              <a:t>Average</a:t>
            </a:r>
            <a:r>
              <a:rPr dirty="0" sz="900" spc="-10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C6BFED"/>
                </a:solidFill>
                <a:latin typeface="Arial"/>
                <a:cs typeface="Arial"/>
              </a:rPr>
              <a:t>Stay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dirty="0" sz="750">
                <a:solidFill>
                  <a:srgbClr val="C6BFED"/>
                </a:solidFill>
                <a:latin typeface="Arial MT"/>
                <a:cs typeface="Arial MT"/>
              </a:rPr>
              <a:t>Days</a:t>
            </a:r>
            <a:r>
              <a:rPr dirty="0" sz="7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750">
                <a:solidFill>
                  <a:srgbClr val="C6BFED"/>
                </a:solidFill>
                <a:latin typeface="Arial MT"/>
                <a:cs typeface="Arial MT"/>
              </a:rPr>
              <a:t>per </a:t>
            </a:r>
            <a:r>
              <a:rPr dirty="0" sz="750" spc="-10">
                <a:solidFill>
                  <a:srgbClr val="C6BFED"/>
                </a:solidFill>
                <a:latin typeface="Arial MT"/>
                <a:cs typeface="Arial MT"/>
              </a:rPr>
              <a:t>booking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99576" y="6283451"/>
            <a:ext cx="1259205" cy="375285"/>
          </a:xfrm>
          <a:custGeom>
            <a:avLst/>
            <a:gdLst/>
            <a:ahLst/>
            <a:cxnLst/>
            <a:rect l="l" t="t" r="r" b="b"/>
            <a:pathLst>
              <a:path w="1259204" h="375284">
                <a:moveTo>
                  <a:pt x="1258824" y="0"/>
                </a:moveTo>
                <a:lnTo>
                  <a:pt x="0" y="0"/>
                </a:lnTo>
                <a:lnTo>
                  <a:pt x="0" y="374904"/>
                </a:lnTo>
                <a:lnTo>
                  <a:pt x="1258824" y="374904"/>
                </a:lnTo>
                <a:lnTo>
                  <a:pt x="1258824" y="370332"/>
                </a:lnTo>
                <a:lnTo>
                  <a:pt x="1258824" y="365760"/>
                </a:lnTo>
                <a:lnTo>
                  <a:pt x="1258824" y="9144"/>
                </a:lnTo>
                <a:lnTo>
                  <a:pt x="1258824" y="4572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8181" rIns="0" bIns="0" rtlCol="0" vert="horz">
            <a:spAutoFit/>
          </a:bodyPr>
          <a:lstStyle/>
          <a:p>
            <a:pPr marL="58419">
              <a:lnSpc>
                <a:spcPct val="100000"/>
              </a:lnSpc>
              <a:spcBef>
                <a:spcPts val="125"/>
              </a:spcBef>
            </a:pPr>
            <a:r>
              <a:rPr dirty="0" b="1">
                <a:latin typeface="Arial"/>
                <a:cs typeface="Arial"/>
              </a:rPr>
              <a:t>Data</a:t>
            </a:r>
            <a:r>
              <a:rPr dirty="0" spc="-105" b="1">
                <a:latin typeface="Arial"/>
                <a:cs typeface="Arial"/>
              </a:rPr>
              <a:t> </a:t>
            </a:r>
            <a:r>
              <a:rPr dirty="0" spc="-90" b="1">
                <a:latin typeface="Arial"/>
                <a:cs typeface="Arial"/>
              </a:rPr>
              <a:t>Preprocessing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42543" y="3198876"/>
            <a:ext cx="2905125" cy="22860"/>
            <a:chOff x="542543" y="3198876"/>
            <a:chExt cx="2905125" cy="22860"/>
          </a:xfrm>
        </p:grpSpPr>
        <p:sp>
          <p:nvSpPr>
            <p:cNvPr id="5" name="object 5"/>
            <p:cNvSpPr/>
            <p:nvPr/>
          </p:nvSpPr>
          <p:spPr>
            <a:xfrm>
              <a:off x="547115" y="3201924"/>
              <a:ext cx="2897505" cy="17145"/>
            </a:xfrm>
            <a:custGeom>
              <a:avLst/>
              <a:gdLst/>
              <a:ahLst/>
              <a:cxnLst/>
              <a:rect l="l" t="t" r="r" b="b"/>
              <a:pathLst>
                <a:path w="2897504" h="17144">
                  <a:moveTo>
                    <a:pt x="2897124" y="16764"/>
                  </a:moveTo>
                  <a:lnTo>
                    <a:pt x="0" y="16764"/>
                  </a:lnTo>
                  <a:lnTo>
                    <a:pt x="0" y="0"/>
                  </a:lnTo>
                  <a:lnTo>
                    <a:pt x="2897124" y="0"/>
                  </a:lnTo>
                  <a:lnTo>
                    <a:pt x="2897124" y="16764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2543" y="3198876"/>
              <a:ext cx="2905125" cy="22860"/>
            </a:xfrm>
            <a:custGeom>
              <a:avLst/>
              <a:gdLst/>
              <a:ahLst/>
              <a:cxnLst/>
              <a:rect l="l" t="t" r="r" b="b"/>
              <a:pathLst>
                <a:path w="2905125" h="22860">
                  <a:moveTo>
                    <a:pt x="2903219" y="22860"/>
                  </a:moveTo>
                  <a:lnTo>
                    <a:pt x="1524" y="22860"/>
                  </a:lnTo>
                  <a:lnTo>
                    <a:pt x="0" y="21336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2903219" y="0"/>
                  </a:lnTo>
                  <a:lnTo>
                    <a:pt x="2904744" y="1524"/>
                  </a:lnTo>
                  <a:lnTo>
                    <a:pt x="2904744" y="3048"/>
                  </a:lnTo>
                  <a:lnTo>
                    <a:pt x="7620" y="3048"/>
                  </a:lnTo>
                  <a:lnTo>
                    <a:pt x="4572" y="7620"/>
                  </a:lnTo>
                  <a:lnTo>
                    <a:pt x="7620" y="7620"/>
                  </a:lnTo>
                  <a:lnTo>
                    <a:pt x="7620" y="16764"/>
                  </a:lnTo>
                  <a:lnTo>
                    <a:pt x="4572" y="16764"/>
                  </a:lnTo>
                  <a:lnTo>
                    <a:pt x="7620" y="19812"/>
                  </a:lnTo>
                  <a:lnTo>
                    <a:pt x="2904744" y="19812"/>
                  </a:lnTo>
                  <a:lnTo>
                    <a:pt x="2904744" y="21336"/>
                  </a:lnTo>
                  <a:lnTo>
                    <a:pt x="2903219" y="22860"/>
                  </a:lnTo>
                  <a:close/>
                </a:path>
                <a:path w="2905125" h="22860">
                  <a:moveTo>
                    <a:pt x="7620" y="7620"/>
                  </a:moveTo>
                  <a:lnTo>
                    <a:pt x="4572" y="7620"/>
                  </a:lnTo>
                  <a:lnTo>
                    <a:pt x="7620" y="3048"/>
                  </a:lnTo>
                  <a:lnTo>
                    <a:pt x="7620" y="7620"/>
                  </a:lnTo>
                  <a:close/>
                </a:path>
                <a:path w="2905125" h="22860">
                  <a:moveTo>
                    <a:pt x="2898648" y="7620"/>
                  </a:moveTo>
                  <a:lnTo>
                    <a:pt x="7620" y="7620"/>
                  </a:lnTo>
                  <a:lnTo>
                    <a:pt x="7620" y="3048"/>
                  </a:lnTo>
                  <a:lnTo>
                    <a:pt x="2898648" y="3048"/>
                  </a:lnTo>
                  <a:lnTo>
                    <a:pt x="2898648" y="7620"/>
                  </a:lnTo>
                  <a:close/>
                </a:path>
                <a:path w="2905125" h="22860">
                  <a:moveTo>
                    <a:pt x="2898648" y="19812"/>
                  </a:moveTo>
                  <a:lnTo>
                    <a:pt x="2898648" y="3048"/>
                  </a:lnTo>
                  <a:lnTo>
                    <a:pt x="2901696" y="7620"/>
                  </a:lnTo>
                  <a:lnTo>
                    <a:pt x="2904744" y="7620"/>
                  </a:lnTo>
                  <a:lnTo>
                    <a:pt x="2904744" y="16764"/>
                  </a:lnTo>
                  <a:lnTo>
                    <a:pt x="2901696" y="16764"/>
                  </a:lnTo>
                  <a:lnTo>
                    <a:pt x="2898648" y="19812"/>
                  </a:lnTo>
                  <a:close/>
                </a:path>
                <a:path w="2905125" h="22860">
                  <a:moveTo>
                    <a:pt x="2904744" y="7620"/>
                  </a:moveTo>
                  <a:lnTo>
                    <a:pt x="2901696" y="7620"/>
                  </a:lnTo>
                  <a:lnTo>
                    <a:pt x="2898648" y="3048"/>
                  </a:lnTo>
                  <a:lnTo>
                    <a:pt x="2904744" y="3048"/>
                  </a:lnTo>
                  <a:lnTo>
                    <a:pt x="2904744" y="7620"/>
                  </a:lnTo>
                  <a:close/>
                </a:path>
                <a:path w="2905125" h="22860">
                  <a:moveTo>
                    <a:pt x="7620" y="19812"/>
                  </a:moveTo>
                  <a:lnTo>
                    <a:pt x="4572" y="16764"/>
                  </a:lnTo>
                  <a:lnTo>
                    <a:pt x="7620" y="16764"/>
                  </a:lnTo>
                  <a:lnTo>
                    <a:pt x="7620" y="19812"/>
                  </a:lnTo>
                  <a:close/>
                </a:path>
                <a:path w="2905125" h="22860">
                  <a:moveTo>
                    <a:pt x="2898648" y="19812"/>
                  </a:moveTo>
                  <a:lnTo>
                    <a:pt x="7620" y="19812"/>
                  </a:lnTo>
                  <a:lnTo>
                    <a:pt x="7620" y="16764"/>
                  </a:lnTo>
                  <a:lnTo>
                    <a:pt x="2898648" y="16764"/>
                  </a:lnTo>
                  <a:lnTo>
                    <a:pt x="2898648" y="19812"/>
                  </a:lnTo>
                  <a:close/>
                </a:path>
                <a:path w="2905125" h="22860">
                  <a:moveTo>
                    <a:pt x="2904744" y="19812"/>
                  </a:moveTo>
                  <a:lnTo>
                    <a:pt x="2898648" y="19812"/>
                  </a:lnTo>
                  <a:lnTo>
                    <a:pt x="2901696" y="16764"/>
                  </a:lnTo>
                  <a:lnTo>
                    <a:pt x="2904744" y="16764"/>
                  </a:lnTo>
                  <a:lnTo>
                    <a:pt x="2904744" y="19812"/>
                  </a:lnTo>
                  <a:close/>
                </a:path>
              </a:pathLst>
            </a:custGeom>
            <a:solidFill>
              <a:srgbClr val="C6BF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32873" y="3274574"/>
            <a:ext cx="2719070" cy="1182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20" b="1">
                <a:solidFill>
                  <a:srgbClr val="C6BFED"/>
                </a:solidFill>
                <a:latin typeface="Arial"/>
                <a:cs typeface="Arial"/>
              </a:rPr>
              <a:t>Data</a:t>
            </a:r>
            <a:r>
              <a:rPr dirty="0" sz="1350" spc="-50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C6BFED"/>
                </a:solidFill>
                <a:latin typeface="Arial"/>
                <a:cs typeface="Arial"/>
              </a:rPr>
              <a:t>Cleaning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500"/>
              </a:lnSpc>
              <a:spcBef>
                <a:spcPts val="60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Remove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irrelevant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fields, correct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inconsistent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naming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conventions,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standardize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C6BFED"/>
                </a:solidFill>
                <a:latin typeface="Arial MT"/>
                <a:cs typeface="Arial MT"/>
              </a:rPr>
              <a:t>data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formats across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all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attributes to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ensure uniformity.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576827" y="3198876"/>
            <a:ext cx="2905125" cy="22860"/>
            <a:chOff x="3576827" y="3198876"/>
            <a:chExt cx="2905125" cy="22860"/>
          </a:xfrm>
        </p:grpSpPr>
        <p:sp>
          <p:nvSpPr>
            <p:cNvPr id="9" name="object 9"/>
            <p:cNvSpPr/>
            <p:nvPr/>
          </p:nvSpPr>
          <p:spPr>
            <a:xfrm>
              <a:off x="3581399" y="3201924"/>
              <a:ext cx="2897505" cy="17145"/>
            </a:xfrm>
            <a:custGeom>
              <a:avLst/>
              <a:gdLst/>
              <a:ahLst/>
              <a:cxnLst/>
              <a:rect l="l" t="t" r="r" b="b"/>
              <a:pathLst>
                <a:path w="2897504" h="17144">
                  <a:moveTo>
                    <a:pt x="2897123" y="16764"/>
                  </a:moveTo>
                  <a:lnTo>
                    <a:pt x="0" y="16764"/>
                  </a:lnTo>
                  <a:lnTo>
                    <a:pt x="0" y="0"/>
                  </a:lnTo>
                  <a:lnTo>
                    <a:pt x="2897123" y="0"/>
                  </a:lnTo>
                  <a:lnTo>
                    <a:pt x="2897123" y="16764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76827" y="3198876"/>
              <a:ext cx="2905125" cy="22860"/>
            </a:xfrm>
            <a:custGeom>
              <a:avLst/>
              <a:gdLst/>
              <a:ahLst/>
              <a:cxnLst/>
              <a:rect l="l" t="t" r="r" b="b"/>
              <a:pathLst>
                <a:path w="2905125" h="22860">
                  <a:moveTo>
                    <a:pt x="2903219" y="22860"/>
                  </a:moveTo>
                  <a:lnTo>
                    <a:pt x="1524" y="22860"/>
                  </a:lnTo>
                  <a:lnTo>
                    <a:pt x="0" y="21336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2903219" y="0"/>
                  </a:lnTo>
                  <a:lnTo>
                    <a:pt x="2904744" y="1524"/>
                  </a:lnTo>
                  <a:lnTo>
                    <a:pt x="2904744" y="3048"/>
                  </a:lnTo>
                  <a:lnTo>
                    <a:pt x="7620" y="3048"/>
                  </a:lnTo>
                  <a:lnTo>
                    <a:pt x="4572" y="7620"/>
                  </a:lnTo>
                  <a:lnTo>
                    <a:pt x="7620" y="7620"/>
                  </a:lnTo>
                  <a:lnTo>
                    <a:pt x="7620" y="16764"/>
                  </a:lnTo>
                  <a:lnTo>
                    <a:pt x="4572" y="16764"/>
                  </a:lnTo>
                  <a:lnTo>
                    <a:pt x="7620" y="19812"/>
                  </a:lnTo>
                  <a:lnTo>
                    <a:pt x="2904744" y="19812"/>
                  </a:lnTo>
                  <a:lnTo>
                    <a:pt x="2904744" y="21336"/>
                  </a:lnTo>
                  <a:lnTo>
                    <a:pt x="2903219" y="22860"/>
                  </a:lnTo>
                  <a:close/>
                </a:path>
                <a:path w="2905125" h="22860">
                  <a:moveTo>
                    <a:pt x="7620" y="7620"/>
                  </a:moveTo>
                  <a:lnTo>
                    <a:pt x="4572" y="7620"/>
                  </a:lnTo>
                  <a:lnTo>
                    <a:pt x="7620" y="3048"/>
                  </a:lnTo>
                  <a:lnTo>
                    <a:pt x="7620" y="7620"/>
                  </a:lnTo>
                  <a:close/>
                </a:path>
                <a:path w="2905125" h="22860">
                  <a:moveTo>
                    <a:pt x="2898648" y="7620"/>
                  </a:moveTo>
                  <a:lnTo>
                    <a:pt x="7620" y="7620"/>
                  </a:lnTo>
                  <a:lnTo>
                    <a:pt x="7620" y="3048"/>
                  </a:lnTo>
                  <a:lnTo>
                    <a:pt x="2898648" y="3048"/>
                  </a:lnTo>
                  <a:lnTo>
                    <a:pt x="2898648" y="7620"/>
                  </a:lnTo>
                  <a:close/>
                </a:path>
                <a:path w="2905125" h="22860">
                  <a:moveTo>
                    <a:pt x="2898648" y="19812"/>
                  </a:moveTo>
                  <a:lnTo>
                    <a:pt x="2898648" y="3048"/>
                  </a:lnTo>
                  <a:lnTo>
                    <a:pt x="2901696" y="7620"/>
                  </a:lnTo>
                  <a:lnTo>
                    <a:pt x="2904744" y="7620"/>
                  </a:lnTo>
                  <a:lnTo>
                    <a:pt x="2904744" y="16764"/>
                  </a:lnTo>
                  <a:lnTo>
                    <a:pt x="2901696" y="16764"/>
                  </a:lnTo>
                  <a:lnTo>
                    <a:pt x="2898648" y="19812"/>
                  </a:lnTo>
                  <a:close/>
                </a:path>
                <a:path w="2905125" h="22860">
                  <a:moveTo>
                    <a:pt x="2904744" y="7620"/>
                  </a:moveTo>
                  <a:lnTo>
                    <a:pt x="2901696" y="7620"/>
                  </a:lnTo>
                  <a:lnTo>
                    <a:pt x="2898648" y="3048"/>
                  </a:lnTo>
                  <a:lnTo>
                    <a:pt x="2904744" y="3048"/>
                  </a:lnTo>
                  <a:lnTo>
                    <a:pt x="2904744" y="7620"/>
                  </a:lnTo>
                  <a:close/>
                </a:path>
                <a:path w="2905125" h="22860">
                  <a:moveTo>
                    <a:pt x="7620" y="19812"/>
                  </a:moveTo>
                  <a:lnTo>
                    <a:pt x="4572" y="16764"/>
                  </a:lnTo>
                  <a:lnTo>
                    <a:pt x="7620" y="16764"/>
                  </a:lnTo>
                  <a:lnTo>
                    <a:pt x="7620" y="19812"/>
                  </a:lnTo>
                  <a:close/>
                </a:path>
                <a:path w="2905125" h="22860">
                  <a:moveTo>
                    <a:pt x="2898648" y="19812"/>
                  </a:moveTo>
                  <a:lnTo>
                    <a:pt x="7620" y="19812"/>
                  </a:lnTo>
                  <a:lnTo>
                    <a:pt x="7620" y="16764"/>
                  </a:lnTo>
                  <a:lnTo>
                    <a:pt x="2898648" y="16764"/>
                  </a:lnTo>
                  <a:lnTo>
                    <a:pt x="2898648" y="19812"/>
                  </a:lnTo>
                  <a:close/>
                </a:path>
                <a:path w="2905125" h="22860">
                  <a:moveTo>
                    <a:pt x="2904744" y="19812"/>
                  </a:moveTo>
                  <a:lnTo>
                    <a:pt x="2898648" y="19812"/>
                  </a:lnTo>
                  <a:lnTo>
                    <a:pt x="2901696" y="16764"/>
                  </a:lnTo>
                  <a:lnTo>
                    <a:pt x="2904744" y="16764"/>
                  </a:lnTo>
                  <a:lnTo>
                    <a:pt x="2904744" y="19812"/>
                  </a:lnTo>
                  <a:close/>
                </a:path>
              </a:pathLst>
            </a:custGeom>
            <a:solidFill>
              <a:srgbClr val="C6BF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567147" y="3274574"/>
            <a:ext cx="2899410" cy="1182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70" b="1">
                <a:solidFill>
                  <a:srgbClr val="C6BFED"/>
                </a:solidFill>
                <a:latin typeface="Arial"/>
                <a:cs typeface="Arial"/>
              </a:rPr>
              <a:t>Missing</a:t>
            </a:r>
            <a:r>
              <a:rPr dirty="0" sz="1350" spc="-3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C6BFED"/>
                </a:solidFill>
                <a:latin typeface="Arial"/>
                <a:cs typeface="Arial"/>
              </a:rPr>
              <a:t>Value</a:t>
            </a:r>
            <a:r>
              <a:rPr dirty="0" sz="1350" spc="-3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C6BFED"/>
                </a:solidFill>
                <a:latin typeface="Arial"/>
                <a:cs typeface="Arial"/>
              </a:rPr>
              <a:t>Handling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500"/>
              </a:lnSpc>
              <a:spcBef>
                <a:spcPts val="60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Identify</a:t>
            </a:r>
            <a:r>
              <a:rPr dirty="0" sz="10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address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missing data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points</a:t>
            </a:r>
            <a:r>
              <a:rPr dirty="0" sz="1050" spc="50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through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appropriate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imputation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methods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C6BFED"/>
                </a:solidFill>
                <a:latin typeface="Arial MT"/>
                <a:cs typeface="Arial MT"/>
              </a:rPr>
              <a:t>or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exclusion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criteria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based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on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importance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C6BFED"/>
                </a:solidFill>
                <a:latin typeface="Arial MT"/>
                <a:cs typeface="Arial MT"/>
              </a:rPr>
              <a:t>and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pattern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analysis.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890" y="2356861"/>
            <a:ext cx="8349615" cy="83311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9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Raw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booking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requires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extensive preparation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before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analytical</a:t>
            </a:r>
            <a:r>
              <a:rPr dirty="0" sz="1050" spc="4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analysis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can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commence.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The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preprocessing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phase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ensures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quality,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consistency,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analytical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readiness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through systematic cleaning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transformation</a:t>
            </a:r>
            <a:r>
              <a:rPr dirty="0" sz="1050" spc="-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procedures.</a:t>
            </a:r>
            <a:endParaRPr sz="10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46730" algn="l"/>
                <a:tab pos="6080760" algn="l"/>
              </a:tabLst>
            </a:pPr>
            <a:r>
              <a:rPr dirty="0" sz="1050" spc="-25">
                <a:solidFill>
                  <a:srgbClr val="C6BFED"/>
                </a:solidFill>
                <a:latin typeface="Malgun Gothic Semilight"/>
                <a:cs typeface="Malgun Gothic Semilight"/>
              </a:rPr>
              <a:t>01</a:t>
            </a:r>
            <a:r>
              <a:rPr dirty="0" sz="1050">
                <a:solidFill>
                  <a:srgbClr val="C6BFED"/>
                </a:solidFill>
                <a:latin typeface="Malgun Gothic Semilight"/>
                <a:cs typeface="Malgun Gothic Semilight"/>
              </a:rPr>
              <a:t>	</a:t>
            </a:r>
            <a:r>
              <a:rPr dirty="0" sz="1050" spc="-25">
                <a:solidFill>
                  <a:srgbClr val="C6BFED"/>
                </a:solidFill>
                <a:latin typeface="Malgun Gothic Semilight"/>
                <a:cs typeface="Malgun Gothic Semilight"/>
              </a:rPr>
              <a:t>02</a:t>
            </a:r>
            <a:r>
              <a:rPr dirty="0" sz="1050">
                <a:solidFill>
                  <a:srgbClr val="C6BFED"/>
                </a:solidFill>
                <a:latin typeface="Malgun Gothic Semilight"/>
                <a:cs typeface="Malgun Gothic Semilight"/>
              </a:rPr>
              <a:t>	</a:t>
            </a:r>
            <a:r>
              <a:rPr dirty="0" sz="1050" spc="-35">
                <a:solidFill>
                  <a:srgbClr val="C6BFED"/>
                </a:solidFill>
                <a:latin typeface="Malgun Gothic Semilight"/>
                <a:cs typeface="Malgun Gothic Semilight"/>
              </a:rPr>
              <a:t>03</a:t>
            </a:r>
            <a:endParaRPr sz="1050">
              <a:latin typeface="Malgun Gothic Semilight"/>
              <a:cs typeface="Malgun Gothic Semiligh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612635" y="3198876"/>
            <a:ext cx="2903220" cy="22860"/>
            <a:chOff x="6612635" y="3198876"/>
            <a:chExt cx="2903220" cy="22860"/>
          </a:xfrm>
        </p:grpSpPr>
        <p:sp>
          <p:nvSpPr>
            <p:cNvPr id="14" name="object 14"/>
            <p:cNvSpPr/>
            <p:nvPr/>
          </p:nvSpPr>
          <p:spPr>
            <a:xfrm>
              <a:off x="6615683" y="3201924"/>
              <a:ext cx="2897505" cy="17145"/>
            </a:xfrm>
            <a:custGeom>
              <a:avLst/>
              <a:gdLst/>
              <a:ahLst/>
              <a:cxnLst/>
              <a:rect l="l" t="t" r="r" b="b"/>
              <a:pathLst>
                <a:path w="2897504" h="17144">
                  <a:moveTo>
                    <a:pt x="2897123" y="16764"/>
                  </a:moveTo>
                  <a:lnTo>
                    <a:pt x="0" y="16764"/>
                  </a:lnTo>
                  <a:lnTo>
                    <a:pt x="0" y="0"/>
                  </a:lnTo>
                  <a:lnTo>
                    <a:pt x="2897123" y="0"/>
                  </a:lnTo>
                  <a:lnTo>
                    <a:pt x="2897123" y="16764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612635" y="3198876"/>
              <a:ext cx="2903220" cy="22860"/>
            </a:xfrm>
            <a:custGeom>
              <a:avLst/>
              <a:gdLst/>
              <a:ahLst/>
              <a:cxnLst/>
              <a:rect l="l" t="t" r="r" b="b"/>
              <a:pathLst>
                <a:path w="2903220" h="22860">
                  <a:moveTo>
                    <a:pt x="2903219" y="22860"/>
                  </a:moveTo>
                  <a:lnTo>
                    <a:pt x="1524" y="22860"/>
                  </a:lnTo>
                  <a:lnTo>
                    <a:pt x="0" y="21336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2903219" y="0"/>
                  </a:lnTo>
                  <a:lnTo>
                    <a:pt x="2903219" y="3048"/>
                  </a:lnTo>
                  <a:lnTo>
                    <a:pt x="6096" y="3048"/>
                  </a:lnTo>
                  <a:lnTo>
                    <a:pt x="3048" y="7620"/>
                  </a:lnTo>
                  <a:lnTo>
                    <a:pt x="6096" y="7620"/>
                  </a:lnTo>
                  <a:lnTo>
                    <a:pt x="6096" y="16764"/>
                  </a:lnTo>
                  <a:lnTo>
                    <a:pt x="3048" y="16764"/>
                  </a:lnTo>
                  <a:lnTo>
                    <a:pt x="6096" y="19812"/>
                  </a:lnTo>
                  <a:lnTo>
                    <a:pt x="2903219" y="19812"/>
                  </a:lnTo>
                  <a:lnTo>
                    <a:pt x="2903219" y="22860"/>
                  </a:lnTo>
                  <a:close/>
                </a:path>
                <a:path w="2903220" h="22860">
                  <a:moveTo>
                    <a:pt x="6096" y="7620"/>
                  </a:moveTo>
                  <a:lnTo>
                    <a:pt x="3048" y="7620"/>
                  </a:lnTo>
                  <a:lnTo>
                    <a:pt x="6096" y="3048"/>
                  </a:lnTo>
                  <a:lnTo>
                    <a:pt x="6096" y="7620"/>
                  </a:lnTo>
                  <a:close/>
                </a:path>
                <a:path w="2903220" h="22860">
                  <a:moveTo>
                    <a:pt x="2897124" y="7620"/>
                  </a:moveTo>
                  <a:lnTo>
                    <a:pt x="6096" y="7620"/>
                  </a:lnTo>
                  <a:lnTo>
                    <a:pt x="6096" y="3048"/>
                  </a:lnTo>
                  <a:lnTo>
                    <a:pt x="2897124" y="3048"/>
                  </a:lnTo>
                  <a:lnTo>
                    <a:pt x="2897124" y="7620"/>
                  </a:lnTo>
                  <a:close/>
                </a:path>
                <a:path w="2903220" h="22860">
                  <a:moveTo>
                    <a:pt x="2897124" y="19812"/>
                  </a:moveTo>
                  <a:lnTo>
                    <a:pt x="2897124" y="3048"/>
                  </a:lnTo>
                  <a:lnTo>
                    <a:pt x="2900172" y="7620"/>
                  </a:lnTo>
                  <a:lnTo>
                    <a:pt x="2903219" y="7620"/>
                  </a:lnTo>
                  <a:lnTo>
                    <a:pt x="2903219" y="16764"/>
                  </a:lnTo>
                  <a:lnTo>
                    <a:pt x="2900172" y="16764"/>
                  </a:lnTo>
                  <a:lnTo>
                    <a:pt x="2897124" y="19812"/>
                  </a:lnTo>
                  <a:close/>
                </a:path>
                <a:path w="2903220" h="22860">
                  <a:moveTo>
                    <a:pt x="2903219" y="7620"/>
                  </a:moveTo>
                  <a:lnTo>
                    <a:pt x="2900172" y="7620"/>
                  </a:lnTo>
                  <a:lnTo>
                    <a:pt x="2897124" y="3048"/>
                  </a:lnTo>
                  <a:lnTo>
                    <a:pt x="2903219" y="3048"/>
                  </a:lnTo>
                  <a:lnTo>
                    <a:pt x="2903219" y="7620"/>
                  </a:lnTo>
                  <a:close/>
                </a:path>
                <a:path w="2903220" h="22860">
                  <a:moveTo>
                    <a:pt x="6096" y="19812"/>
                  </a:moveTo>
                  <a:lnTo>
                    <a:pt x="3048" y="16764"/>
                  </a:lnTo>
                  <a:lnTo>
                    <a:pt x="6096" y="16764"/>
                  </a:lnTo>
                  <a:lnTo>
                    <a:pt x="6096" y="19812"/>
                  </a:lnTo>
                  <a:close/>
                </a:path>
                <a:path w="2903220" h="22860">
                  <a:moveTo>
                    <a:pt x="2897124" y="19812"/>
                  </a:moveTo>
                  <a:lnTo>
                    <a:pt x="6096" y="19812"/>
                  </a:lnTo>
                  <a:lnTo>
                    <a:pt x="6096" y="16764"/>
                  </a:lnTo>
                  <a:lnTo>
                    <a:pt x="2897124" y="16764"/>
                  </a:lnTo>
                  <a:lnTo>
                    <a:pt x="2897124" y="19812"/>
                  </a:lnTo>
                  <a:close/>
                </a:path>
                <a:path w="2903220" h="22860">
                  <a:moveTo>
                    <a:pt x="2903219" y="19812"/>
                  </a:moveTo>
                  <a:lnTo>
                    <a:pt x="2897124" y="19812"/>
                  </a:lnTo>
                  <a:lnTo>
                    <a:pt x="2900172" y="16764"/>
                  </a:lnTo>
                  <a:lnTo>
                    <a:pt x="2903219" y="16764"/>
                  </a:lnTo>
                  <a:lnTo>
                    <a:pt x="2903219" y="19812"/>
                  </a:lnTo>
                  <a:close/>
                </a:path>
              </a:pathLst>
            </a:custGeom>
            <a:solidFill>
              <a:srgbClr val="C6BF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601454" y="3274574"/>
            <a:ext cx="2842895" cy="962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55" b="1">
                <a:solidFill>
                  <a:srgbClr val="C6BFED"/>
                </a:solidFill>
                <a:latin typeface="Arial"/>
                <a:cs typeface="Arial"/>
              </a:rPr>
              <a:t>Duplicate</a:t>
            </a:r>
            <a:r>
              <a:rPr dirty="0" sz="1350" spc="-30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C6BFED"/>
                </a:solidFill>
                <a:latin typeface="Arial"/>
                <a:cs typeface="Arial"/>
              </a:rPr>
              <a:t>Removal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200"/>
              </a:lnSpc>
              <a:spcBef>
                <a:spcPts val="610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Detect and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eliminate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duplicate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booking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records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that may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skew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analytical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results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create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artificial</a:t>
            </a:r>
            <a:r>
              <a:rPr dirty="0" sz="10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inflation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metrics.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2890" y="4725417"/>
            <a:ext cx="17589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5">
                <a:solidFill>
                  <a:srgbClr val="C6BFED"/>
                </a:solidFill>
                <a:latin typeface="Malgun Gothic Semilight"/>
                <a:cs typeface="Malgun Gothic Semilight"/>
              </a:rPr>
              <a:t>04</a:t>
            </a:r>
            <a:endParaRPr sz="1050">
              <a:latin typeface="Malgun Gothic Semilight"/>
              <a:cs typeface="Malgun Gothic Semiligh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2543" y="4922520"/>
            <a:ext cx="4422775" cy="21590"/>
            <a:chOff x="542543" y="4922520"/>
            <a:chExt cx="4422775" cy="21590"/>
          </a:xfrm>
        </p:grpSpPr>
        <p:sp>
          <p:nvSpPr>
            <p:cNvPr id="19" name="object 19"/>
            <p:cNvSpPr/>
            <p:nvPr/>
          </p:nvSpPr>
          <p:spPr>
            <a:xfrm>
              <a:off x="547115" y="4925568"/>
              <a:ext cx="4415155" cy="15240"/>
            </a:xfrm>
            <a:custGeom>
              <a:avLst/>
              <a:gdLst/>
              <a:ahLst/>
              <a:cxnLst/>
              <a:rect l="l" t="t" r="r" b="b"/>
              <a:pathLst>
                <a:path w="4415155" h="15239">
                  <a:moveTo>
                    <a:pt x="4415028" y="15239"/>
                  </a:moveTo>
                  <a:lnTo>
                    <a:pt x="0" y="15239"/>
                  </a:lnTo>
                  <a:lnTo>
                    <a:pt x="0" y="0"/>
                  </a:lnTo>
                  <a:lnTo>
                    <a:pt x="4415028" y="0"/>
                  </a:lnTo>
                  <a:lnTo>
                    <a:pt x="4415028" y="15239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42543" y="4922520"/>
              <a:ext cx="4422775" cy="21590"/>
            </a:xfrm>
            <a:custGeom>
              <a:avLst/>
              <a:gdLst/>
              <a:ahLst/>
              <a:cxnLst/>
              <a:rect l="l" t="t" r="r" b="b"/>
              <a:pathLst>
                <a:path w="4422775" h="21589">
                  <a:moveTo>
                    <a:pt x="4421124" y="21336"/>
                  </a:moveTo>
                  <a:lnTo>
                    <a:pt x="1524" y="21336"/>
                  </a:lnTo>
                  <a:lnTo>
                    <a:pt x="0" y="1981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4421124" y="0"/>
                  </a:lnTo>
                  <a:lnTo>
                    <a:pt x="4422648" y="1524"/>
                  </a:lnTo>
                  <a:lnTo>
                    <a:pt x="4422648" y="3048"/>
                  </a:lnTo>
                  <a:lnTo>
                    <a:pt x="7620" y="3048"/>
                  </a:lnTo>
                  <a:lnTo>
                    <a:pt x="4572" y="6096"/>
                  </a:lnTo>
                  <a:lnTo>
                    <a:pt x="7620" y="6096"/>
                  </a:lnTo>
                  <a:lnTo>
                    <a:pt x="7620" y="15240"/>
                  </a:lnTo>
                  <a:lnTo>
                    <a:pt x="4572" y="15240"/>
                  </a:lnTo>
                  <a:lnTo>
                    <a:pt x="7620" y="18288"/>
                  </a:lnTo>
                  <a:lnTo>
                    <a:pt x="4422648" y="18288"/>
                  </a:lnTo>
                  <a:lnTo>
                    <a:pt x="4422648" y="19812"/>
                  </a:lnTo>
                  <a:lnTo>
                    <a:pt x="4421124" y="21336"/>
                  </a:lnTo>
                  <a:close/>
                </a:path>
                <a:path w="4422775" h="21589">
                  <a:moveTo>
                    <a:pt x="7620" y="6096"/>
                  </a:moveTo>
                  <a:lnTo>
                    <a:pt x="4572" y="6096"/>
                  </a:lnTo>
                  <a:lnTo>
                    <a:pt x="7620" y="3048"/>
                  </a:lnTo>
                  <a:lnTo>
                    <a:pt x="7620" y="6096"/>
                  </a:lnTo>
                  <a:close/>
                </a:path>
                <a:path w="4422775" h="21589">
                  <a:moveTo>
                    <a:pt x="4416552" y="6096"/>
                  </a:moveTo>
                  <a:lnTo>
                    <a:pt x="7620" y="6096"/>
                  </a:lnTo>
                  <a:lnTo>
                    <a:pt x="7620" y="3048"/>
                  </a:lnTo>
                  <a:lnTo>
                    <a:pt x="4416552" y="3048"/>
                  </a:lnTo>
                  <a:lnTo>
                    <a:pt x="4416552" y="6096"/>
                  </a:lnTo>
                  <a:close/>
                </a:path>
                <a:path w="4422775" h="21589">
                  <a:moveTo>
                    <a:pt x="4416552" y="18288"/>
                  </a:moveTo>
                  <a:lnTo>
                    <a:pt x="4416552" y="3048"/>
                  </a:lnTo>
                  <a:lnTo>
                    <a:pt x="4419600" y="6096"/>
                  </a:lnTo>
                  <a:lnTo>
                    <a:pt x="4422648" y="6096"/>
                  </a:lnTo>
                  <a:lnTo>
                    <a:pt x="4422648" y="15240"/>
                  </a:lnTo>
                  <a:lnTo>
                    <a:pt x="4419600" y="15240"/>
                  </a:lnTo>
                  <a:lnTo>
                    <a:pt x="4416552" y="18288"/>
                  </a:lnTo>
                  <a:close/>
                </a:path>
                <a:path w="4422775" h="21589">
                  <a:moveTo>
                    <a:pt x="4422648" y="6096"/>
                  </a:moveTo>
                  <a:lnTo>
                    <a:pt x="4419600" y="6096"/>
                  </a:lnTo>
                  <a:lnTo>
                    <a:pt x="4416552" y="3048"/>
                  </a:lnTo>
                  <a:lnTo>
                    <a:pt x="4422648" y="3048"/>
                  </a:lnTo>
                  <a:lnTo>
                    <a:pt x="4422648" y="6096"/>
                  </a:lnTo>
                  <a:close/>
                </a:path>
                <a:path w="4422775" h="21589">
                  <a:moveTo>
                    <a:pt x="7620" y="18288"/>
                  </a:moveTo>
                  <a:lnTo>
                    <a:pt x="4572" y="15240"/>
                  </a:lnTo>
                  <a:lnTo>
                    <a:pt x="7620" y="15240"/>
                  </a:lnTo>
                  <a:lnTo>
                    <a:pt x="7620" y="18288"/>
                  </a:lnTo>
                  <a:close/>
                </a:path>
                <a:path w="4422775" h="21589">
                  <a:moveTo>
                    <a:pt x="4416552" y="18288"/>
                  </a:moveTo>
                  <a:lnTo>
                    <a:pt x="7620" y="18288"/>
                  </a:lnTo>
                  <a:lnTo>
                    <a:pt x="7620" y="15240"/>
                  </a:lnTo>
                  <a:lnTo>
                    <a:pt x="4416552" y="15240"/>
                  </a:lnTo>
                  <a:lnTo>
                    <a:pt x="4416552" y="18288"/>
                  </a:lnTo>
                  <a:close/>
                </a:path>
                <a:path w="4422775" h="21589">
                  <a:moveTo>
                    <a:pt x="4422648" y="18288"/>
                  </a:moveTo>
                  <a:lnTo>
                    <a:pt x="4416552" y="18288"/>
                  </a:lnTo>
                  <a:lnTo>
                    <a:pt x="4419600" y="15240"/>
                  </a:lnTo>
                  <a:lnTo>
                    <a:pt x="4422648" y="15240"/>
                  </a:lnTo>
                  <a:lnTo>
                    <a:pt x="4422648" y="18288"/>
                  </a:lnTo>
                  <a:close/>
                </a:path>
              </a:pathLst>
            </a:custGeom>
            <a:solidFill>
              <a:srgbClr val="C6BF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32873" y="4998222"/>
            <a:ext cx="3905250" cy="742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20" b="1">
                <a:solidFill>
                  <a:srgbClr val="C6BFED"/>
                </a:solidFill>
                <a:latin typeface="Arial"/>
                <a:cs typeface="Arial"/>
              </a:rPr>
              <a:t>Data</a:t>
            </a:r>
            <a:r>
              <a:rPr dirty="0" sz="1350" spc="-6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C6BFED"/>
                </a:solidFill>
                <a:latin typeface="Arial"/>
                <a:cs typeface="Arial"/>
              </a:rPr>
              <a:t>Transformation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200"/>
              </a:lnSpc>
              <a:spcBef>
                <a:spcPts val="59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Create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derived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attributes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such as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booking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lead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time,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revenue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C6BFED"/>
                </a:solidFill>
                <a:latin typeface="Arial MT"/>
                <a:cs typeface="Arial MT"/>
              </a:rPr>
              <a:t>per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booking,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customer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tenure to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enhance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analytical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capabilities.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85112" y="4725417"/>
            <a:ext cx="17335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-25">
                <a:solidFill>
                  <a:srgbClr val="C6BFED"/>
                </a:solidFill>
                <a:latin typeface="Malgun Gothic Semilight"/>
                <a:cs typeface="Malgun Gothic Semilight"/>
              </a:rPr>
              <a:t>05</a:t>
            </a:r>
            <a:endParaRPr sz="1050">
              <a:latin typeface="Malgun Gothic Semilight"/>
              <a:cs typeface="Malgun Gothic Semiligh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094732" y="4922520"/>
            <a:ext cx="4421505" cy="21590"/>
            <a:chOff x="5094732" y="4922520"/>
            <a:chExt cx="4421505" cy="21590"/>
          </a:xfrm>
        </p:grpSpPr>
        <p:sp>
          <p:nvSpPr>
            <p:cNvPr id="24" name="object 24"/>
            <p:cNvSpPr/>
            <p:nvPr/>
          </p:nvSpPr>
          <p:spPr>
            <a:xfrm>
              <a:off x="5097780" y="4925568"/>
              <a:ext cx="4415155" cy="15240"/>
            </a:xfrm>
            <a:custGeom>
              <a:avLst/>
              <a:gdLst/>
              <a:ahLst/>
              <a:cxnLst/>
              <a:rect l="l" t="t" r="r" b="b"/>
              <a:pathLst>
                <a:path w="4415155" h="15239">
                  <a:moveTo>
                    <a:pt x="4415027" y="15239"/>
                  </a:moveTo>
                  <a:lnTo>
                    <a:pt x="0" y="15239"/>
                  </a:lnTo>
                  <a:lnTo>
                    <a:pt x="0" y="0"/>
                  </a:lnTo>
                  <a:lnTo>
                    <a:pt x="4415027" y="0"/>
                  </a:lnTo>
                  <a:lnTo>
                    <a:pt x="4415027" y="15239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094732" y="4922520"/>
              <a:ext cx="4421505" cy="21590"/>
            </a:xfrm>
            <a:custGeom>
              <a:avLst/>
              <a:gdLst/>
              <a:ahLst/>
              <a:cxnLst/>
              <a:rect l="l" t="t" r="r" b="b"/>
              <a:pathLst>
                <a:path w="4421505" h="21589">
                  <a:moveTo>
                    <a:pt x="4421124" y="21336"/>
                  </a:moveTo>
                  <a:lnTo>
                    <a:pt x="1524" y="21336"/>
                  </a:lnTo>
                  <a:lnTo>
                    <a:pt x="0" y="19812"/>
                  </a:lnTo>
                  <a:lnTo>
                    <a:pt x="0" y="1524"/>
                  </a:lnTo>
                  <a:lnTo>
                    <a:pt x="1524" y="0"/>
                  </a:lnTo>
                  <a:lnTo>
                    <a:pt x="4421124" y="0"/>
                  </a:lnTo>
                  <a:lnTo>
                    <a:pt x="4421124" y="3048"/>
                  </a:lnTo>
                  <a:lnTo>
                    <a:pt x="6096" y="3048"/>
                  </a:lnTo>
                  <a:lnTo>
                    <a:pt x="3048" y="6096"/>
                  </a:lnTo>
                  <a:lnTo>
                    <a:pt x="6096" y="6096"/>
                  </a:lnTo>
                  <a:lnTo>
                    <a:pt x="6096" y="15240"/>
                  </a:lnTo>
                  <a:lnTo>
                    <a:pt x="3048" y="15240"/>
                  </a:lnTo>
                  <a:lnTo>
                    <a:pt x="6096" y="18288"/>
                  </a:lnTo>
                  <a:lnTo>
                    <a:pt x="4421124" y="18288"/>
                  </a:lnTo>
                  <a:lnTo>
                    <a:pt x="4421124" y="21336"/>
                  </a:lnTo>
                  <a:close/>
                </a:path>
                <a:path w="4421505" h="21589">
                  <a:moveTo>
                    <a:pt x="6096" y="6096"/>
                  </a:moveTo>
                  <a:lnTo>
                    <a:pt x="3048" y="6096"/>
                  </a:lnTo>
                  <a:lnTo>
                    <a:pt x="6096" y="3048"/>
                  </a:lnTo>
                  <a:lnTo>
                    <a:pt x="6096" y="6096"/>
                  </a:lnTo>
                  <a:close/>
                </a:path>
                <a:path w="4421505" h="21589">
                  <a:moveTo>
                    <a:pt x="4415028" y="6096"/>
                  </a:moveTo>
                  <a:lnTo>
                    <a:pt x="6096" y="6096"/>
                  </a:lnTo>
                  <a:lnTo>
                    <a:pt x="6096" y="3048"/>
                  </a:lnTo>
                  <a:lnTo>
                    <a:pt x="4415028" y="3048"/>
                  </a:lnTo>
                  <a:lnTo>
                    <a:pt x="4415028" y="6096"/>
                  </a:lnTo>
                  <a:close/>
                </a:path>
                <a:path w="4421505" h="21589">
                  <a:moveTo>
                    <a:pt x="4415028" y="18288"/>
                  </a:moveTo>
                  <a:lnTo>
                    <a:pt x="4415028" y="3048"/>
                  </a:lnTo>
                  <a:lnTo>
                    <a:pt x="4418076" y="6096"/>
                  </a:lnTo>
                  <a:lnTo>
                    <a:pt x="4421124" y="6096"/>
                  </a:lnTo>
                  <a:lnTo>
                    <a:pt x="4421124" y="15240"/>
                  </a:lnTo>
                  <a:lnTo>
                    <a:pt x="4418076" y="15240"/>
                  </a:lnTo>
                  <a:lnTo>
                    <a:pt x="4415028" y="18288"/>
                  </a:lnTo>
                  <a:close/>
                </a:path>
                <a:path w="4421505" h="21589">
                  <a:moveTo>
                    <a:pt x="4421124" y="6096"/>
                  </a:moveTo>
                  <a:lnTo>
                    <a:pt x="4418076" y="6096"/>
                  </a:lnTo>
                  <a:lnTo>
                    <a:pt x="4415028" y="3048"/>
                  </a:lnTo>
                  <a:lnTo>
                    <a:pt x="4421124" y="3048"/>
                  </a:lnTo>
                  <a:lnTo>
                    <a:pt x="4421124" y="6096"/>
                  </a:lnTo>
                  <a:close/>
                </a:path>
                <a:path w="4421505" h="21589">
                  <a:moveTo>
                    <a:pt x="6096" y="18288"/>
                  </a:moveTo>
                  <a:lnTo>
                    <a:pt x="3048" y="15240"/>
                  </a:lnTo>
                  <a:lnTo>
                    <a:pt x="6096" y="15240"/>
                  </a:lnTo>
                  <a:lnTo>
                    <a:pt x="6096" y="18288"/>
                  </a:lnTo>
                  <a:close/>
                </a:path>
                <a:path w="4421505" h="21589">
                  <a:moveTo>
                    <a:pt x="4415028" y="18288"/>
                  </a:moveTo>
                  <a:lnTo>
                    <a:pt x="6096" y="18288"/>
                  </a:lnTo>
                  <a:lnTo>
                    <a:pt x="6096" y="15240"/>
                  </a:lnTo>
                  <a:lnTo>
                    <a:pt x="4415028" y="15240"/>
                  </a:lnTo>
                  <a:lnTo>
                    <a:pt x="4415028" y="18288"/>
                  </a:lnTo>
                  <a:close/>
                </a:path>
                <a:path w="4421505" h="21589">
                  <a:moveTo>
                    <a:pt x="4421124" y="18288"/>
                  </a:moveTo>
                  <a:lnTo>
                    <a:pt x="4415028" y="18288"/>
                  </a:lnTo>
                  <a:lnTo>
                    <a:pt x="4418076" y="15240"/>
                  </a:lnTo>
                  <a:lnTo>
                    <a:pt x="4421124" y="15240"/>
                  </a:lnTo>
                  <a:lnTo>
                    <a:pt x="4421124" y="18288"/>
                  </a:lnTo>
                  <a:close/>
                </a:path>
              </a:pathLst>
            </a:custGeom>
            <a:solidFill>
              <a:srgbClr val="C6BF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085112" y="4998222"/>
            <a:ext cx="4277360" cy="742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50" b="1">
                <a:solidFill>
                  <a:srgbClr val="C6BFED"/>
                </a:solidFill>
                <a:latin typeface="Arial"/>
                <a:cs typeface="Arial"/>
              </a:rPr>
              <a:t>Calculated</a:t>
            </a:r>
            <a:r>
              <a:rPr dirty="0" sz="1350" spc="-2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C6BFED"/>
                </a:solidFill>
                <a:latin typeface="Arial"/>
                <a:cs typeface="Arial"/>
              </a:rPr>
              <a:t>Measures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200"/>
              </a:lnSpc>
              <a:spcBef>
                <a:spcPts val="59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Develop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business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logic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calculations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using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DAX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including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occupancy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rates,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revenue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per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available</a:t>
            </a:r>
            <a:r>
              <a:rPr dirty="0" sz="10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room,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customer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lifetime</a:t>
            </a:r>
            <a:r>
              <a:rPr dirty="0" sz="1050" spc="-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value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metrics.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799576" y="6283451"/>
            <a:ext cx="1259205" cy="375285"/>
          </a:xfrm>
          <a:custGeom>
            <a:avLst/>
            <a:gdLst/>
            <a:ahLst/>
            <a:cxnLst/>
            <a:rect l="l" t="t" r="r" b="b"/>
            <a:pathLst>
              <a:path w="1259204" h="375284">
                <a:moveTo>
                  <a:pt x="1258824" y="0"/>
                </a:moveTo>
                <a:lnTo>
                  <a:pt x="0" y="0"/>
                </a:lnTo>
                <a:lnTo>
                  <a:pt x="0" y="374904"/>
                </a:lnTo>
                <a:lnTo>
                  <a:pt x="1258824" y="374904"/>
                </a:lnTo>
                <a:lnTo>
                  <a:pt x="1258824" y="370332"/>
                </a:lnTo>
                <a:lnTo>
                  <a:pt x="1258824" y="365760"/>
                </a:lnTo>
                <a:lnTo>
                  <a:pt x="1258824" y="9144"/>
                </a:lnTo>
                <a:lnTo>
                  <a:pt x="1258824" y="4572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1812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dirty="0" spc="-50"/>
              <a:t> </a:t>
            </a:r>
            <a:r>
              <a:rPr dirty="0" spc="-10"/>
              <a:t>Modeling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2297" y="2411998"/>
            <a:ext cx="4731385" cy="328104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700">
                <a:solidFill>
                  <a:srgbClr val="C6BFED"/>
                </a:solidFill>
                <a:latin typeface="Arial MT"/>
                <a:cs typeface="Arial MT"/>
              </a:rPr>
              <a:t>Model</a:t>
            </a:r>
            <a:r>
              <a:rPr dirty="0" sz="1700" spc="-8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C6BFED"/>
                </a:solidFill>
                <a:latin typeface="Arial MT"/>
                <a:cs typeface="Arial MT"/>
              </a:rPr>
              <a:t>Architecture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700">
              <a:latin typeface="Arial MT"/>
              <a:cs typeface="Arial MT"/>
            </a:endParaRPr>
          </a:p>
          <a:p>
            <a:pPr algn="just" marL="12700" marR="5080">
              <a:lnSpc>
                <a:spcPct val="118500"/>
              </a:lnSpc>
            </a:pP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The</a:t>
            </a: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data</a:t>
            </a: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model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establishes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relationships</a:t>
            </a:r>
            <a:r>
              <a:rPr dirty="0" sz="135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between</a:t>
            </a:r>
            <a:r>
              <a:rPr dirty="0" sz="135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facts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dimension</a:t>
            </a:r>
            <a:r>
              <a:rPr dirty="0" sz="1350" spc="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tables</a:t>
            </a:r>
            <a:r>
              <a:rPr dirty="0" sz="1350" spc="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including</a:t>
            </a:r>
            <a:r>
              <a:rPr dirty="0" sz="1350" spc="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customer</a:t>
            </a:r>
            <a:r>
              <a:rPr dirty="0" sz="1350" spc="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demographics,</a:t>
            </a:r>
            <a:r>
              <a:rPr dirty="0" sz="1350" spc="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room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types,</a:t>
            </a:r>
            <a:r>
              <a:rPr dirty="0" sz="1350" spc="2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2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temporal</a:t>
            </a:r>
            <a:r>
              <a:rPr dirty="0" sz="1350" spc="2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attributes.</a:t>
            </a:r>
            <a:r>
              <a:rPr dirty="0" sz="1350" spc="2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Calculated</a:t>
            </a:r>
            <a:r>
              <a:rPr dirty="0" sz="1350" spc="2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measures</a:t>
            </a:r>
            <a:r>
              <a:rPr dirty="0" sz="1350" spc="2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enable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analysis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across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multiple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dimensions.</a:t>
            </a:r>
            <a:endParaRPr sz="1350">
              <a:latin typeface="Tahoma"/>
              <a:cs typeface="Tahoma"/>
            </a:endParaRPr>
          </a:p>
          <a:p>
            <a:pPr algn="just" marL="12700">
              <a:lnSpc>
                <a:spcPct val="100000"/>
              </a:lnSpc>
              <a:spcBef>
                <a:spcPts val="935"/>
              </a:spcBef>
            </a:pPr>
            <a:r>
              <a:rPr dirty="0" sz="1700">
                <a:solidFill>
                  <a:srgbClr val="C6BFED"/>
                </a:solidFill>
                <a:latin typeface="Arial MT"/>
                <a:cs typeface="Arial MT"/>
              </a:rPr>
              <a:t>Key</a:t>
            </a:r>
            <a:r>
              <a:rPr dirty="0" sz="170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C6BFED"/>
                </a:solidFill>
                <a:latin typeface="Arial MT"/>
                <a:cs typeface="Arial MT"/>
              </a:rPr>
              <a:t>Components</a:t>
            </a:r>
            <a:endParaRPr sz="1700">
              <a:latin typeface="Arial MT"/>
              <a:cs typeface="Arial MT"/>
            </a:endParaRPr>
          </a:p>
          <a:p>
            <a:pPr marL="248920" indent="-236220">
              <a:lnSpc>
                <a:spcPct val="100000"/>
              </a:lnSpc>
              <a:spcBef>
                <a:spcPts val="1295"/>
              </a:spcBef>
              <a:buChar char="•"/>
              <a:tabLst>
                <a:tab pos="248920" algn="l"/>
              </a:tabLst>
            </a:pP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Fact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table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storing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350" spc="-1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transactions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300"/>
              </a:spcBef>
              <a:buChar char="•"/>
              <a:tabLst>
                <a:tab pos="248920" algn="l"/>
              </a:tabLst>
            </a:pP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Dimension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tables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for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customer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attributes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310"/>
              </a:spcBef>
              <a:buChar char="•"/>
              <a:tabLst>
                <a:tab pos="248920" algn="l"/>
              </a:tabLst>
            </a:pP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Temporal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dimensions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for</a:t>
            </a:r>
            <a:r>
              <a:rPr dirty="0" sz="135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time-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based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analysis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315"/>
              </a:spcBef>
              <a:buChar char="•"/>
              <a:tabLst>
                <a:tab pos="248920" algn="l"/>
              </a:tabLst>
            </a:pP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Room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type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property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classifications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300"/>
              </a:spcBef>
              <a:buChar char="•"/>
              <a:tabLst>
                <a:tab pos="248920" algn="l"/>
              </a:tabLst>
            </a:pP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channel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source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tracking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99576" y="6323088"/>
            <a:ext cx="1259205" cy="373380"/>
          </a:xfrm>
          <a:custGeom>
            <a:avLst/>
            <a:gdLst/>
            <a:ahLst/>
            <a:cxnLst/>
            <a:rect l="l" t="t" r="r" b="b"/>
            <a:pathLst>
              <a:path w="1259204" h="373379">
                <a:moveTo>
                  <a:pt x="1258824" y="0"/>
                </a:moveTo>
                <a:lnTo>
                  <a:pt x="0" y="0"/>
                </a:lnTo>
                <a:lnTo>
                  <a:pt x="0" y="373380"/>
                </a:lnTo>
                <a:lnTo>
                  <a:pt x="1258824" y="373380"/>
                </a:lnTo>
                <a:lnTo>
                  <a:pt x="1258824" y="368808"/>
                </a:lnTo>
                <a:lnTo>
                  <a:pt x="1258824" y="364236"/>
                </a:lnTo>
                <a:lnTo>
                  <a:pt x="1258824" y="7620"/>
                </a:lnTo>
                <a:lnTo>
                  <a:pt x="1258824" y="3048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5571744" y="2453639"/>
            <a:ext cx="3996054" cy="3514725"/>
            <a:chOff x="5571744" y="2453639"/>
            <a:chExt cx="3996054" cy="3514725"/>
          </a:xfrm>
        </p:grpSpPr>
        <p:sp>
          <p:nvSpPr>
            <p:cNvPr id="7" name="object 7"/>
            <p:cNvSpPr/>
            <p:nvPr/>
          </p:nvSpPr>
          <p:spPr>
            <a:xfrm>
              <a:off x="5571744" y="2453639"/>
              <a:ext cx="3996054" cy="3514725"/>
            </a:xfrm>
            <a:custGeom>
              <a:avLst/>
              <a:gdLst/>
              <a:ahLst/>
              <a:cxnLst/>
              <a:rect l="l" t="t" r="r" b="b"/>
              <a:pathLst>
                <a:path w="3996054" h="3514725">
                  <a:moveTo>
                    <a:pt x="3886200" y="3514344"/>
                  </a:moveTo>
                  <a:lnTo>
                    <a:pt x="108204" y="3514344"/>
                  </a:lnTo>
                  <a:lnTo>
                    <a:pt x="66222" y="3505795"/>
                  </a:lnTo>
                  <a:lnTo>
                    <a:pt x="31813" y="3482530"/>
                  </a:lnTo>
                  <a:lnTo>
                    <a:pt x="8548" y="3448121"/>
                  </a:lnTo>
                  <a:lnTo>
                    <a:pt x="0" y="3406139"/>
                  </a:lnTo>
                  <a:lnTo>
                    <a:pt x="0" y="109727"/>
                  </a:lnTo>
                  <a:lnTo>
                    <a:pt x="8548" y="66865"/>
                  </a:lnTo>
                  <a:lnTo>
                    <a:pt x="31813" y="32003"/>
                  </a:lnTo>
                  <a:lnTo>
                    <a:pt x="66222" y="8572"/>
                  </a:lnTo>
                  <a:lnTo>
                    <a:pt x="108204" y="0"/>
                  </a:lnTo>
                  <a:lnTo>
                    <a:pt x="3886200" y="0"/>
                  </a:lnTo>
                  <a:lnTo>
                    <a:pt x="3929062" y="8572"/>
                  </a:lnTo>
                  <a:lnTo>
                    <a:pt x="3963923" y="32003"/>
                  </a:lnTo>
                  <a:lnTo>
                    <a:pt x="3987355" y="66865"/>
                  </a:lnTo>
                  <a:lnTo>
                    <a:pt x="3995927" y="109727"/>
                  </a:lnTo>
                  <a:lnTo>
                    <a:pt x="3995927" y="3406139"/>
                  </a:lnTo>
                  <a:lnTo>
                    <a:pt x="3987355" y="3448121"/>
                  </a:lnTo>
                  <a:lnTo>
                    <a:pt x="3963923" y="3482530"/>
                  </a:lnTo>
                  <a:lnTo>
                    <a:pt x="3929062" y="3505795"/>
                  </a:lnTo>
                  <a:lnTo>
                    <a:pt x="3886200" y="3514344"/>
                  </a:lnTo>
                  <a:close/>
                </a:path>
              </a:pathLst>
            </a:custGeom>
            <a:solidFill>
              <a:srgbClr val="A85B95">
                <a:alpha val="9452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1744" y="2549651"/>
              <a:ext cx="3995927" cy="32964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2923" y="1893828"/>
            <a:ext cx="3573779" cy="4337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60" b="1">
                <a:latin typeface="Arial"/>
                <a:cs typeface="Arial"/>
              </a:rPr>
              <a:t>Tools</a:t>
            </a:r>
            <a:r>
              <a:rPr dirty="0" spc="-25" b="1">
                <a:latin typeface="Arial"/>
                <a:cs typeface="Arial"/>
              </a:rPr>
              <a:t> </a:t>
            </a:r>
            <a:r>
              <a:rPr dirty="0" spc="-45" b="1">
                <a:latin typeface="Arial"/>
                <a:cs typeface="Arial"/>
              </a:rPr>
              <a:t>and</a:t>
            </a:r>
            <a:r>
              <a:rPr dirty="0" spc="-125" b="1">
                <a:latin typeface="Arial"/>
                <a:cs typeface="Arial"/>
              </a:rPr>
              <a:t> </a:t>
            </a:r>
            <a:r>
              <a:rPr dirty="0" spc="-110" b="1">
                <a:latin typeface="Arial"/>
                <a:cs typeface="Arial"/>
              </a:rPr>
              <a:t>Technologies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639" y="2624327"/>
            <a:ext cx="1667255" cy="166725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2873" y="4435896"/>
            <a:ext cx="2734945" cy="1398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45" b="1">
                <a:solidFill>
                  <a:srgbClr val="C6BFED"/>
                </a:solidFill>
                <a:latin typeface="Arial"/>
                <a:cs typeface="Arial"/>
              </a:rPr>
              <a:t>Power</a:t>
            </a:r>
            <a:r>
              <a:rPr dirty="0" sz="1350" spc="-50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25" b="1">
                <a:solidFill>
                  <a:srgbClr val="C6BFED"/>
                </a:solidFill>
                <a:latin typeface="Arial"/>
                <a:cs typeface="Arial"/>
              </a:rPr>
              <a:t>BI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400"/>
              </a:lnSpc>
              <a:spcBef>
                <a:spcPts val="59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Primary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platform</a:t>
            </a:r>
            <a:r>
              <a:rPr dirty="0" sz="1050" spc="-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for dashboard</a:t>
            </a:r>
            <a:r>
              <a:rPr dirty="0" sz="10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creation,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interactive</a:t>
            </a:r>
            <a:r>
              <a:rPr dirty="0" sz="1050" spc="-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visualization,</a:t>
            </a:r>
            <a:r>
              <a:rPr dirty="0" sz="1050" spc="4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business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intelligence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reporting.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Enables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drag-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and-</a:t>
            </a:r>
            <a:r>
              <a:rPr dirty="0" sz="1050" spc="-20">
                <a:solidFill>
                  <a:srgbClr val="C6BFED"/>
                </a:solidFill>
                <a:latin typeface="Arial MT"/>
                <a:cs typeface="Arial MT"/>
              </a:rPr>
              <a:t>drop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analytics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enterprise-grade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C6BFED"/>
                </a:solidFill>
                <a:latin typeface="Arial MT"/>
                <a:cs typeface="Arial MT"/>
              </a:rPr>
              <a:t>data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connectivity.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3591" y="2624327"/>
            <a:ext cx="1667255" cy="16672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79333" y="4435896"/>
            <a:ext cx="2764790" cy="1180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75" b="1">
                <a:solidFill>
                  <a:srgbClr val="C6BFED"/>
                </a:solidFill>
                <a:latin typeface="Arial"/>
                <a:cs typeface="Arial"/>
              </a:rPr>
              <a:t>Microsoft</a:t>
            </a:r>
            <a:r>
              <a:rPr dirty="0" sz="1350" spc="-20" b="1">
                <a:solidFill>
                  <a:srgbClr val="C6BFED"/>
                </a:solidFill>
                <a:latin typeface="Arial"/>
                <a:cs typeface="Arial"/>
              </a:rPr>
              <a:t> Excel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500"/>
              </a:lnSpc>
              <a:spcBef>
                <a:spcPts val="59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Initial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data handling,</a:t>
            </a:r>
            <a:r>
              <a:rPr dirty="0" sz="10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exploratory analysis,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C6BFED"/>
                </a:solidFill>
                <a:latin typeface="Arial MT"/>
                <a:cs typeface="Arial MT"/>
              </a:rPr>
              <a:t>and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preparation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tasks.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Provides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flexible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environment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for</a:t>
            </a:r>
            <a:r>
              <a:rPr dirty="0" sz="10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manipulation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25">
                <a:solidFill>
                  <a:srgbClr val="C6BFED"/>
                </a:solidFill>
                <a:latin typeface="Arial MT"/>
                <a:cs typeface="Arial MT"/>
              </a:rPr>
              <a:t>and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preliminary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statistical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analysis.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38544" y="2624327"/>
            <a:ext cx="1667255" cy="16672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624303" y="4435896"/>
            <a:ext cx="2731770" cy="1183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20" b="1">
                <a:solidFill>
                  <a:srgbClr val="C6BFED"/>
                </a:solidFill>
                <a:latin typeface="Arial"/>
                <a:cs typeface="Arial"/>
              </a:rPr>
              <a:t>DAX</a:t>
            </a:r>
            <a:r>
              <a:rPr dirty="0" sz="1350" spc="-25" b="1">
                <a:solidFill>
                  <a:srgbClr val="C6BFED"/>
                </a:solidFill>
                <a:latin typeface="Arial"/>
                <a:cs typeface="Arial"/>
              </a:rPr>
              <a:t> (Data</a:t>
            </a:r>
            <a:r>
              <a:rPr dirty="0" sz="1350" spc="-110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70" b="1">
                <a:solidFill>
                  <a:srgbClr val="C6BFED"/>
                </a:solidFill>
                <a:latin typeface="Arial"/>
                <a:cs typeface="Arial"/>
              </a:rPr>
              <a:t>Analysis</a:t>
            </a:r>
            <a:r>
              <a:rPr dirty="0" sz="1350" spc="-2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C6BFED"/>
                </a:solidFill>
                <a:latin typeface="Arial"/>
                <a:cs typeface="Arial"/>
              </a:rPr>
              <a:t>Expressions)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500"/>
              </a:lnSpc>
              <a:spcBef>
                <a:spcPts val="61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Calculation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language</a:t>
            </a:r>
            <a:r>
              <a:rPr dirty="0" sz="1050" spc="4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for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creating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custom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measures,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KPIs, and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business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logic.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Enables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complex analytical computations and </a:t>
            </a:r>
            <a:r>
              <a:rPr dirty="0" sz="1050" spc="-20">
                <a:solidFill>
                  <a:srgbClr val="C6BFED"/>
                </a:solidFill>
                <a:latin typeface="Arial MT"/>
                <a:cs typeface="Arial MT"/>
              </a:rPr>
              <a:t>time-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intelligence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calculations.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799576" y="6323088"/>
            <a:ext cx="1259205" cy="373380"/>
          </a:xfrm>
          <a:custGeom>
            <a:avLst/>
            <a:gdLst/>
            <a:ahLst/>
            <a:cxnLst/>
            <a:rect l="l" t="t" r="r" b="b"/>
            <a:pathLst>
              <a:path w="1259204" h="373379">
                <a:moveTo>
                  <a:pt x="1258824" y="0"/>
                </a:moveTo>
                <a:lnTo>
                  <a:pt x="0" y="0"/>
                </a:lnTo>
                <a:lnTo>
                  <a:pt x="0" y="373380"/>
                </a:lnTo>
                <a:lnTo>
                  <a:pt x="1258824" y="373380"/>
                </a:lnTo>
                <a:lnTo>
                  <a:pt x="1258824" y="368808"/>
                </a:lnTo>
                <a:lnTo>
                  <a:pt x="1258824" y="364236"/>
                </a:lnTo>
                <a:lnTo>
                  <a:pt x="1258824" y="7620"/>
                </a:lnTo>
                <a:lnTo>
                  <a:pt x="1258824" y="3048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2923" y="1505187"/>
            <a:ext cx="3599815" cy="4337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 b="1">
                <a:latin typeface="Arial"/>
                <a:cs typeface="Arial"/>
              </a:rPr>
              <a:t>Dashboard</a:t>
            </a:r>
            <a:r>
              <a:rPr dirty="0" spc="-114" b="1">
                <a:latin typeface="Arial"/>
                <a:cs typeface="Arial"/>
              </a:rPr>
              <a:t> </a:t>
            </a:r>
            <a:r>
              <a:rPr dirty="0" spc="-100" b="1">
                <a:latin typeface="Arial"/>
                <a:cs typeface="Arial"/>
              </a:rPr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2890" y="2196853"/>
            <a:ext cx="8993505" cy="679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9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The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analytical</a:t>
            </a:r>
            <a:r>
              <a:rPr dirty="0" sz="1050" spc="4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solution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comprises four interconnected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dashboards,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each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designed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to address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specific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business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questions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while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maintaining</a:t>
            </a:r>
            <a:r>
              <a:rPr dirty="0" sz="10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consistent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visual design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integration.</a:t>
            </a:r>
            <a:r>
              <a:rPr dirty="0" sz="10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This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multi-dashboard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approach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enables</a:t>
            </a:r>
            <a:r>
              <a:rPr dirty="0" sz="1050" spc="5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users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to drill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from</a:t>
            </a:r>
            <a:r>
              <a:rPr dirty="0" sz="1050" spc="-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high-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level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executive summaries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to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detailed</a:t>
            </a:r>
            <a:r>
              <a:rPr dirty="0" sz="10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operational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insights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seamlessly.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44068" y="3041904"/>
            <a:ext cx="4419600" cy="1239520"/>
            <a:chOff x="544068" y="3041904"/>
            <a:chExt cx="4419600" cy="1239520"/>
          </a:xfrm>
        </p:grpSpPr>
        <p:sp>
          <p:nvSpPr>
            <p:cNvPr id="6" name="object 6"/>
            <p:cNvSpPr/>
            <p:nvPr/>
          </p:nvSpPr>
          <p:spPr>
            <a:xfrm>
              <a:off x="547116" y="3044952"/>
              <a:ext cx="4415155" cy="1233170"/>
            </a:xfrm>
            <a:custGeom>
              <a:avLst/>
              <a:gdLst/>
              <a:ahLst/>
              <a:cxnLst/>
              <a:rect l="l" t="t" r="r" b="b"/>
              <a:pathLst>
                <a:path w="4415155" h="1233170">
                  <a:moveTo>
                    <a:pt x="4411980" y="1232916"/>
                  </a:moveTo>
                  <a:lnTo>
                    <a:pt x="1524" y="1232916"/>
                  </a:lnTo>
                  <a:lnTo>
                    <a:pt x="0" y="1229867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4411980" y="0"/>
                  </a:lnTo>
                  <a:lnTo>
                    <a:pt x="4415027" y="3048"/>
                  </a:lnTo>
                  <a:lnTo>
                    <a:pt x="4415027" y="1229867"/>
                  </a:lnTo>
                  <a:lnTo>
                    <a:pt x="4411980" y="1232916"/>
                  </a:lnTo>
                  <a:close/>
                </a:path>
              </a:pathLst>
            </a:custGeom>
            <a:solidFill>
              <a:srgbClr val="F7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4068" y="3041904"/>
              <a:ext cx="4419600" cy="1239520"/>
            </a:xfrm>
            <a:custGeom>
              <a:avLst/>
              <a:gdLst/>
              <a:ahLst/>
              <a:cxnLst/>
              <a:rect l="l" t="t" r="r" b="b"/>
              <a:pathLst>
                <a:path w="4419600" h="1239520">
                  <a:moveTo>
                    <a:pt x="4411980" y="1239011"/>
                  </a:moveTo>
                  <a:lnTo>
                    <a:pt x="7620" y="1239011"/>
                  </a:lnTo>
                  <a:lnTo>
                    <a:pt x="6096" y="1237488"/>
                  </a:lnTo>
                  <a:lnTo>
                    <a:pt x="4572" y="1237488"/>
                  </a:lnTo>
                  <a:lnTo>
                    <a:pt x="3048" y="1235964"/>
                  </a:lnTo>
                  <a:lnTo>
                    <a:pt x="1524" y="1235964"/>
                  </a:lnTo>
                  <a:lnTo>
                    <a:pt x="0" y="1234440"/>
                  </a:lnTo>
                  <a:lnTo>
                    <a:pt x="0" y="4572"/>
                  </a:lnTo>
                  <a:lnTo>
                    <a:pt x="1524" y="3048"/>
                  </a:lnTo>
                  <a:lnTo>
                    <a:pt x="3048" y="3048"/>
                  </a:lnTo>
                  <a:lnTo>
                    <a:pt x="6096" y="0"/>
                  </a:lnTo>
                  <a:lnTo>
                    <a:pt x="4415028" y="0"/>
                  </a:lnTo>
                  <a:lnTo>
                    <a:pt x="4415028" y="1524"/>
                  </a:lnTo>
                  <a:lnTo>
                    <a:pt x="4418076" y="3048"/>
                  </a:lnTo>
                  <a:lnTo>
                    <a:pt x="4419600" y="4572"/>
                  </a:lnTo>
                  <a:lnTo>
                    <a:pt x="7620" y="4572"/>
                  </a:lnTo>
                  <a:lnTo>
                    <a:pt x="4572" y="7620"/>
                  </a:lnTo>
                  <a:lnTo>
                    <a:pt x="6096" y="7620"/>
                  </a:lnTo>
                  <a:lnTo>
                    <a:pt x="4572" y="9144"/>
                  </a:lnTo>
                  <a:lnTo>
                    <a:pt x="4572" y="1229868"/>
                  </a:lnTo>
                  <a:lnTo>
                    <a:pt x="6096" y="1231392"/>
                  </a:lnTo>
                  <a:lnTo>
                    <a:pt x="4572" y="1231392"/>
                  </a:lnTo>
                  <a:lnTo>
                    <a:pt x="6096" y="1232915"/>
                  </a:lnTo>
                  <a:lnTo>
                    <a:pt x="4419600" y="1232915"/>
                  </a:lnTo>
                  <a:lnTo>
                    <a:pt x="4418076" y="1235964"/>
                  </a:lnTo>
                  <a:lnTo>
                    <a:pt x="4411980" y="1239011"/>
                  </a:lnTo>
                  <a:close/>
                </a:path>
                <a:path w="4419600" h="1239520">
                  <a:moveTo>
                    <a:pt x="6096" y="6096"/>
                  </a:moveTo>
                  <a:lnTo>
                    <a:pt x="7620" y="4572"/>
                  </a:lnTo>
                  <a:lnTo>
                    <a:pt x="9144" y="4572"/>
                  </a:lnTo>
                  <a:lnTo>
                    <a:pt x="6096" y="6096"/>
                  </a:lnTo>
                  <a:close/>
                </a:path>
                <a:path w="4419600" h="1239520">
                  <a:moveTo>
                    <a:pt x="4413503" y="6096"/>
                  </a:moveTo>
                  <a:lnTo>
                    <a:pt x="4410456" y="4572"/>
                  </a:lnTo>
                  <a:lnTo>
                    <a:pt x="4411980" y="4572"/>
                  </a:lnTo>
                  <a:lnTo>
                    <a:pt x="4413503" y="6096"/>
                  </a:lnTo>
                  <a:close/>
                </a:path>
                <a:path w="4419600" h="1239520">
                  <a:moveTo>
                    <a:pt x="4419600" y="1232915"/>
                  </a:moveTo>
                  <a:lnTo>
                    <a:pt x="4413503" y="1232915"/>
                  </a:lnTo>
                  <a:lnTo>
                    <a:pt x="4415028" y="1231392"/>
                  </a:lnTo>
                  <a:lnTo>
                    <a:pt x="4415028" y="7620"/>
                  </a:lnTo>
                  <a:lnTo>
                    <a:pt x="4413503" y="6096"/>
                  </a:lnTo>
                  <a:lnTo>
                    <a:pt x="4415028" y="6096"/>
                  </a:lnTo>
                  <a:lnTo>
                    <a:pt x="4411980" y="4572"/>
                  </a:lnTo>
                  <a:lnTo>
                    <a:pt x="4419600" y="4572"/>
                  </a:lnTo>
                  <a:lnTo>
                    <a:pt x="4419600" y="1232915"/>
                  </a:lnTo>
                  <a:close/>
                </a:path>
                <a:path w="4419600" h="1239520">
                  <a:moveTo>
                    <a:pt x="7620" y="1232915"/>
                  </a:moveTo>
                  <a:lnTo>
                    <a:pt x="6096" y="1232915"/>
                  </a:lnTo>
                  <a:lnTo>
                    <a:pt x="6096" y="1231392"/>
                  </a:lnTo>
                  <a:lnTo>
                    <a:pt x="7620" y="1232915"/>
                  </a:lnTo>
                  <a:close/>
                </a:path>
                <a:path w="4419600" h="1239520">
                  <a:moveTo>
                    <a:pt x="4413503" y="1232915"/>
                  </a:moveTo>
                  <a:lnTo>
                    <a:pt x="4411980" y="1232915"/>
                  </a:lnTo>
                  <a:lnTo>
                    <a:pt x="4415028" y="1231392"/>
                  </a:lnTo>
                  <a:lnTo>
                    <a:pt x="4413503" y="1232915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74619" y="3158808"/>
            <a:ext cx="3960495" cy="962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55" b="1">
                <a:latin typeface="Arial"/>
                <a:cs typeface="Arial"/>
              </a:rPr>
              <a:t>Executive</a:t>
            </a:r>
            <a:r>
              <a:rPr dirty="0" sz="1350" spc="-40" b="1">
                <a:latin typeface="Arial"/>
                <a:cs typeface="Arial"/>
              </a:rPr>
              <a:t> </a:t>
            </a:r>
            <a:r>
              <a:rPr dirty="0" sz="1350" spc="-10" b="1">
                <a:latin typeface="Arial"/>
                <a:cs typeface="Arial"/>
              </a:rPr>
              <a:t>Overview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200"/>
              </a:lnSpc>
              <a:spcBef>
                <a:spcPts val="610"/>
              </a:spcBef>
            </a:pPr>
            <a:r>
              <a:rPr dirty="0" sz="1050" spc="-10">
                <a:latin typeface="Arial MT"/>
                <a:cs typeface="Arial MT"/>
              </a:rPr>
              <a:t>High-</a:t>
            </a:r>
            <a:r>
              <a:rPr dirty="0" sz="1050">
                <a:latin typeface="Arial MT"/>
                <a:cs typeface="Arial MT"/>
              </a:rPr>
              <a:t>level</a:t>
            </a:r>
            <a:r>
              <a:rPr dirty="0" sz="1050" spc="4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revenue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metrics,</a:t>
            </a:r>
            <a:r>
              <a:rPr dirty="0" sz="1050" spc="-1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booking</a:t>
            </a:r>
            <a:r>
              <a:rPr dirty="0" sz="1050" spc="5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performance,</a:t>
            </a:r>
            <a:r>
              <a:rPr dirty="0" sz="1050" spc="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occupancy </a:t>
            </a:r>
            <a:r>
              <a:rPr dirty="0" sz="1050">
                <a:latin typeface="Arial MT"/>
                <a:cs typeface="Arial MT"/>
              </a:rPr>
              <a:t>trends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</a:t>
            </a:r>
            <a:r>
              <a:rPr dirty="0" sz="1050" spc="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C-level</a:t>
            </a:r>
            <a:r>
              <a:rPr dirty="0" sz="1050" spc="4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decision-makers.</a:t>
            </a:r>
            <a:r>
              <a:rPr dirty="0" sz="1050" spc="1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Includes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year-</a:t>
            </a:r>
            <a:r>
              <a:rPr dirty="0" sz="1050">
                <a:latin typeface="Arial MT"/>
                <a:cs typeface="Arial MT"/>
              </a:rPr>
              <a:t>over-</a:t>
            </a:r>
            <a:r>
              <a:rPr dirty="0" sz="1050" spc="-20">
                <a:latin typeface="Arial MT"/>
                <a:cs typeface="Arial MT"/>
              </a:rPr>
              <a:t>year </a:t>
            </a:r>
            <a:r>
              <a:rPr dirty="0" sz="1050">
                <a:latin typeface="Arial MT"/>
                <a:cs typeface="Arial MT"/>
              </a:rPr>
              <a:t>comparisons</a:t>
            </a:r>
            <a:r>
              <a:rPr dirty="0" sz="1050" spc="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key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performance </a:t>
            </a:r>
            <a:r>
              <a:rPr dirty="0" sz="1050" spc="-10">
                <a:latin typeface="Arial MT"/>
                <a:cs typeface="Arial MT"/>
              </a:rPr>
              <a:t>indicators.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94732" y="3041904"/>
            <a:ext cx="4421505" cy="1239520"/>
            <a:chOff x="5094732" y="3041904"/>
            <a:chExt cx="4421505" cy="1239520"/>
          </a:xfrm>
        </p:grpSpPr>
        <p:sp>
          <p:nvSpPr>
            <p:cNvPr id="10" name="object 10"/>
            <p:cNvSpPr/>
            <p:nvPr/>
          </p:nvSpPr>
          <p:spPr>
            <a:xfrm>
              <a:off x="5097780" y="3044952"/>
              <a:ext cx="4415155" cy="1233170"/>
            </a:xfrm>
            <a:custGeom>
              <a:avLst/>
              <a:gdLst/>
              <a:ahLst/>
              <a:cxnLst/>
              <a:rect l="l" t="t" r="r" b="b"/>
              <a:pathLst>
                <a:path w="4415155" h="1233170">
                  <a:moveTo>
                    <a:pt x="4413503" y="1232916"/>
                  </a:moveTo>
                  <a:lnTo>
                    <a:pt x="3048" y="1232916"/>
                  </a:lnTo>
                  <a:lnTo>
                    <a:pt x="0" y="1229867"/>
                  </a:lnTo>
                  <a:lnTo>
                    <a:pt x="0" y="6096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4413503" y="0"/>
                  </a:lnTo>
                  <a:lnTo>
                    <a:pt x="4415027" y="3048"/>
                  </a:lnTo>
                  <a:lnTo>
                    <a:pt x="4415027" y="1229867"/>
                  </a:lnTo>
                  <a:lnTo>
                    <a:pt x="4413503" y="1232916"/>
                  </a:lnTo>
                  <a:close/>
                </a:path>
              </a:pathLst>
            </a:custGeom>
            <a:solidFill>
              <a:srgbClr val="F7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094732" y="3041904"/>
              <a:ext cx="4421505" cy="1239520"/>
            </a:xfrm>
            <a:custGeom>
              <a:avLst/>
              <a:gdLst/>
              <a:ahLst/>
              <a:cxnLst/>
              <a:rect l="l" t="t" r="r" b="b"/>
              <a:pathLst>
                <a:path w="4421505" h="1239520">
                  <a:moveTo>
                    <a:pt x="4419600" y="1235964"/>
                  </a:moveTo>
                  <a:lnTo>
                    <a:pt x="3048" y="1235964"/>
                  </a:lnTo>
                  <a:lnTo>
                    <a:pt x="1524" y="1234440"/>
                  </a:lnTo>
                  <a:lnTo>
                    <a:pt x="1524" y="1229868"/>
                  </a:lnTo>
                  <a:lnTo>
                    <a:pt x="0" y="1229868"/>
                  </a:lnTo>
                  <a:lnTo>
                    <a:pt x="0" y="9144"/>
                  </a:lnTo>
                  <a:lnTo>
                    <a:pt x="1524" y="9144"/>
                  </a:lnTo>
                  <a:lnTo>
                    <a:pt x="1524" y="4572"/>
                  </a:lnTo>
                  <a:lnTo>
                    <a:pt x="3048" y="3048"/>
                  </a:lnTo>
                  <a:lnTo>
                    <a:pt x="6096" y="1524"/>
                  </a:lnTo>
                  <a:lnTo>
                    <a:pt x="6096" y="0"/>
                  </a:lnTo>
                  <a:lnTo>
                    <a:pt x="4415028" y="0"/>
                  </a:lnTo>
                  <a:lnTo>
                    <a:pt x="4418076" y="3048"/>
                  </a:lnTo>
                  <a:lnTo>
                    <a:pt x="4419600" y="3048"/>
                  </a:lnTo>
                  <a:lnTo>
                    <a:pt x="4421124" y="4572"/>
                  </a:lnTo>
                  <a:lnTo>
                    <a:pt x="9144" y="4572"/>
                  </a:lnTo>
                  <a:lnTo>
                    <a:pt x="6096" y="6096"/>
                  </a:lnTo>
                  <a:lnTo>
                    <a:pt x="7620" y="6096"/>
                  </a:lnTo>
                  <a:lnTo>
                    <a:pt x="6096" y="7620"/>
                  </a:lnTo>
                  <a:lnTo>
                    <a:pt x="6096" y="1231392"/>
                  </a:lnTo>
                  <a:lnTo>
                    <a:pt x="7620" y="1232915"/>
                  </a:lnTo>
                  <a:lnTo>
                    <a:pt x="4421124" y="1232915"/>
                  </a:lnTo>
                  <a:lnTo>
                    <a:pt x="4419600" y="1235964"/>
                  </a:lnTo>
                  <a:close/>
                </a:path>
                <a:path w="4421505" h="1239520">
                  <a:moveTo>
                    <a:pt x="7620" y="6096"/>
                  </a:moveTo>
                  <a:lnTo>
                    <a:pt x="9144" y="4572"/>
                  </a:lnTo>
                  <a:lnTo>
                    <a:pt x="10668" y="4572"/>
                  </a:lnTo>
                  <a:lnTo>
                    <a:pt x="7620" y="6096"/>
                  </a:lnTo>
                  <a:close/>
                </a:path>
                <a:path w="4421505" h="1239520">
                  <a:moveTo>
                    <a:pt x="4415028" y="6096"/>
                  </a:moveTo>
                  <a:lnTo>
                    <a:pt x="4411980" y="4572"/>
                  </a:lnTo>
                  <a:lnTo>
                    <a:pt x="4413503" y="4572"/>
                  </a:lnTo>
                  <a:lnTo>
                    <a:pt x="4415028" y="6096"/>
                  </a:lnTo>
                  <a:close/>
                </a:path>
                <a:path w="4421505" h="1239520">
                  <a:moveTo>
                    <a:pt x="4421124" y="1232915"/>
                  </a:moveTo>
                  <a:lnTo>
                    <a:pt x="4415028" y="1232915"/>
                  </a:lnTo>
                  <a:lnTo>
                    <a:pt x="4416552" y="1231392"/>
                  </a:lnTo>
                  <a:lnTo>
                    <a:pt x="4415028" y="1231392"/>
                  </a:lnTo>
                  <a:lnTo>
                    <a:pt x="4416552" y="1229868"/>
                  </a:lnTo>
                  <a:lnTo>
                    <a:pt x="4416552" y="9144"/>
                  </a:lnTo>
                  <a:lnTo>
                    <a:pt x="4415028" y="7620"/>
                  </a:lnTo>
                  <a:lnTo>
                    <a:pt x="4416552" y="7620"/>
                  </a:lnTo>
                  <a:lnTo>
                    <a:pt x="4413503" y="4572"/>
                  </a:lnTo>
                  <a:lnTo>
                    <a:pt x="4421124" y="4572"/>
                  </a:lnTo>
                  <a:lnTo>
                    <a:pt x="4421124" y="1232915"/>
                  </a:lnTo>
                  <a:close/>
                </a:path>
                <a:path w="4421505" h="1239520">
                  <a:moveTo>
                    <a:pt x="9144" y="1232915"/>
                  </a:moveTo>
                  <a:lnTo>
                    <a:pt x="7620" y="1232915"/>
                  </a:lnTo>
                  <a:lnTo>
                    <a:pt x="6096" y="1231392"/>
                  </a:lnTo>
                  <a:lnTo>
                    <a:pt x="9144" y="1232915"/>
                  </a:lnTo>
                  <a:close/>
                </a:path>
                <a:path w="4421505" h="1239520">
                  <a:moveTo>
                    <a:pt x="4415028" y="1232915"/>
                  </a:moveTo>
                  <a:lnTo>
                    <a:pt x="4413503" y="1232915"/>
                  </a:lnTo>
                  <a:lnTo>
                    <a:pt x="4415028" y="1231392"/>
                  </a:lnTo>
                  <a:lnTo>
                    <a:pt x="4415028" y="1232915"/>
                  </a:lnTo>
                  <a:close/>
                </a:path>
                <a:path w="4421505" h="1239520">
                  <a:moveTo>
                    <a:pt x="4413503" y="1239011"/>
                  </a:moveTo>
                  <a:lnTo>
                    <a:pt x="9144" y="1239011"/>
                  </a:lnTo>
                  <a:lnTo>
                    <a:pt x="6096" y="1237488"/>
                  </a:lnTo>
                  <a:lnTo>
                    <a:pt x="4572" y="1235964"/>
                  </a:lnTo>
                  <a:lnTo>
                    <a:pt x="4418076" y="1235964"/>
                  </a:lnTo>
                  <a:lnTo>
                    <a:pt x="4416552" y="1237488"/>
                  </a:lnTo>
                  <a:lnTo>
                    <a:pt x="4415028" y="1237488"/>
                  </a:lnTo>
                  <a:lnTo>
                    <a:pt x="4413503" y="1239011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226841" y="3158808"/>
            <a:ext cx="3891279" cy="962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80" b="1">
                <a:latin typeface="Arial"/>
                <a:cs typeface="Arial"/>
              </a:rPr>
              <a:t>Booking</a:t>
            </a:r>
            <a:r>
              <a:rPr dirty="0" sz="1350" spc="-10" b="1">
                <a:latin typeface="Arial"/>
                <a:cs typeface="Arial"/>
              </a:rPr>
              <a:t> </a:t>
            </a:r>
            <a:r>
              <a:rPr dirty="0" sz="1350" spc="-65" b="1">
                <a:latin typeface="Arial"/>
                <a:cs typeface="Arial"/>
              </a:rPr>
              <a:t>Behavior</a:t>
            </a:r>
            <a:r>
              <a:rPr dirty="0" sz="1350" spc="-95" b="1">
                <a:latin typeface="Arial"/>
                <a:cs typeface="Arial"/>
              </a:rPr>
              <a:t> </a:t>
            </a:r>
            <a:r>
              <a:rPr dirty="0" sz="1350" spc="-10" b="1">
                <a:latin typeface="Arial"/>
                <a:cs typeface="Arial"/>
              </a:rPr>
              <a:t>Analysis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200"/>
              </a:lnSpc>
              <a:spcBef>
                <a:spcPts val="610"/>
              </a:spcBef>
            </a:pPr>
            <a:r>
              <a:rPr dirty="0" sz="1050">
                <a:latin typeface="Arial MT"/>
                <a:cs typeface="Arial MT"/>
              </a:rPr>
              <a:t>Detailed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examination</a:t>
            </a:r>
            <a:r>
              <a:rPr dirty="0" sz="1050" spc="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of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customer booking</a:t>
            </a:r>
            <a:r>
              <a:rPr dirty="0" sz="1050" spc="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patterns,</a:t>
            </a:r>
            <a:r>
              <a:rPr dirty="0" sz="1050" spc="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channel </a:t>
            </a:r>
            <a:r>
              <a:rPr dirty="0" sz="1050">
                <a:latin typeface="Arial MT"/>
                <a:cs typeface="Arial MT"/>
              </a:rPr>
              <a:t>performance,</a:t>
            </a:r>
            <a:r>
              <a:rPr dirty="0" sz="1050" spc="-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lead</a:t>
            </a:r>
            <a:r>
              <a:rPr dirty="0" sz="1050" spc="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time analysis,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cancellation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rates.</a:t>
            </a:r>
            <a:r>
              <a:rPr dirty="0" sz="1050" spc="-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Reveals </a:t>
            </a:r>
            <a:r>
              <a:rPr dirty="0" sz="1050">
                <a:latin typeface="Arial MT"/>
                <a:cs typeface="Arial MT"/>
              </a:rPr>
              <a:t>customer</a:t>
            </a:r>
            <a:r>
              <a:rPr dirty="0" sz="1050" spc="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decision-making</a:t>
            </a:r>
            <a:r>
              <a:rPr dirty="0" sz="1050" spc="4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processes.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44068" y="4411979"/>
            <a:ext cx="4419600" cy="1237615"/>
            <a:chOff x="544068" y="4411979"/>
            <a:chExt cx="4419600" cy="1237615"/>
          </a:xfrm>
        </p:grpSpPr>
        <p:sp>
          <p:nvSpPr>
            <p:cNvPr id="14" name="object 14"/>
            <p:cNvSpPr/>
            <p:nvPr/>
          </p:nvSpPr>
          <p:spPr>
            <a:xfrm>
              <a:off x="547116" y="4413503"/>
              <a:ext cx="4415155" cy="1234440"/>
            </a:xfrm>
            <a:custGeom>
              <a:avLst/>
              <a:gdLst/>
              <a:ahLst/>
              <a:cxnLst/>
              <a:rect l="l" t="t" r="r" b="b"/>
              <a:pathLst>
                <a:path w="4415155" h="1234439">
                  <a:moveTo>
                    <a:pt x="4411980" y="1234440"/>
                  </a:moveTo>
                  <a:lnTo>
                    <a:pt x="1524" y="1234440"/>
                  </a:lnTo>
                  <a:lnTo>
                    <a:pt x="0" y="1231391"/>
                  </a:lnTo>
                  <a:lnTo>
                    <a:pt x="0" y="7620"/>
                  </a:lnTo>
                  <a:lnTo>
                    <a:pt x="0" y="3048"/>
                  </a:lnTo>
                  <a:lnTo>
                    <a:pt x="1524" y="0"/>
                  </a:lnTo>
                  <a:lnTo>
                    <a:pt x="4411980" y="0"/>
                  </a:lnTo>
                  <a:lnTo>
                    <a:pt x="4415027" y="3048"/>
                  </a:lnTo>
                  <a:lnTo>
                    <a:pt x="4415027" y="1231391"/>
                  </a:lnTo>
                  <a:lnTo>
                    <a:pt x="4411980" y="1234440"/>
                  </a:lnTo>
                  <a:close/>
                </a:path>
              </a:pathLst>
            </a:custGeom>
            <a:solidFill>
              <a:srgbClr val="F7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4068" y="4411979"/>
              <a:ext cx="4419600" cy="1237615"/>
            </a:xfrm>
            <a:custGeom>
              <a:avLst/>
              <a:gdLst/>
              <a:ahLst/>
              <a:cxnLst/>
              <a:rect l="l" t="t" r="r" b="b"/>
              <a:pathLst>
                <a:path w="4419600" h="1237614">
                  <a:moveTo>
                    <a:pt x="4415028" y="1237488"/>
                  </a:moveTo>
                  <a:lnTo>
                    <a:pt x="4572" y="1237488"/>
                  </a:lnTo>
                  <a:lnTo>
                    <a:pt x="3048" y="1235964"/>
                  </a:lnTo>
                  <a:lnTo>
                    <a:pt x="1524" y="1235964"/>
                  </a:lnTo>
                  <a:lnTo>
                    <a:pt x="0" y="1232915"/>
                  </a:lnTo>
                  <a:lnTo>
                    <a:pt x="0" y="4572"/>
                  </a:lnTo>
                  <a:lnTo>
                    <a:pt x="1524" y="3048"/>
                  </a:lnTo>
                  <a:lnTo>
                    <a:pt x="3048" y="3048"/>
                  </a:lnTo>
                  <a:lnTo>
                    <a:pt x="3048" y="1524"/>
                  </a:lnTo>
                  <a:lnTo>
                    <a:pt x="4572" y="0"/>
                  </a:lnTo>
                  <a:lnTo>
                    <a:pt x="4415028" y="0"/>
                  </a:lnTo>
                  <a:lnTo>
                    <a:pt x="4418076" y="1524"/>
                  </a:lnTo>
                  <a:lnTo>
                    <a:pt x="4418076" y="3048"/>
                  </a:lnTo>
                  <a:lnTo>
                    <a:pt x="4419600" y="4572"/>
                  </a:lnTo>
                  <a:lnTo>
                    <a:pt x="7620" y="4572"/>
                  </a:lnTo>
                  <a:lnTo>
                    <a:pt x="4572" y="7620"/>
                  </a:lnTo>
                  <a:lnTo>
                    <a:pt x="5334" y="7620"/>
                  </a:lnTo>
                  <a:lnTo>
                    <a:pt x="4572" y="9144"/>
                  </a:lnTo>
                  <a:lnTo>
                    <a:pt x="4572" y="1229868"/>
                  </a:lnTo>
                  <a:lnTo>
                    <a:pt x="6096" y="1232915"/>
                  </a:lnTo>
                  <a:lnTo>
                    <a:pt x="4419600" y="1232915"/>
                  </a:lnTo>
                  <a:lnTo>
                    <a:pt x="4418076" y="1234440"/>
                  </a:lnTo>
                  <a:lnTo>
                    <a:pt x="4418076" y="1235964"/>
                  </a:lnTo>
                  <a:lnTo>
                    <a:pt x="4415028" y="1237488"/>
                  </a:lnTo>
                  <a:close/>
                </a:path>
                <a:path w="4419600" h="1237614">
                  <a:moveTo>
                    <a:pt x="4419600" y="1232915"/>
                  </a:moveTo>
                  <a:lnTo>
                    <a:pt x="4413503" y="1232915"/>
                  </a:lnTo>
                  <a:lnTo>
                    <a:pt x="4415028" y="1231392"/>
                  </a:lnTo>
                  <a:lnTo>
                    <a:pt x="4415028" y="6096"/>
                  </a:lnTo>
                  <a:lnTo>
                    <a:pt x="4411980" y="4572"/>
                  </a:lnTo>
                  <a:lnTo>
                    <a:pt x="4419600" y="4572"/>
                  </a:lnTo>
                  <a:lnTo>
                    <a:pt x="4419600" y="1232915"/>
                  </a:lnTo>
                  <a:close/>
                </a:path>
                <a:path w="4419600" h="1237614">
                  <a:moveTo>
                    <a:pt x="5334" y="7620"/>
                  </a:moveTo>
                  <a:lnTo>
                    <a:pt x="4572" y="7620"/>
                  </a:lnTo>
                  <a:lnTo>
                    <a:pt x="6096" y="6096"/>
                  </a:lnTo>
                  <a:lnTo>
                    <a:pt x="5334" y="7620"/>
                  </a:lnTo>
                  <a:close/>
                </a:path>
                <a:path w="4419600" h="1237614">
                  <a:moveTo>
                    <a:pt x="4415028" y="7620"/>
                  </a:moveTo>
                  <a:lnTo>
                    <a:pt x="4413503" y="6096"/>
                  </a:lnTo>
                  <a:lnTo>
                    <a:pt x="4415028" y="6096"/>
                  </a:lnTo>
                  <a:lnTo>
                    <a:pt x="4415028" y="7620"/>
                  </a:lnTo>
                  <a:close/>
                </a:path>
                <a:path w="4419600" h="1237614">
                  <a:moveTo>
                    <a:pt x="6096" y="1231392"/>
                  </a:moveTo>
                  <a:lnTo>
                    <a:pt x="4572" y="1229868"/>
                  </a:lnTo>
                  <a:lnTo>
                    <a:pt x="4572" y="1228344"/>
                  </a:lnTo>
                  <a:lnTo>
                    <a:pt x="6096" y="1231392"/>
                  </a:lnTo>
                  <a:close/>
                </a:path>
                <a:path w="4419600" h="1237614">
                  <a:moveTo>
                    <a:pt x="4414011" y="1231900"/>
                  </a:moveTo>
                  <a:lnTo>
                    <a:pt x="4415028" y="1229868"/>
                  </a:lnTo>
                  <a:lnTo>
                    <a:pt x="4415028" y="1231392"/>
                  </a:lnTo>
                  <a:lnTo>
                    <a:pt x="4414011" y="1231900"/>
                  </a:lnTo>
                  <a:close/>
                </a:path>
                <a:path w="4419600" h="1237614">
                  <a:moveTo>
                    <a:pt x="7620" y="1232915"/>
                  </a:moveTo>
                  <a:lnTo>
                    <a:pt x="6096" y="1232915"/>
                  </a:lnTo>
                  <a:lnTo>
                    <a:pt x="6096" y="1231392"/>
                  </a:lnTo>
                  <a:lnTo>
                    <a:pt x="7620" y="1232915"/>
                  </a:lnTo>
                  <a:close/>
                </a:path>
                <a:path w="4419600" h="1237614">
                  <a:moveTo>
                    <a:pt x="4413503" y="1232915"/>
                  </a:moveTo>
                  <a:lnTo>
                    <a:pt x="4414011" y="1231900"/>
                  </a:lnTo>
                  <a:lnTo>
                    <a:pt x="4415028" y="1231392"/>
                  </a:lnTo>
                  <a:lnTo>
                    <a:pt x="4413503" y="1232915"/>
                  </a:lnTo>
                  <a:close/>
                </a:path>
                <a:path w="4419600" h="1237614">
                  <a:moveTo>
                    <a:pt x="4413503" y="1232915"/>
                  </a:moveTo>
                  <a:lnTo>
                    <a:pt x="4411980" y="1232915"/>
                  </a:lnTo>
                  <a:lnTo>
                    <a:pt x="4414011" y="1231900"/>
                  </a:lnTo>
                  <a:lnTo>
                    <a:pt x="4413503" y="1232915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74619" y="4528825"/>
            <a:ext cx="3662679" cy="962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35" b="1">
                <a:latin typeface="Arial"/>
                <a:cs typeface="Arial"/>
              </a:rPr>
              <a:t>Revenue</a:t>
            </a:r>
            <a:r>
              <a:rPr dirty="0" sz="1350" spc="-5" b="1">
                <a:latin typeface="Arial"/>
                <a:cs typeface="Arial"/>
              </a:rPr>
              <a:t> </a:t>
            </a:r>
            <a:r>
              <a:rPr dirty="0" sz="1350" spc="-95" b="1">
                <a:latin typeface="Arial"/>
                <a:cs typeface="Arial"/>
              </a:rPr>
              <a:t>&amp;</a:t>
            </a:r>
            <a:r>
              <a:rPr dirty="0" sz="1350" spc="-5" b="1">
                <a:latin typeface="Arial"/>
                <a:cs typeface="Arial"/>
              </a:rPr>
              <a:t> </a:t>
            </a:r>
            <a:r>
              <a:rPr dirty="0" sz="1350" spc="-75" b="1">
                <a:latin typeface="Arial"/>
                <a:cs typeface="Arial"/>
              </a:rPr>
              <a:t>Pricing</a:t>
            </a:r>
            <a:r>
              <a:rPr dirty="0" sz="1350" spc="-100" b="1">
                <a:latin typeface="Arial"/>
                <a:cs typeface="Arial"/>
              </a:rPr>
              <a:t> </a:t>
            </a:r>
            <a:r>
              <a:rPr dirty="0" sz="1350" spc="-10" b="1">
                <a:latin typeface="Arial"/>
                <a:cs typeface="Arial"/>
              </a:rPr>
              <a:t>Analysis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200"/>
              </a:lnSpc>
              <a:spcBef>
                <a:spcPts val="610"/>
              </a:spcBef>
            </a:pPr>
            <a:r>
              <a:rPr dirty="0" sz="1050">
                <a:latin typeface="Arial MT"/>
                <a:cs typeface="Arial MT"/>
              </a:rPr>
              <a:t>ADR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trends,</a:t>
            </a:r>
            <a:r>
              <a:rPr dirty="0" sz="1050" spc="-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revenue</a:t>
            </a:r>
            <a:r>
              <a:rPr dirty="0" sz="1050" spc="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per</a:t>
            </a:r>
            <a:r>
              <a:rPr dirty="0" sz="1050" spc="1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available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room</a:t>
            </a:r>
            <a:r>
              <a:rPr dirty="0" sz="1050" spc="1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calculations,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pricing </a:t>
            </a:r>
            <a:r>
              <a:rPr dirty="0" sz="1050">
                <a:latin typeface="Arial MT"/>
                <a:cs typeface="Arial MT"/>
              </a:rPr>
              <a:t>strategy</a:t>
            </a:r>
            <a:r>
              <a:rPr dirty="0" sz="1050" spc="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effectiveness,</a:t>
            </a:r>
            <a:r>
              <a:rPr dirty="0" sz="1050" spc="-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market</a:t>
            </a:r>
            <a:r>
              <a:rPr dirty="0" sz="1050" spc="2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segment</a:t>
            </a:r>
            <a:r>
              <a:rPr dirty="0" sz="1050" spc="30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profitability comparisons.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094732" y="4411979"/>
            <a:ext cx="4421505" cy="1237615"/>
            <a:chOff x="5094732" y="4411979"/>
            <a:chExt cx="4421505" cy="1237615"/>
          </a:xfrm>
        </p:grpSpPr>
        <p:sp>
          <p:nvSpPr>
            <p:cNvPr id="18" name="object 18"/>
            <p:cNvSpPr/>
            <p:nvPr/>
          </p:nvSpPr>
          <p:spPr>
            <a:xfrm>
              <a:off x="5097780" y="4413503"/>
              <a:ext cx="4415155" cy="1234440"/>
            </a:xfrm>
            <a:custGeom>
              <a:avLst/>
              <a:gdLst/>
              <a:ahLst/>
              <a:cxnLst/>
              <a:rect l="l" t="t" r="r" b="b"/>
              <a:pathLst>
                <a:path w="4415155" h="1234439">
                  <a:moveTo>
                    <a:pt x="4413503" y="1234440"/>
                  </a:moveTo>
                  <a:lnTo>
                    <a:pt x="3048" y="1234440"/>
                  </a:lnTo>
                  <a:lnTo>
                    <a:pt x="0" y="1231391"/>
                  </a:lnTo>
                  <a:lnTo>
                    <a:pt x="0" y="7620"/>
                  </a:lnTo>
                  <a:lnTo>
                    <a:pt x="0" y="3048"/>
                  </a:lnTo>
                  <a:lnTo>
                    <a:pt x="3048" y="0"/>
                  </a:lnTo>
                  <a:lnTo>
                    <a:pt x="4413503" y="0"/>
                  </a:lnTo>
                  <a:lnTo>
                    <a:pt x="4415027" y="3048"/>
                  </a:lnTo>
                  <a:lnTo>
                    <a:pt x="4415027" y="1231391"/>
                  </a:lnTo>
                  <a:lnTo>
                    <a:pt x="4413503" y="1234440"/>
                  </a:lnTo>
                  <a:close/>
                </a:path>
              </a:pathLst>
            </a:custGeom>
            <a:solidFill>
              <a:srgbClr val="F7EB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094732" y="4411979"/>
              <a:ext cx="4421505" cy="1237615"/>
            </a:xfrm>
            <a:custGeom>
              <a:avLst/>
              <a:gdLst/>
              <a:ahLst/>
              <a:cxnLst/>
              <a:rect l="l" t="t" r="r" b="b"/>
              <a:pathLst>
                <a:path w="4421505" h="1237614">
                  <a:moveTo>
                    <a:pt x="4419600" y="1235964"/>
                  </a:moveTo>
                  <a:lnTo>
                    <a:pt x="3048" y="1235964"/>
                  </a:lnTo>
                  <a:lnTo>
                    <a:pt x="1524" y="1232915"/>
                  </a:lnTo>
                  <a:lnTo>
                    <a:pt x="1524" y="1229868"/>
                  </a:lnTo>
                  <a:lnTo>
                    <a:pt x="0" y="1229868"/>
                  </a:lnTo>
                  <a:lnTo>
                    <a:pt x="0" y="9144"/>
                  </a:lnTo>
                  <a:lnTo>
                    <a:pt x="1524" y="7620"/>
                  </a:lnTo>
                  <a:lnTo>
                    <a:pt x="1524" y="4572"/>
                  </a:lnTo>
                  <a:lnTo>
                    <a:pt x="3048" y="3048"/>
                  </a:lnTo>
                  <a:lnTo>
                    <a:pt x="3048" y="1524"/>
                  </a:lnTo>
                  <a:lnTo>
                    <a:pt x="6096" y="0"/>
                  </a:lnTo>
                  <a:lnTo>
                    <a:pt x="4416552" y="0"/>
                  </a:lnTo>
                  <a:lnTo>
                    <a:pt x="4421124" y="4572"/>
                  </a:lnTo>
                  <a:lnTo>
                    <a:pt x="9144" y="4572"/>
                  </a:lnTo>
                  <a:lnTo>
                    <a:pt x="6096" y="6096"/>
                  </a:lnTo>
                  <a:lnTo>
                    <a:pt x="6096" y="1231392"/>
                  </a:lnTo>
                  <a:lnTo>
                    <a:pt x="7620" y="1232915"/>
                  </a:lnTo>
                  <a:lnTo>
                    <a:pt x="4421124" y="1232915"/>
                  </a:lnTo>
                  <a:lnTo>
                    <a:pt x="4419600" y="1234440"/>
                  </a:lnTo>
                  <a:lnTo>
                    <a:pt x="4419600" y="1235964"/>
                  </a:lnTo>
                  <a:close/>
                </a:path>
                <a:path w="4421505" h="1237614">
                  <a:moveTo>
                    <a:pt x="4421124" y="7620"/>
                  </a:moveTo>
                  <a:lnTo>
                    <a:pt x="4416552" y="7620"/>
                  </a:lnTo>
                  <a:lnTo>
                    <a:pt x="4413503" y="4572"/>
                  </a:lnTo>
                  <a:lnTo>
                    <a:pt x="4421124" y="4572"/>
                  </a:lnTo>
                  <a:lnTo>
                    <a:pt x="4421124" y="7620"/>
                  </a:lnTo>
                  <a:close/>
                </a:path>
                <a:path w="4421505" h="1237614">
                  <a:moveTo>
                    <a:pt x="6096" y="7620"/>
                  </a:moveTo>
                  <a:lnTo>
                    <a:pt x="6096" y="6096"/>
                  </a:lnTo>
                  <a:lnTo>
                    <a:pt x="7620" y="6096"/>
                  </a:lnTo>
                  <a:lnTo>
                    <a:pt x="6096" y="7620"/>
                  </a:lnTo>
                  <a:close/>
                </a:path>
                <a:path w="4421505" h="1237614">
                  <a:moveTo>
                    <a:pt x="4421124" y="1232915"/>
                  </a:moveTo>
                  <a:lnTo>
                    <a:pt x="4415028" y="1232915"/>
                  </a:lnTo>
                  <a:lnTo>
                    <a:pt x="4416552" y="1229868"/>
                  </a:lnTo>
                  <a:lnTo>
                    <a:pt x="4416552" y="9144"/>
                  </a:lnTo>
                  <a:lnTo>
                    <a:pt x="4415028" y="6096"/>
                  </a:lnTo>
                  <a:lnTo>
                    <a:pt x="4416552" y="7620"/>
                  </a:lnTo>
                  <a:lnTo>
                    <a:pt x="4421124" y="7620"/>
                  </a:lnTo>
                  <a:lnTo>
                    <a:pt x="4421124" y="1232915"/>
                  </a:lnTo>
                  <a:close/>
                </a:path>
                <a:path w="4421505" h="1237614">
                  <a:moveTo>
                    <a:pt x="4415028" y="1231392"/>
                  </a:moveTo>
                  <a:lnTo>
                    <a:pt x="4416552" y="1228344"/>
                  </a:lnTo>
                  <a:lnTo>
                    <a:pt x="4416552" y="1229868"/>
                  </a:lnTo>
                  <a:lnTo>
                    <a:pt x="4415028" y="1231392"/>
                  </a:lnTo>
                  <a:close/>
                </a:path>
                <a:path w="4421505" h="1237614">
                  <a:moveTo>
                    <a:pt x="7112" y="1231900"/>
                  </a:moveTo>
                  <a:lnTo>
                    <a:pt x="6096" y="1231392"/>
                  </a:lnTo>
                  <a:lnTo>
                    <a:pt x="6096" y="1229868"/>
                  </a:lnTo>
                  <a:lnTo>
                    <a:pt x="7112" y="1231900"/>
                  </a:lnTo>
                  <a:close/>
                </a:path>
                <a:path w="4421505" h="1237614">
                  <a:moveTo>
                    <a:pt x="7620" y="1232915"/>
                  </a:moveTo>
                  <a:lnTo>
                    <a:pt x="6096" y="1231392"/>
                  </a:lnTo>
                  <a:lnTo>
                    <a:pt x="7112" y="1231900"/>
                  </a:lnTo>
                  <a:lnTo>
                    <a:pt x="7620" y="1232915"/>
                  </a:lnTo>
                  <a:close/>
                </a:path>
                <a:path w="4421505" h="1237614">
                  <a:moveTo>
                    <a:pt x="4415028" y="1232915"/>
                  </a:moveTo>
                  <a:lnTo>
                    <a:pt x="4413503" y="1232915"/>
                  </a:lnTo>
                  <a:lnTo>
                    <a:pt x="4415028" y="1231392"/>
                  </a:lnTo>
                  <a:lnTo>
                    <a:pt x="4415028" y="1232915"/>
                  </a:lnTo>
                  <a:close/>
                </a:path>
                <a:path w="4421505" h="1237614">
                  <a:moveTo>
                    <a:pt x="9144" y="1232915"/>
                  </a:moveTo>
                  <a:lnTo>
                    <a:pt x="7620" y="1232915"/>
                  </a:lnTo>
                  <a:lnTo>
                    <a:pt x="7112" y="1231900"/>
                  </a:lnTo>
                  <a:lnTo>
                    <a:pt x="9144" y="1232915"/>
                  </a:lnTo>
                  <a:close/>
                </a:path>
                <a:path w="4421505" h="1237614">
                  <a:moveTo>
                    <a:pt x="4416552" y="1237488"/>
                  </a:moveTo>
                  <a:lnTo>
                    <a:pt x="6096" y="1237488"/>
                  </a:lnTo>
                  <a:lnTo>
                    <a:pt x="4572" y="1235964"/>
                  </a:lnTo>
                  <a:lnTo>
                    <a:pt x="4418076" y="1235964"/>
                  </a:lnTo>
                  <a:lnTo>
                    <a:pt x="4416552" y="1237488"/>
                  </a:lnTo>
                  <a:close/>
                </a:path>
              </a:pathLst>
            </a:custGeom>
            <a:solidFill>
              <a:srgbClr val="15161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226841" y="4528825"/>
            <a:ext cx="3796029" cy="744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55" b="1">
                <a:latin typeface="Arial"/>
                <a:cs typeface="Arial"/>
              </a:rPr>
              <a:t>Operational</a:t>
            </a:r>
            <a:r>
              <a:rPr dirty="0" sz="1350" spc="-10" b="1">
                <a:latin typeface="Arial"/>
                <a:cs typeface="Arial"/>
              </a:rPr>
              <a:t> Insights</a:t>
            </a:r>
            <a:endParaRPr sz="1350">
              <a:latin typeface="Arial"/>
              <a:cs typeface="Arial"/>
            </a:endParaRPr>
          </a:p>
          <a:p>
            <a:pPr marL="12700" marR="5080">
              <a:lnSpc>
                <a:spcPct val="136200"/>
              </a:lnSpc>
              <a:spcBef>
                <a:spcPts val="610"/>
              </a:spcBef>
            </a:pPr>
            <a:r>
              <a:rPr dirty="0" sz="1050">
                <a:latin typeface="Arial MT"/>
                <a:cs typeface="Arial MT"/>
              </a:rPr>
              <a:t>Stay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duration</a:t>
            </a:r>
            <a:r>
              <a:rPr dirty="0" sz="1050" spc="3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patterns, seasonal</a:t>
            </a:r>
            <a:r>
              <a:rPr dirty="0" sz="1050" spc="30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demand</a:t>
            </a:r>
            <a:r>
              <a:rPr dirty="0" sz="1050" spc="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forecasting, </a:t>
            </a:r>
            <a:r>
              <a:rPr dirty="0" sz="1050" spc="-10">
                <a:latin typeface="Arial MT"/>
                <a:cs typeface="Arial MT"/>
              </a:rPr>
              <a:t>resource </a:t>
            </a:r>
            <a:r>
              <a:rPr dirty="0" sz="1050">
                <a:latin typeface="Arial MT"/>
                <a:cs typeface="Arial MT"/>
              </a:rPr>
              <a:t>utilization</a:t>
            </a:r>
            <a:r>
              <a:rPr dirty="0" sz="1050" spc="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metrics,</a:t>
            </a:r>
            <a:r>
              <a:rPr dirty="0" sz="1050" spc="-2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and</a:t>
            </a:r>
            <a:r>
              <a:rPr dirty="0" sz="1050" spc="1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operational</a:t>
            </a:r>
            <a:r>
              <a:rPr dirty="0" sz="1050" spc="45">
                <a:latin typeface="Arial MT"/>
                <a:cs typeface="Arial MT"/>
              </a:rPr>
              <a:t> </a:t>
            </a:r>
            <a:r>
              <a:rPr dirty="0" sz="1050">
                <a:latin typeface="Arial MT"/>
                <a:cs typeface="Arial MT"/>
              </a:rPr>
              <a:t>efficiency</a:t>
            </a:r>
            <a:r>
              <a:rPr dirty="0" sz="1050" spc="-5">
                <a:latin typeface="Arial MT"/>
                <a:cs typeface="Arial MT"/>
              </a:rPr>
              <a:t> </a:t>
            </a:r>
            <a:r>
              <a:rPr dirty="0" sz="1050" spc="-10">
                <a:latin typeface="Arial MT"/>
                <a:cs typeface="Arial MT"/>
              </a:rPr>
              <a:t>benchmarks.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2890" y="5761443"/>
            <a:ext cx="8486775" cy="461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6200"/>
              </a:lnSpc>
              <a:spcBef>
                <a:spcPts val="9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Each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dashboard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serves distinct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stakeholder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groups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while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sharing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common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sources and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calculated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measures.</a:t>
            </a:r>
            <a:r>
              <a:rPr dirty="0" sz="10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This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architecture</a:t>
            </a:r>
            <a:r>
              <a:rPr dirty="0" sz="10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balances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analytical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depth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with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usability,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allowing</a:t>
            </a:r>
            <a:r>
              <a:rPr dirty="0" sz="10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users to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explore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data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at appropriate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levels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of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detail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for</a:t>
            </a:r>
            <a:r>
              <a:rPr dirty="0" sz="1050" spc="-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their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roles.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799576" y="6323088"/>
            <a:ext cx="1259205" cy="373380"/>
          </a:xfrm>
          <a:custGeom>
            <a:avLst/>
            <a:gdLst/>
            <a:ahLst/>
            <a:cxnLst/>
            <a:rect l="l" t="t" r="r" b="b"/>
            <a:pathLst>
              <a:path w="1259204" h="373379">
                <a:moveTo>
                  <a:pt x="1258824" y="0"/>
                </a:moveTo>
                <a:lnTo>
                  <a:pt x="0" y="0"/>
                </a:lnTo>
                <a:lnTo>
                  <a:pt x="0" y="373380"/>
                </a:lnTo>
                <a:lnTo>
                  <a:pt x="1258824" y="373380"/>
                </a:lnTo>
                <a:lnTo>
                  <a:pt x="1258824" y="368808"/>
                </a:lnTo>
                <a:lnTo>
                  <a:pt x="1258824" y="364236"/>
                </a:lnTo>
                <a:lnTo>
                  <a:pt x="1258824" y="7620"/>
                </a:lnTo>
                <a:lnTo>
                  <a:pt x="1258824" y="3048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2923" y="1403132"/>
            <a:ext cx="4372610" cy="4337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0" b="1">
                <a:latin typeface="Arial"/>
                <a:cs typeface="Arial"/>
              </a:rPr>
              <a:t>Executive</a:t>
            </a:r>
            <a:r>
              <a:rPr dirty="0" spc="-40" b="1">
                <a:latin typeface="Arial"/>
                <a:cs typeface="Arial"/>
              </a:rPr>
              <a:t> </a:t>
            </a:r>
            <a:r>
              <a:rPr dirty="0" spc="-90" b="1">
                <a:latin typeface="Arial"/>
                <a:cs typeface="Arial"/>
              </a:rPr>
              <a:t>Overview</a:t>
            </a:r>
            <a:r>
              <a:rPr dirty="0" spc="-185" b="1">
                <a:latin typeface="Arial"/>
                <a:cs typeface="Arial"/>
              </a:rPr>
              <a:t> </a:t>
            </a:r>
            <a:r>
              <a:rPr dirty="0" spc="-85" b="1">
                <a:latin typeface="Arial"/>
                <a:cs typeface="Arial"/>
              </a:rPr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5730" y="1603771"/>
            <a:ext cx="1346200" cy="1423670"/>
          </a:xfrm>
          <a:prstGeom prst="rect">
            <a:avLst/>
          </a:prstGeom>
        </p:spPr>
        <p:txBody>
          <a:bodyPr wrap="square" lIns="0" tIns="31178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2455"/>
              </a:spcBef>
            </a:pPr>
            <a:r>
              <a:rPr dirty="0" sz="3550" spc="-10" b="1">
                <a:solidFill>
                  <a:srgbClr val="C6BFED"/>
                </a:solidFill>
                <a:latin typeface="Arial"/>
                <a:cs typeface="Arial"/>
              </a:rPr>
              <a:t>30.5M</a:t>
            </a:r>
            <a:endParaRPr sz="3550">
              <a:latin typeface="Arial"/>
              <a:cs typeface="Arial"/>
            </a:endParaRPr>
          </a:p>
          <a:p>
            <a:pPr marL="108585">
              <a:lnSpc>
                <a:spcPct val="100000"/>
              </a:lnSpc>
              <a:spcBef>
                <a:spcPts val="894"/>
              </a:spcBef>
            </a:pPr>
            <a:r>
              <a:rPr dirty="0" sz="1350" spc="-85" b="1">
                <a:solidFill>
                  <a:srgbClr val="C6BFED"/>
                </a:solidFill>
                <a:latin typeface="Arial"/>
                <a:cs typeface="Arial"/>
              </a:rPr>
              <a:t>Total</a:t>
            </a:r>
            <a:r>
              <a:rPr dirty="0" sz="1350" spc="-10" b="1">
                <a:solidFill>
                  <a:srgbClr val="C6BFED"/>
                </a:solidFill>
                <a:latin typeface="Arial"/>
                <a:cs typeface="Arial"/>
              </a:rPr>
              <a:t> Revenue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Generated</a:t>
            </a:r>
            <a:r>
              <a:rPr dirty="0" sz="1050" spc="7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2018-</a:t>
            </a:r>
            <a:r>
              <a:rPr dirty="0" sz="1050" spc="-20">
                <a:solidFill>
                  <a:srgbClr val="C6BFED"/>
                </a:solidFill>
                <a:latin typeface="Arial MT"/>
                <a:cs typeface="Arial MT"/>
              </a:rPr>
              <a:t>2020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7816" y="1889234"/>
            <a:ext cx="1380490" cy="1142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90"/>
              </a:spcBef>
            </a:pPr>
            <a:r>
              <a:rPr dirty="0" sz="3550" spc="-10" b="1">
                <a:solidFill>
                  <a:srgbClr val="C6BFED"/>
                </a:solidFill>
                <a:latin typeface="Arial"/>
                <a:cs typeface="Arial"/>
              </a:rPr>
              <a:t>86.8K</a:t>
            </a:r>
            <a:endParaRPr sz="3550">
              <a:latin typeface="Arial"/>
              <a:cs typeface="Arial"/>
            </a:endParaRPr>
          </a:p>
          <a:p>
            <a:pPr algn="ctr" marR="22225">
              <a:lnSpc>
                <a:spcPct val="100000"/>
              </a:lnSpc>
              <a:spcBef>
                <a:spcPts val="950"/>
              </a:spcBef>
            </a:pPr>
            <a:r>
              <a:rPr dirty="0" sz="1350" spc="-85" b="1">
                <a:solidFill>
                  <a:srgbClr val="C6BFED"/>
                </a:solidFill>
                <a:latin typeface="Arial"/>
                <a:cs typeface="Arial"/>
              </a:rPr>
              <a:t>Total</a:t>
            </a:r>
            <a:r>
              <a:rPr dirty="0" sz="1350" spc="-10" b="1">
                <a:solidFill>
                  <a:srgbClr val="C6BFED"/>
                </a:solidFill>
                <a:latin typeface="Arial"/>
                <a:cs typeface="Arial"/>
              </a:rPr>
              <a:t> Bookings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Complete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reservations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3224" y="1874087"/>
            <a:ext cx="1496695" cy="11487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30480">
              <a:lnSpc>
                <a:spcPct val="100000"/>
              </a:lnSpc>
              <a:spcBef>
                <a:spcPts val="90"/>
              </a:spcBef>
            </a:pPr>
            <a:r>
              <a:rPr dirty="0" sz="3550" spc="-10" b="1">
                <a:solidFill>
                  <a:srgbClr val="C6BFED"/>
                </a:solidFill>
                <a:latin typeface="Arial"/>
                <a:cs typeface="Arial"/>
              </a:rPr>
              <a:t>$100.8</a:t>
            </a:r>
            <a:endParaRPr sz="3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dirty="0" sz="1350" spc="-50" b="1">
                <a:solidFill>
                  <a:srgbClr val="C6BFED"/>
                </a:solidFill>
                <a:latin typeface="Arial"/>
                <a:cs typeface="Arial"/>
              </a:rPr>
              <a:t>Average</a:t>
            </a:r>
            <a:r>
              <a:rPr dirty="0" sz="1350" spc="-3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50" b="1">
                <a:solidFill>
                  <a:srgbClr val="C6BFED"/>
                </a:solidFill>
                <a:latin typeface="Arial"/>
                <a:cs typeface="Arial"/>
              </a:rPr>
              <a:t>Daily</a:t>
            </a:r>
            <a:r>
              <a:rPr dirty="0" sz="1350" spc="-3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C6BFED"/>
                </a:solidFill>
                <a:latin typeface="Arial"/>
                <a:cs typeface="Arial"/>
              </a:rPr>
              <a:t>Rate</a:t>
            </a:r>
            <a:endParaRPr sz="1350">
              <a:latin typeface="Arial"/>
              <a:cs typeface="Arial"/>
            </a:endParaRPr>
          </a:p>
          <a:p>
            <a:pPr algn="ctr" marL="29845">
              <a:lnSpc>
                <a:spcPct val="100000"/>
              </a:lnSpc>
              <a:spcBef>
                <a:spcPts val="57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Per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room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night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76607" y="1871014"/>
            <a:ext cx="1315720" cy="11576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8890">
              <a:lnSpc>
                <a:spcPct val="100000"/>
              </a:lnSpc>
              <a:spcBef>
                <a:spcPts val="90"/>
              </a:spcBef>
            </a:pPr>
            <a:r>
              <a:rPr dirty="0" sz="3550" spc="-10" b="1">
                <a:solidFill>
                  <a:srgbClr val="C6BFED"/>
                </a:solidFill>
                <a:latin typeface="Arial"/>
                <a:cs typeface="Arial"/>
              </a:rPr>
              <a:t>28.9%</a:t>
            </a:r>
            <a:endParaRPr sz="3550">
              <a:latin typeface="Arial"/>
              <a:cs typeface="Arial"/>
            </a:endParaRPr>
          </a:p>
          <a:p>
            <a:pPr algn="ctr" marR="15875">
              <a:lnSpc>
                <a:spcPct val="100000"/>
              </a:lnSpc>
              <a:spcBef>
                <a:spcPts val="1130"/>
              </a:spcBef>
            </a:pPr>
            <a:r>
              <a:rPr dirty="0" sz="1350" spc="-65" b="1">
                <a:solidFill>
                  <a:srgbClr val="C6BFED"/>
                </a:solidFill>
                <a:latin typeface="Arial"/>
                <a:cs typeface="Arial"/>
              </a:rPr>
              <a:t>Occupancy</a:t>
            </a:r>
            <a:r>
              <a:rPr dirty="0" sz="1350" spc="-2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20" b="1">
                <a:solidFill>
                  <a:srgbClr val="C6BFED"/>
                </a:solidFill>
                <a:latin typeface="Arial"/>
                <a:cs typeface="Arial"/>
              </a:rPr>
              <a:t>Rate</a:t>
            </a:r>
            <a:endParaRPr sz="1350">
              <a:latin typeface="Arial"/>
              <a:cs typeface="Arial"/>
            </a:endParaRPr>
          </a:p>
          <a:p>
            <a:pPr algn="ctr" marL="43180">
              <a:lnSpc>
                <a:spcPct val="100000"/>
              </a:lnSpc>
              <a:spcBef>
                <a:spcPts val="650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Rooms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filled</a:t>
            </a:r>
            <a:endParaRPr sz="10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576" y="3061716"/>
            <a:ext cx="5233416" cy="278891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42803" y="1828207"/>
            <a:ext cx="1077595" cy="11855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3550" spc="-25" b="1">
                <a:solidFill>
                  <a:srgbClr val="C6BFED"/>
                </a:solidFill>
                <a:latin typeface="Arial"/>
                <a:cs typeface="Arial"/>
              </a:rPr>
              <a:t>3.5</a:t>
            </a:r>
            <a:endParaRPr sz="3550">
              <a:latin typeface="Arial"/>
              <a:cs typeface="Arial"/>
            </a:endParaRPr>
          </a:p>
          <a:p>
            <a:pPr algn="ctr" marL="1270">
              <a:lnSpc>
                <a:spcPct val="100000"/>
              </a:lnSpc>
              <a:spcBef>
                <a:spcPts val="1370"/>
              </a:spcBef>
            </a:pPr>
            <a:r>
              <a:rPr dirty="0" sz="1350" spc="-50" b="1">
                <a:solidFill>
                  <a:srgbClr val="C6BFED"/>
                </a:solidFill>
                <a:latin typeface="Arial"/>
                <a:cs typeface="Arial"/>
              </a:rPr>
              <a:t>Average </a:t>
            </a:r>
            <a:r>
              <a:rPr dirty="0" sz="1350" spc="-20" b="1">
                <a:solidFill>
                  <a:srgbClr val="C6BFED"/>
                </a:solidFill>
                <a:latin typeface="Arial"/>
                <a:cs typeface="Arial"/>
              </a:rPr>
              <a:t>Stay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Days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per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booking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7576" y="5925311"/>
            <a:ext cx="9641205" cy="771525"/>
            <a:chOff x="417576" y="5925311"/>
            <a:chExt cx="9641205" cy="771525"/>
          </a:xfrm>
        </p:grpSpPr>
        <p:sp>
          <p:nvSpPr>
            <p:cNvPr id="11" name="object 11"/>
            <p:cNvSpPr/>
            <p:nvPr/>
          </p:nvSpPr>
          <p:spPr>
            <a:xfrm>
              <a:off x="8799576" y="6323088"/>
              <a:ext cx="1259205" cy="373380"/>
            </a:xfrm>
            <a:custGeom>
              <a:avLst/>
              <a:gdLst/>
              <a:ahLst/>
              <a:cxnLst/>
              <a:rect l="l" t="t" r="r" b="b"/>
              <a:pathLst>
                <a:path w="1259204" h="373379">
                  <a:moveTo>
                    <a:pt x="1258824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1258824" y="373380"/>
                  </a:lnTo>
                  <a:lnTo>
                    <a:pt x="1258824" y="368808"/>
                  </a:lnTo>
                  <a:lnTo>
                    <a:pt x="1258824" y="364236"/>
                  </a:lnTo>
                  <a:lnTo>
                    <a:pt x="1258824" y="7620"/>
                  </a:lnTo>
                  <a:lnTo>
                    <a:pt x="1258824" y="3048"/>
                  </a:lnTo>
                  <a:lnTo>
                    <a:pt x="1258824" y="0"/>
                  </a:lnTo>
                  <a:close/>
                </a:path>
              </a:pathLst>
            </a:custGeom>
            <a:solidFill>
              <a:srgbClr val="000C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17576" y="5925311"/>
              <a:ext cx="8994775" cy="588645"/>
            </a:xfrm>
            <a:custGeom>
              <a:avLst/>
              <a:gdLst/>
              <a:ahLst/>
              <a:cxnLst/>
              <a:rect l="l" t="t" r="r" b="b"/>
              <a:pathLst>
                <a:path w="8994775" h="588645">
                  <a:moveTo>
                    <a:pt x="8935212" y="588264"/>
                  </a:moveTo>
                  <a:lnTo>
                    <a:pt x="60960" y="588264"/>
                  </a:lnTo>
                  <a:lnTo>
                    <a:pt x="37290" y="583453"/>
                  </a:lnTo>
                  <a:lnTo>
                    <a:pt x="17907" y="570356"/>
                  </a:lnTo>
                  <a:lnTo>
                    <a:pt x="4810" y="550973"/>
                  </a:lnTo>
                  <a:lnTo>
                    <a:pt x="0" y="527303"/>
                  </a:lnTo>
                  <a:lnTo>
                    <a:pt x="0" y="59436"/>
                  </a:lnTo>
                  <a:lnTo>
                    <a:pt x="4810" y="36004"/>
                  </a:lnTo>
                  <a:lnTo>
                    <a:pt x="17907" y="17145"/>
                  </a:lnTo>
                  <a:lnTo>
                    <a:pt x="37290" y="4572"/>
                  </a:lnTo>
                  <a:lnTo>
                    <a:pt x="60960" y="0"/>
                  </a:lnTo>
                  <a:lnTo>
                    <a:pt x="8935212" y="0"/>
                  </a:lnTo>
                  <a:lnTo>
                    <a:pt x="8958000" y="4572"/>
                  </a:lnTo>
                  <a:lnTo>
                    <a:pt x="8976931" y="17145"/>
                  </a:lnTo>
                  <a:lnTo>
                    <a:pt x="8989861" y="36004"/>
                  </a:lnTo>
                  <a:lnTo>
                    <a:pt x="8994648" y="59436"/>
                  </a:lnTo>
                  <a:lnTo>
                    <a:pt x="8994648" y="527303"/>
                  </a:lnTo>
                  <a:lnTo>
                    <a:pt x="8989861" y="550973"/>
                  </a:lnTo>
                  <a:lnTo>
                    <a:pt x="8976931" y="570356"/>
                  </a:lnTo>
                  <a:lnTo>
                    <a:pt x="8958000" y="583453"/>
                  </a:lnTo>
                  <a:lnTo>
                    <a:pt x="8935212" y="588264"/>
                  </a:lnTo>
                  <a:close/>
                </a:path>
              </a:pathLst>
            </a:custGeom>
            <a:solidFill>
              <a:srgbClr val="311A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832" y="6132576"/>
              <a:ext cx="179831" cy="14325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71241" y="2965126"/>
            <a:ext cx="8726805" cy="345694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 marL="1882775">
              <a:lnSpc>
                <a:spcPct val="100000"/>
              </a:lnSpc>
              <a:spcBef>
                <a:spcPts val="645"/>
              </a:spcBef>
            </a:pPr>
            <a:r>
              <a:rPr dirty="0" sz="1350" spc="-50" b="1">
                <a:solidFill>
                  <a:srgbClr val="C6BFED"/>
                </a:solidFill>
                <a:latin typeface="Arial"/>
                <a:cs typeface="Arial"/>
              </a:rPr>
              <a:t>Key</a:t>
            </a:r>
            <a:r>
              <a:rPr dirty="0" sz="1350" spc="-40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350" spc="-10" b="1">
                <a:solidFill>
                  <a:srgbClr val="C6BFED"/>
                </a:solidFill>
                <a:latin typeface="Arial"/>
                <a:cs typeface="Arial"/>
              </a:rPr>
              <a:t>Insights</a:t>
            </a:r>
            <a:endParaRPr sz="1350">
              <a:latin typeface="Arial"/>
              <a:cs typeface="Arial"/>
            </a:endParaRPr>
          </a:p>
          <a:p>
            <a:pPr marL="5033645" marR="5080" indent="-196850">
              <a:lnSpc>
                <a:spcPct val="136200"/>
              </a:lnSpc>
              <a:buFont typeface="Wingdings"/>
              <a:buChar char=""/>
              <a:tabLst>
                <a:tab pos="5033645" algn="l"/>
              </a:tabLst>
            </a:pPr>
            <a:r>
              <a:rPr dirty="0" sz="1050" spc="-35" b="1">
                <a:solidFill>
                  <a:srgbClr val="C6BFED"/>
                </a:solidFill>
                <a:latin typeface="Arial"/>
                <a:cs typeface="Arial"/>
              </a:rPr>
              <a:t>Strong</a:t>
            </a:r>
            <a:r>
              <a:rPr dirty="0" sz="1050" spc="-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050" spc="-30" b="1">
                <a:solidFill>
                  <a:srgbClr val="C6BFED"/>
                </a:solidFill>
                <a:latin typeface="Arial"/>
                <a:cs typeface="Arial"/>
              </a:rPr>
              <a:t>revenue</a:t>
            </a:r>
            <a:r>
              <a:rPr dirty="0" sz="1050" spc="-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050" spc="-35" b="1">
                <a:solidFill>
                  <a:srgbClr val="C6BFED"/>
                </a:solidFill>
                <a:latin typeface="Arial"/>
                <a:cs typeface="Arial"/>
              </a:rPr>
              <a:t>generation</a:t>
            </a:r>
            <a:r>
              <a:rPr dirty="0" sz="1050" spc="-1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demonstrates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effective</a:t>
            </a:r>
            <a:r>
              <a:rPr dirty="0" sz="10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market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positioning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demand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capture</a:t>
            </a:r>
            <a:r>
              <a:rPr dirty="0" sz="10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during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the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analyzed</a:t>
            </a:r>
            <a:r>
              <a:rPr dirty="0" sz="10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period.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The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$30.5M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revenue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reflects</a:t>
            </a:r>
            <a:r>
              <a:rPr dirty="0" sz="1050" spc="-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consistent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booking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performance</a:t>
            </a:r>
            <a:endParaRPr sz="1050">
              <a:latin typeface="Arial MT"/>
              <a:cs typeface="Arial MT"/>
            </a:endParaRPr>
          </a:p>
          <a:p>
            <a:pPr marL="5033645">
              <a:lnSpc>
                <a:spcPct val="100000"/>
              </a:lnSpc>
              <a:spcBef>
                <a:spcPts val="46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across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both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hotel</a:t>
            </a:r>
            <a:r>
              <a:rPr dirty="0" sz="10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types.</a:t>
            </a:r>
            <a:endParaRPr sz="1050">
              <a:latin typeface="Arial MT"/>
              <a:cs typeface="Arial MT"/>
            </a:endParaRPr>
          </a:p>
          <a:p>
            <a:pPr marL="5024120" indent="-196215">
              <a:lnSpc>
                <a:spcPct val="100000"/>
              </a:lnSpc>
              <a:spcBef>
                <a:spcPts val="315"/>
              </a:spcBef>
              <a:buFont typeface="Wingdings"/>
              <a:buChar char=""/>
              <a:tabLst>
                <a:tab pos="5024120" algn="l"/>
              </a:tabLst>
            </a:pPr>
            <a:r>
              <a:rPr dirty="0" sz="1050" spc="-40" b="1">
                <a:solidFill>
                  <a:srgbClr val="C6BFED"/>
                </a:solidFill>
                <a:latin typeface="Arial"/>
                <a:cs typeface="Arial"/>
              </a:rPr>
              <a:t>Low</a:t>
            </a:r>
            <a:r>
              <a:rPr dirty="0" sz="1050" spc="1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050" spc="-45" b="1">
                <a:solidFill>
                  <a:srgbClr val="C6BFED"/>
                </a:solidFill>
                <a:latin typeface="Arial"/>
                <a:cs typeface="Arial"/>
              </a:rPr>
              <a:t>occupancy</a:t>
            </a:r>
            <a:r>
              <a:rPr dirty="0" sz="1050" spc="-10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050" spc="-20" b="1">
                <a:solidFill>
                  <a:srgbClr val="C6BFED"/>
                </a:solidFill>
                <a:latin typeface="Arial"/>
                <a:cs typeface="Arial"/>
              </a:rPr>
              <a:t>rate</a:t>
            </a:r>
            <a:r>
              <a:rPr dirty="0" sz="1050" spc="-2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C6BFED"/>
                </a:solidFill>
                <a:latin typeface="Arial"/>
                <a:cs typeface="Arial"/>
              </a:rPr>
              <a:t>(28.9%)</a:t>
            </a:r>
            <a:r>
              <a:rPr dirty="0" sz="1050" spc="-2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indicates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significant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unused</a:t>
            </a:r>
            <a:endParaRPr sz="1050">
              <a:latin typeface="Arial MT"/>
              <a:cs typeface="Arial MT"/>
            </a:endParaRPr>
          </a:p>
          <a:p>
            <a:pPr marL="5024755" marR="195580">
              <a:lnSpc>
                <a:spcPct val="136200"/>
              </a:lnSpc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capacity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potential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revenue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loss.</a:t>
            </a:r>
            <a:r>
              <a:rPr dirty="0" sz="1050" spc="-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This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suggests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opportunities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for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improved yield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management</a:t>
            </a:r>
            <a:r>
              <a:rPr dirty="0" sz="1050" spc="4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demand</a:t>
            </a:r>
            <a:endParaRPr sz="1050">
              <a:latin typeface="Arial MT"/>
              <a:cs typeface="Arial MT"/>
            </a:endParaRPr>
          </a:p>
          <a:p>
            <a:pPr marL="5024755">
              <a:lnSpc>
                <a:spcPct val="100000"/>
              </a:lnSpc>
              <a:spcBef>
                <a:spcPts val="46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stimulation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strategies.</a:t>
            </a:r>
            <a:endParaRPr sz="1050">
              <a:latin typeface="Arial MT"/>
              <a:cs typeface="Arial MT"/>
            </a:endParaRPr>
          </a:p>
          <a:p>
            <a:pPr marL="5024755" marR="236220" indent="-196850">
              <a:lnSpc>
                <a:spcPts val="1720"/>
              </a:lnSpc>
              <a:spcBef>
                <a:spcPts val="25"/>
              </a:spcBef>
              <a:buFont typeface="Wingdings"/>
              <a:buChar char=""/>
              <a:tabLst>
                <a:tab pos="5024755" algn="l"/>
              </a:tabLst>
            </a:pPr>
            <a:r>
              <a:rPr dirty="0" sz="1050" spc="-20" b="1">
                <a:solidFill>
                  <a:srgbClr val="C6BFED"/>
                </a:solidFill>
                <a:latin typeface="Arial"/>
                <a:cs typeface="Arial"/>
              </a:rPr>
              <a:t>Seasonal</a:t>
            </a:r>
            <a:r>
              <a:rPr dirty="0" sz="1050" spc="-15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050" spc="-40" b="1">
                <a:solidFill>
                  <a:srgbClr val="C6BFED"/>
                </a:solidFill>
                <a:latin typeface="Arial"/>
                <a:cs typeface="Arial"/>
              </a:rPr>
              <a:t>trends</a:t>
            </a:r>
            <a:r>
              <a:rPr dirty="0" sz="1050" spc="-10" b="1">
                <a:solidFill>
                  <a:srgbClr val="C6BFED"/>
                </a:solidFill>
                <a:latin typeface="Arial"/>
                <a:cs typeface="Arial"/>
              </a:rPr>
              <a:t> </a:t>
            </a:r>
            <a:r>
              <a:rPr dirty="0" sz="1050" spc="-45" b="1">
                <a:solidFill>
                  <a:srgbClr val="C6BFED"/>
                </a:solidFill>
                <a:latin typeface="Arial"/>
                <a:cs typeface="Arial"/>
              </a:rPr>
              <a:t>visible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in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monthly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revenue</a:t>
            </a:r>
            <a:r>
              <a:rPr dirty="0" sz="1050" spc="2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patterns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20">
                <a:solidFill>
                  <a:srgbClr val="C6BFED"/>
                </a:solidFill>
                <a:latin typeface="Arial MT"/>
                <a:cs typeface="Arial MT"/>
              </a:rPr>
              <a:t>show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predictable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peaks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during</a:t>
            </a:r>
            <a:r>
              <a:rPr dirty="0" sz="1050" spc="2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summer months and</a:t>
            </a:r>
            <a:r>
              <a:rPr dirty="0" sz="1050" spc="3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holiday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seasons,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enabling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better</a:t>
            </a:r>
            <a:r>
              <a:rPr dirty="0" sz="105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resource</a:t>
            </a:r>
            <a:r>
              <a:rPr dirty="0" sz="105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planning</a:t>
            </a:r>
            <a:r>
              <a:rPr dirty="0" sz="1050" spc="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and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dynamic</a:t>
            </a:r>
            <a:endParaRPr sz="1050">
              <a:latin typeface="Arial MT"/>
              <a:cs typeface="Arial MT"/>
            </a:endParaRPr>
          </a:p>
          <a:p>
            <a:pPr marL="5024755">
              <a:lnSpc>
                <a:spcPct val="100000"/>
              </a:lnSpc>
              <a:spcBef>
                <a:spcPts val="325"/>
              </a:spcBef>
            </a:pPr>
            <a:r>
              <a:rPr dirty="0" sz="1050">
                <a:solidFill>
                  <a:srgbClr val="C6BFED"/>
                </a:solidFill>
                <a:latin typeface="Arial MT"/>
                <a:cs typeface="Arial MT"/>
              </a:rPr>
              <a:t>pricing</a:t>
            </a:r>
            <a:r>
              <a:rPr dirty="0" sz="1050" spc="1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050" spc="-10">
                <a:solidFill>
                  <a:srgbClr val="C6BFED"/>
                </a:solidFill>
                <a:latin typeface="Arial MT"/>
                <a:cs typeface="Arial MT"/>
              </a:rPr>
              <a:t>implementation.</a:t>
            </a:r>
            <a:endParaRPr sz="1050">
              <a:latin typeface="Arial MT"/>
              <a:cs typeface="Arial MT"/>
            </a:endParaRPr>
          </a:p>
          <a:p>
            <a:pPr marL="59690" marR="711835" indent="-47625">
              <a:lnSpc>
                <a:spcPts val="1880"/>
              </a:lnSpc>
              <a:spcBef>
                <a:spcPts val="760"/>
              </a:spcBef>
            </a:pPr>
            <a:r>
              <a:rPr dirty="0" sz="1650" spc="-195" b="1">
                <a:solidFill>
                  <a:srgbClr val="FBE4D6"/>
                </a:solidFill>
                <a:latin typeface="Tahoma"/>
                <a:cs typeface="Tahoma"/>
              </a:rPr>
              <a:t>Conclusion:</a:t>
            </a:r>
            <a:r>
              <a:rPr dirty="0" sz="1650" spc="-170" b="1">
                <a:solidFill>
                  <a:srgbClr val="FBE4D6"/>
                </a:solidFill>
                <a:latin typeface="Tahoma"/>
                <a:cs typeface="Tahoma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This</a:t>
            </a:r>
            <a:r>
              <a:rPr dirty="0" sz="1650" spc="-1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indicates</a:t>
            </a:r>
            <a:r>
              <a:rPr dirty="0" sz="1650" spc="-4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that</a:t>
            </a:r>
            <a:r>
              <a:rPr dirty="0" sz="1650" spc="-2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while</a:t>
            </a:r>
            <a:r>
              <a:rPr dirty="0" sz="1650" spc="-2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revenue</a:t>
            </a:r>
            <a:r>
              <a:rPr dirty="0" sz="1650" spc="-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performance</a:t>
            </a:r>
            <a:r>
              <a:rPr dirty="0" sz="1650" spc="-2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is</a:t>
            </a:r>
            <a:r>
              <a:rPr dirty="0" sz="1650" spc="-1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strong,</a:t>
            </a:r>
            <a:r>
              <a:rPr dirty="0" sz="1650" spc="-2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improving</a:t>
            </a:r>
            <a:r>
              <a:rPr dirty="0" sz="1650" spc="-4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occupancy</a:t>
            </a:r>
            <a:r>
              <a:rPr dirty="0" sz="1650" spc="-25">
                <a:solidFill>
                  <a:srgbClr val="FBE4D6"/>
                </a:solidFill>
                <a:latin typeface="Calibri"/>
                <a:cs typeface="Calibri"/>
              </a:rPr>
              <a:t> and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leveraging</a:t>
            </a:r>
            <a:r>
              <a:rPr dirty="0" sz="1650" spc="-4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seasonal</a:t>
            </a:r>
            <a:r>
              <a:rPr dirty="0" sz="1650" spc="-2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demand</a:t>
            </a:r>
            <a:r>
              <a:rPr dirty="0" sz="1650" spc="-2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patterns</a:t>
            </a:r>
            <a:r>
              <a:rPr dirty="0" sz="1650" spc="-5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can</a:t>
            </a:r>
            <a:r>
              <a:rPr dirty="0" sz="1650" spc="-2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further</a:t>
            </a:r>
            <a:r>
              <a:rPr dirty="0" sz="1650" spc="-3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enhance</a:t>
            </a:r>
            <a:r>
              <a:rPr dirty="0" sz="1650" spc="-3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overall</a:t>
            </a:r>
            <a:r>
              <a:rPr dirty="0" sz="1650" spc="-3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profitability.</a:t>
            </a:r>
            <a:endParaRPr sz="1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37972" y="5821679"/>
            <a:ext cx="9520555" cy="875030"/>
            <a:chOff x="537972" y="5821679"/>
            <a:chExt cx="9520555" cy="875030"/>
          </a:xfrm>
        </p:grpSpPr>
        <p:sp>
          <p:nvSpPr>
            <p:cNvPr id="4" name="object 4"/>
            <p:cNvSpPr/>
            <p:nvPr/>
          </p:nvSpPr>
          <p:spPr>
            <a:xfrm>
              <a:off x="8799576" y="6323088"/>
              <a:ext cx="1259205" cy="373380"/>
            </a:xfrm>
            <a:custGeom>
              <a:avLst/>
              <a:gdLst/>
              <a:ahLst/>
              <a:cxnLst/>
              <a:rect l="l" t="t" r="r" b="b"/>
              <a:pathLst>
                <a:path w="1259204" h="373379">
                  <a:moveTo>
                    <a:pt x="1258824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1258824" y="373380"/>
                  </a:lnTo>
                  <a:lnTo>
                    <a:pt x="1258824" y="368808"/>
                  </a:lnTo>
                  <a:lnTo>
                    <a:pt x="1258824" y="364236"/>
                  </a:lnTo>
                  <a:lnTo>
                    <a:pt x="1258824" y="7620"/>
                  </a:lnTo>
                  <a:lnTo>
                    <a:pt x="1258824" y="3048"/>
                  </a:lnTo>
                  <a:lnTo>
                    <a:pt x="1258824" y="0"/>
                  </a:lnTo>
                  <a:close/>
                </a:path>
              </a:pathLst>
            </a:custGeom>
            <a:solidFill>
              <a:srgbClr val="000C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37972" y="5821679"/>
              <a:ext cx="8983980" cy="528955"/>
            </a:xfrm>
            <a:custGeom>
              <a:avLst/>
              <a:gdLst/>
              <a:ahLst/>
              <a:cxnLst/>
              <a:rect l="l" t="t" r="r" b="b"/>
              <a:pathLst>
                <a:path w="8983980" h="528954">
                  <a:moveTo>
                    <a:pt x="8927592" y="528827"/>
                  </a:moveTo>
                  <a:lnTo>
                    <a:pt x="56387" y="528827"/>
                  </a:lnTo>
                  <a:lnTo>
                    <a:pt x="34075" y="524517"/>
                  </a:lnTo>
                  <a:lnTo>
                    <a:pt x="16192" y="512635"/>
                  </a:lnTo>
                  <a:lnTo>
                    <a:pt x="4310" y="494752"/>
                  </a:lnTo>
                  <a:lnTo>
                    <a:pt x="0" y="472439"/>
                  </a:lnTo>
                  <a:lnTo>
                    <a:pt x="0" y="56387"/>
                  </a:lnTo>
                  <a:lnTo>
                    <a:pt x="4310" y="34718"/>
                  </a:lnTo>
                  <a:lnTo>
                    <a:pt x="16192" y="16763"/>
                  </a:lnTo>
                  <a:lnTo>
                    <a:pt x="34075" y="4524"/>
                  </a:lnTo>
                  <a:lnTo>
                    <a:pt x="56387" y="0"/>
                  </a:lnTo>
                  <a:lnTo>
                    <a:pt x="8927592" y="0"/>
                  </a:lnTo>
                  <a:lnTo>
                    <a:pt x="8949904" y="4524"/>
                  </a:lnTo>
                  <a:lnTo>
                    <a:pt x="8967787" y="16763"/>
                  </a:lnTo>
                  <a:lnTo>
                    <a:pt x="8979670" y="34718"/>
                  </a:lnTo>
                  <a:lnTo>
                    <a:pt x="8983980" y="56387"/>
                  </a:lnTo>
                  <a:lnTo>
                    <a:pt x="8983980" y="472439"/>
                  </a:lnTo>
                  <a:lnTo>
                    <a:pt x="8979670" y="494752"/>
                  </a:lnTo>
                  <a:lnTo>
                    <a:pt x="8967787" y="512635"/>
                  </a:lnTo>
                  <a:lnTo>
                    <a:pt x="8949904" y="524517"/>
                  </a:lnTo>
                  <a:lnTo>
                    <a:pt x="8927592" y="528827"/>
                  </a:lnTo>
                  <a:close/>
                </a:path>
              </a:pathLst>
            </a:custGeom>
            <a:solidFill>
              <a:srgbClr val="311A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944" y="6013703"/>
              <a:ext cx="121919" cy="118872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23796" y="1622509"/>
            <a:ext cx="4046220" cy="4337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Booking</a:t>
            </a:r>
            <a:r>
              <a:rPr dirty="0" spc="75"/>
              <a:t> </a:t>
            </a:r>
            <a:r>
              <a:rPr dirty="0"/>
              <a:t>Behavior</a:t>
            </a:r>
            <a:r>
              <a:rPr dirty="0" spc="-85"/>
              <a:t> </a:t>
            </a:r>
            <a:r>
              <a:rPr dirty="0" spc="-10"/>
              <a:t>Analysis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3706" y="2166658"/>
            <a:ext cx="4330065" cy="3347720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31750">
              <a:lnSpc>
                <a:spcPct val="98800"/>
              </a:lnSpc>
              <a:spcBef>
                <a:spcPts val="150"/>
              </a:spcBef>
            </a:pP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This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dashboard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focuses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on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analyzing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customer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booking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behavior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reservation</a:t>
            </a:r>
            <a:r>
              <a:rPr dirty="0" sz="1350" spc="-1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patterns.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It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helps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in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understanding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how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different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types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of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customers</a:t>
            </a:r>
            <a:r>
              <a:rPr dirty="0" sz="1350" spc="-1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interact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with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hotel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channels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services.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1500">
                <a:solidFill>
                  <a:srgbClr val="C6BFED"/>
                </a:solidFill>
                <a:latin typeface="Arial MT"/>
                <a:cs typeface="Arial MT"/>
              </a:rPr>
              <a:t>Key</a:t>
            </a:r>
            <a:r>
              <a:rPr dirty="0" sz="150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C6BFED"/>
                </a:solidFill>
                <a:latin typeface="Arial MT"/>
                <a:cs typeface="Arial MT"/>
              </a:rPr>
              <a:t>Metrics</a:t>
            </a:r>
            <a:endParaRPr sz="1500">
              <a:latin typeface="Arial MT"/>
              <a:cs typeface="Arial MT"/>
            </a:endParaRPr>
          </a:p>
          <a:p>
            <a:pPr marL="248920" indent="-236220">
              <a:lnSpc>
                <a:spcPts val="1580"/>
              </a:lnSpc>
              <a:spcBef>
                <a:spcPts val="785"/>
              </a:spcBef>
              <a:buChar char="•"/>
              <a:tabLst>
                <a:tab pos="248920" algn="l"/>
              </a:tabLst>
            </a:pP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Transient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customers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dominate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bookings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(~</a:t>
            </a:r>
            <a:r>
              <a:rPr dirty="0" sz="1350" spc="-35" b="1">
                <a:solidFill>
                  <a:srgbClr val="DAD8E8"/>
                </a:solidFill>
                <a:latin typeface="Tahoma"/>
                <a:cs typeface="Tahoma"/>
              </a:rPr>
              <a:t>67%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)</a:t>
            </a:r>
            <a:endParaRPr sz="1350">
              <a:latin typeface="Tahoma"/>
              <a:cs typeface="Tahoma"/>
            </a:endParaRPr>
          </a:p>
          <a:p>
            <a:pPr marL="248920" marR="361315" indent="-236854">
              <a:lnSpc>
                <a:spcPts val="1630"/>
              </a:lnSpc>
              <a:spcBef>
                <a:spcPts val="5"/>
              </a:spcBef>
              <a:buChar char="•"/>
              <a:tabLst>
                <a:tab pos="248920" algn="l"/>
              </a:tabLst>
            </a:pP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New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customers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account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for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4">
                <a:solidFill>
                  <a:srgbClr val="DAD8E8"/>
                </a:solidFill>
                <a:latin typeface="Tahoma"/>
                <a:cs typeface="Tahoma"/>
              </a:rPr>
              <a:t>~</a:t>
            </a:r>
            <a:r>
              <a:rPr dirty="0" sz="1350" spc="-254" b="1">
                <a:solidFill>
                  <a:srgbClr val="DAD8E8"/>
                </a:solidFill>
                <a:latin typeface="Tahoma"/>
                <a:cs typeface="Tahoma"/>
              </a:rPr>
              <a:t>96%</a:t>
            </a:r>
            <a:r>
              <a:rPr dirty="0" sz="1350" spc="-125" b="1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of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total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bookings,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while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repeat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customers</a:t>
            </a:r>
            <a:r>
              <a:rPr dirty="0" sz="1350" spc="-1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are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very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low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(~</a:t>
            </a:r>
            <a:r>
              <a:rPr dirty="0" sz="1350" spc="-20" b="1">
                <a:solidFill>
                  <a:srgbClr val="DAD8E8"/>
                </a:solidFill>
                <a:latin typeface="Tahoma"/>
                <a:cs typeface="Tahoma"/>
              </a:rPr>
              <a:t>3%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)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ts val="1480"/>
              </a:lnSpc>
              <a:buChar char="•"/>
              <a:tabLst>
                <a:tab pos="248920" algn="l"/>
              </a:tabLst>
            </a:pP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Travel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agents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(TA/TO)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contribute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approximately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70">
                <a:solidFill>
                  <a:srgbClr val="DAD8E8"/>
                </a:solidFill>
                <a:latin typeface="Tahoma"/>
                <a:cs typeface="Tahoma"/>
              </a:rPr>
              <a:t>~</a:t>
            </a:r>
            <a:r>
              <a:rPr dirty="0" sz="1350" spc="-270" b="1">
                <a:solidFill>
                  <a:srgbClr val="DAD8E8"/>
                </a:solidFill>
                <a:latin typeface="Tahoma"/>
                <a:cs typeface="Tahoma"/>
              </a:rPr>
              <a:t>77%</a:t>
            </a:r>
            <a:r>
              <a:rPr dirty="0" sz="1350" spc="-95" b="1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of</a:t>
            </a:r>
            <a:endParaRPr sz="1350">
              <a:latin typeface="Tahoma"/>
              <a:cs typeface="Tahoma"/>
            </a:endParaRPr>
          </a:p>
          <a:p>
            <a:pPr marL="248920">
              <a:lnSpc>
                <a:spcPct val="100000"/>
              </a:lnSpc>
              <a:spcBef>
                <a:spcPts val="10"/>
              </a:spcBef>
            </a:pP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total</a:t>
            </a:r>
            <a:r>
              <a:rPr dirty="0" sz="1350" spc="-1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bookings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64"/>
              </a:spcBef>
            </a:pPr>
            <a:r>
              <a:rPr dirty="0" sz="1500">
                <a:solidFill>
                  <a:srgbClr val="C6BFED"/>
                </a:solidFill>
                <a:latin typeface="Arial MT"/>
                <a:cs typeface="Arial MT"/>
              </a:rPr>
              <a:t>Strategic</a:t>
            </a:r>
            <a:r>
              <a:rPr dirty="0" sz="150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C6BFED"/>
                </a:solidFill>
                <a:latin typeface="Arial MT"/>
                <a:cs typeface="Arial MT"/>
              </a:rPr>
              <a:t>Insights</a:t>
            </a:r>
            <a:endParaRPr sz="1500">
              <a:latin typeface="Arial MT"/>
              <a:cs typeface="Arial MT"/>
            </a:endParaRPr>
          </a:p>
          <a:p>
            <a:pPr marL="248920" indent="-236220">
              <a:lnSpc>
                <a:spcPts val="1600"/>
              </a:lnSpc>
              <a:spcBef>
                <a:spcPts val="700"/>
              </a:spcBef>
              <a:buChar char="•"/>
              <a:tabLst>
                <a:tab pos="248920" algn="l"/>
              </a:tabLst>
            </a:pP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The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is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highly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dependent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on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new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customers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ts val="1585"/>
              </a:lnSpc>
              <a:buChar char="•"/>
              <a:tabLst>
                <a:tab pos="248920" algn="l"/>
              </a:tabLst>
            </a:pP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Customer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retention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is</a:t>
            </a: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significantly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low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ts val="1600"/>
              </a:lnSpc>
              <a:buChar char="•"/>
              <a:tabLst>
                <a:tab pos="248920" algn="l"/>
              </a:tabLst>
            </a:pP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There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is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strong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reliance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on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third-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party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platforms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9663" y="5975089"/>
            <a:ext cx="7093584" cy="1828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110" b="1">
                <a:solidFill>
                  <a:srgbClr val="FFFFFF"/>
                </a:solidFill>
                <a:latin typeface="Tahoma"/>
                <a:cs typeface="Tahoma"/>
              </a:rPr>
              <a:t>Conclusion:</a:t>
            </a:r>
            <a:r>
              <a:rPr dirty="0" sz="100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dirty="0" sz="10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indicates</a:t>
            </a:r>
            <a:r>
              <a:rPr dirty="0" sz="10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dirty="0" sz="10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improving</a:t>
            </a:r>
            <a:r>
              <a:rPr dirty="0" sz="10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dirty="0" sz="10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retention</a:t>
            </a:r>
            <a:r>
              <a:rPr dirty="0" sz="10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35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0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Tahoma"/>
                <a:cs typeface="Tahoma"/>
              </a:rPr>
              <a:t>increasing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direct</a:t>
            </a:r>
            <a:r>
              <a:rPr dirty="0" sz="10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bookings</a:t>
            </a:r>
            <a:r>
              <a:rPr dirty="0" sz="1000" spc="-5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dirty="0" sz="10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Tahoma"/>
                <a:cs typeface="Tahoma"/>
              </a:rPr>
              <a:t>essential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dirty="0" sz="100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30">
                <a:solidFill>
                  <a:srgbClr val="FFFFFF"/>
                </a:solidFill>
                <a:latin typeface="Tahoma"/>
                <a:cs typeface="Tahoma"/>
              </a:rPr>
              <a:t>long-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term</a:t>
            </a:r>
            <a:r>
              <a:rPr dirty="0" sz="10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profitability.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72227" y="2109216"/>
            <a:ext cx="5186171" cy="36362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90837" y="1445779"/>
            <a:ext cx="3978275" cy="4337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Revenue</a:t>
            </a:r>
            <a:r>
              <a:rPr dirty="0" spc="-15"/>
              <a:t> </a:t>
            </a:r>
            <a:r>
              <a:rPr dirty="0" sz="2450"/>
              <a:t>&amp;</a:t>
            </a:r>
            <a:r>
              <a:rPr dirty="0" sz="2450" spc="15"/>
              <a:t> </a:t>
            </a:r>
            <a:r>
              <a:rPr dirty="0" sz="2450"/>
              <a:t>Pricing</a:t>
            </a:r>
            <a:r>
              <a:rPr dirty="0" sz="2450" spc="-130"/>
              <a:t> </a:t>
            </a:r>
            <a:r>
              <a:rPr dirty="0" sz="2450" spc="-10"/>
              <a:t>Analysis</a:t>
            </a:r>
            <a:endParaRPr sz="2450"/>
          </a:p>
        </p:txBody>
      </p:sp>
      <p:grpSp>
        <p:nvGrpSpPr>
          <p:cNvPr id="4" name="object 4"/>
          <p:cNvGrpSpPr/>
          <p:nvPr/>
        </p:nvGrpSpPr>
        <p:grpSpPr>
          <a:xfrm>
            <a:off x="603504" y="5707379"/>
            <a:ext cx="8994775" cy="588645"/>
            <a:chOff x="603504" y="5707379"/>
            <a:chExt cx="8994775" cy="588645"/>
          </a:xfrm>
        </p:grpSpPr>
        <p:sp>
          <p:nvSpPr>
            <p:cNvPr id="5" name="object 5"/>
            <p:cNvSpPr/>
            <p:nvPr/>
          </p:nvSpPr>
          <p:spPr>
            <a:xfrm>
              <a:off x="603504" y="5707379"/>
              <a:ext cx="8994775" cy="588645"/>
            </a:xfrm>
            <a:custGeom>
              <a:avLst/>
              <a:gdLst/>
              <a:ahLst/>
              <a:cxnLst/>
              <a:rect l="l" t="t" r="r" b="b"/>
              <a:pathLst>
                <a:path w="8994775" h="588645">
                  <a:moveTo>
                    <a:pt x="8935212" y="588264"/>
                  </a:moveTo>
                  <a:lnTo>
                    <a:pt x="60960" y="588264"/>
                  </a:lnTo>
                  <a:lnTo>
                    <a:pt x="37290" y="583453"/>
                  </a:lnTo>
                  <a:lnTo>
                    <a:pt x="17907" y="570356"/>
                  </a:lnTo>
                  <a:lnTo>
                    <a:pt x="4810" y="550973"/>
                  </a:lnTo>
                  <a:lnTo>
                    <a:pt x="0" y="527303"/>
                  </a:lnTo>
                  <a:lnTo>
                    <a:pt x="0" y="59436"/>
                  </a:lnTo>
                  <a:lnTo>
                    <a:pt x="4810" y="36004"/>
                  </a:lnTo>
                  <a:lnTo>
                    <a:pt x="17907" y="17145"/>
                  </a:lnTo>
                  <a:lnTo>
                    <a:pt x="37290" y="4572"/>
                  </a:lnTo>
                  <a:lnTo>
                    <a:pt x="60960" y="0"/>
                  </a:lnTo>
                  <a:lnTo>
                    <a:pt x="8935212" y="0"/>
                  </a:lnTo>
                  <a:lnTo>
                    <a:pt x="8958643" y="4572"/>
                  </a:lnTo>
                  <a:lnTo>
                    <a:pt x="8977502" y="17145"/>
                  </a:lnTo>
                  <a:lnTo>
                    <a:pt x="8990076" y="36004"/>
                  </a:lnTo>
                  <a:lnTo>
                    <a:pt x="8994648" y="59436"/>
                  </a:lnTo>
                  <a:lnTo>
                    <a:pt x="8994648" y="527303"/>
                  </a:lnTo>
                  <a:lnTo>
                    <a:pt x="8990076" y="550973"/>
                  </a:lnTo>
                  <a:lnTo>
                    <a:pt x="8977502" y="570356"/>
                  </a:lnTo>
                  <a:lnTo>
                    <a:pt x="8958643" y="583453"/>
                  </a:lnTo>
                  <a:lnTo>
                    <a:pt x="8935212" y="588264"/>
                  </a:lnTo>
                  <a:close/>
                </a:path>
              </a:pathLst>
            </a:custGeom>
            <a:solidFill>
              <a:srgbClr val="311A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4192" y="5916167"/>
              <a:ext cx="128015" cy="1341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90720" y="2187965"/>
            <a:ext cx="8925560" cy="39052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>
                <a:solidFill>
                  <a:srgbClr val="C6BFED"/>
                </a:solidFill>
                <a:latin typeface="Arial MT"/>
                <a:cs typeface="Arial MT"/>
              </a:rPr>
              <a:t>Analysis</a:t>
            </a:r>
            <a:r>
              <a:rPr dirty="0" sz="1500" spc="-10">
                <a:solidFill>
                  <a:srgbClr val="C6BFED"/>
                </a:solidFill>
                <a:latin typeface="Arial MT"/>
                <a:cs typeface="Arial MT"/>
              </a:rPr>
              <a:t> Overview</a:t>
            </a:r>
            <a:endParaRPr sz="1500">
              <a:latin typeface="Arial MT"/>
              <a:cs typeface="Arial MT"/>
            </a:endParaRPr>
          </a:p>
          <a:p>
            <a:pPr marL="12700" marR="4797425">
              <a:lnSpc>
                <a:spcPct val="113300"/>
              </a:lnSpc>
              <a:spcBef>
                <a:spcPts val="955"/>
              </a:spcBef>
            </a:pP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This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analysis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focuses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on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performance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pricing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strategy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across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the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portfolio.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500">
                <a:solidFill>
                  <a:srgbClr val="C6BFED"/>
                </a:solidFill>
                <a:latin typeface="Arial MT"/>
                <a:cs typeface="Arial MT"/>
              </a:rPr>
              <a:t>Revenue</a:t>
            </a:r>
            <a:r>
              <a:rPr dirty="0" sz="1500" spc="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500">
                <a:solidFill>
                  <a:srgbClr val="C6BFED"/>
                </a:solidFill>
                <a:latin typeface="Arial MT"/>
                <a:cs typeface="Arial MT"/>
              </a:rPr>
              <a:t>Distribution</a:t>
            </a:r>
            <a:r>
              <a:rPr dirty="0" sz="1500" spc="-9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C6BFED"/>
                </a:solidFill>
                <a:latin typeface="Arial MT"/>
                <a:cs typeface="Arial MT"/>
              </a:rPr>
              <a:t>Analysis</a:t>
            </a:r>
            <a:endParaRPr sz="1500">
              <a:latin typeface="Arial MT"/>
              <a:cs typeface="Arial MT"/>
            </a:endParaRPr>
          </a:p>
          <a:p>
            <a:pPr marL="248920" indent="-236220">
              <a:lnSpc>
                <a:spcPct val="100000"/>
              </a:lnSpc>
              <a:spcBef>
                <a:spcPts val="1085"/>
              </a:spcBef>
              <a:buChar char="•"/>
              <a:tabLst>
                <a:tab pos="248920" algn="l"/>
              </a:tabLst>
            </a:pP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by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type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(City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vs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Resort)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165"/>
              </a:spcBef>
              <a:buChar char="•"/>
              <a:tabLst>
                <a:tab pos="248920" algn="l"/>
              </a:tabLst>
            </a:pP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by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room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type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170"/>
              </a:spcBef>
              <a:buChar char="•"/>
              <a:tabLst>
                <a:tab pos="248920" algn="l"/>
              </a:tabLst>
            </a:pP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by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market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segment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DAD8E8"/>
              </a:buClr>
              <a:buFont typeface="Tahoma"/>
              <a:buChar char="•"/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solidFill>
                  <a:srgbClr val="C6BFED"/>
                </a:solidFill>
                <a:latin typeface="Arial MT"/>
                <a:cs typeface="Arial MT"/>
              </a:rPr>
              <a:t>Key</a:t>
            </a:r>
            <a:r>
              <a:rPr dirty="0" sz="1500" spc="-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C6BFED"/>
                </a:solidFill>
                <a:latin typeface="Arial MT"/>
                <a:cs typeface="Arial MT"/>
              </a:rPr>
              <a:t>Insights</a:t>
            </a:r>
            <a:endParaRPr sz="1500">
              <a:latin typeface="Arial MT"/>
              <a:cs typeface="Arial MT"/>
            </a:endParaRPr>
          </a:p>
          <a:p>
            <a:pPr marL="248920" indent="-236220">
              <a:lnSpc>
                <a:spcPct val="100000"/>
              </a:lnSpc>
              <a:spcBef>
                <a:spcPts val="1085"/>
              </a:spcBef>
              <a:buChar char="•"/>
              <a:tabLst>
                <a:tab pos="248920" algn="l"/>
              </a:tabLst>
            </a:pP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City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hotels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generate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higher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than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resort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hotels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170"/>
              </a:spcBef>
              <a:buChar char="•"/>
              <a:tabLst>
                <a:tab pos="248920" algn="l"/>
              </a:tabLst>
            </a:pP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Certain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room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types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contribute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more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endParaRPr sz="13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165"/>
              </a:spcBef>
              <a:buChar char="•"/>
              <a:tabLst>
                <a:tab pos="248920" algn="l"/>
              </a:tabLst>
            </a:pP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Online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TA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generates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highest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(~50%)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ahoma"/>
              <a:cs typeface="Tahoma"/>
            </a:endParaRPr>
          </a:p>
          <a:p>
            <a:pPr marL="478790">
              <a:lnSpc>
                <a:spcPct val="100000"/>
              </a:lnSpc>
            </a:pPr>
            <a:r>
              <a:rPr dirty="0" sz="1650" spc="-195" b="1">
                <a:solidFill>
                  <a:srgbClr val="FFFFFF"/>
                </a:solidFill>
                <a:latin typeface="Tahoma"/>
                <a:cs typeface="Tahoma"/>
              </a:rPr>
              <a:t>Conclusion:</a:t>
            </a:r>
            <a:r>
              <a:rPr dirty="0" sz="165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FFFFFF"/>
                </a:solidFill>
                <a:latin typeface="Tahoma"/>
                <a:cs typeface="Tahoma"/>
              </a:rPr>
              <a:t>This</a:t>
            </a:r>
            <a:r>
              <a:rPr dirty="0" sz="16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45">
                <a:solidFill>
                  <a:srgbClr val="FFFFFF"/>
                </a:solidFill>
                <a:latin typeface="Tahoma"/>
                <a:cs typeface="Tahoma"/>
              </a:rPr>
              <a:t>indicates</a:t>
            </a:r>
            <a:r>
              <a:rPr dirty="0" sz="165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dirty="0" sz="16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35">
                <a:solidFill>
                  <a:srgbClr val="FFFFFF"/>
                </a:solidFill>
                <a:latin typeface="Tahoma"/>
                <a:cs typeface="Tahoma"/>
              </a:rPr>
              <a:t>pricing</a:t>
            </a:r>
            <a:r>
              <a:rPr dirty="0" sz="16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6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70">
                <a:solidFill>
                  <a:srgbClr val="FFFFFF"/>
                </a:solidFill>
                <a:latin typeface="Tahoma"/>
                <a:cs typeface="Tahoma"/>
              </a:rPr>
              <a:t>demand</a:t>
            </a:r>
            <a:r>
              <a:rPr dirty="0" sz="16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80">
                <a:solidFill>
                  <a:srgbClr val="FFFFFF"/>
                </a:solidFill>
                <a:latin typeface="Tahoma"/>
                <a:cs typeface="Tahoma"/>
              </a:rPr>
              <a:t>vary</a:t>
            </a:r>
            <a:r>
              <a:rPr dirty="0" sz="16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65">
                <a:solidFill>
                  <a:srgbClr val="FFFFFF"/>
                </a:solidFill>
                <a:latin typeface="Tahoma"/>
                <a:cs typeface="Tahoma"/>
              </a:rPr>
              <a:t>across</a:t>
            </a:r>
            <a:r>
              <a:rPr dirty="0" sz="16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60">
                <a:solidFill>
                  <a:srgbClr val="FFFFFF"/>
                </a:solidFill>
                <a:latin typeface="Tahoma"/>
                <a:cs typeface="Tahoma"/>
              </a:rPr>
              <a:t>segments</a:t>
            </a:r>
            <a:r>
              <a:rPr dirty="0" sz="16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75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16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40">
                <a:solidFill>
                  <a:srgbClr val="FFFFFF"/>
                </a:solidFill>
                <a:latin typeface="Tahoma"/>
                <a:cs typeface="Tahoma"/>
              </a:rPr>
              <a:t>require</a:t>
            </a:r>
            <a:r>
              <a:rPr dirty="0" sz="165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Tahoma"/>
                <a:cs typeface="Tahoma"/>
              </a:rPr>
              <a:t>optimization.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3647" y="1969008"/>
            <a:ext cx="5254751" cy="364997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799576" y="6323088"/>
            <a:ext cx="1259205" cy="373380"/>
          </a:xfrm>
          <a:custGeom>
            <a:avLst/>
            <a:gdLst/>
            <a:ahLst/>
            <a:cxnLst/>
            <a:rect l="l" t="t" r="r" b="b"/>
            <a:pathLst>
              <a:path w="1259204" h="373379">
                <a:moveTo>
                  <a:pt x="1258824" y="0"/>
                </a:moveTo>
                <a:lnTo>
                  <a:pt x="0" y="0"/>
                </a:lnTo>
                <a:lnTo>
                  <a:pt x="0" y="373380"/>
                </a:lnTo>
                <a:lnTo>
                  <a:pt x="1258824" y="373380"/>
                </a:lnTo>
                <a:lnTo>
                  <a:pt x="1258824" y="368808"/>
                </a:lnTo>
                <a:lnTo>
                  <a:pt x="1258824" y="364236"/>
                </a:lnTo>
                <a:lnTo>
                  <a:pt x="1258824" y="7620"/>
                </a:lnTo>
                <a:lnTo>
                  <a:pt x="1258824" y="3048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4801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dirty="0"/>
              <a:t>Quarterly</a:t>
            </a:r>
            <a:r>
              <a:rPr dirty="0" spc="-100"/>
              <a:t> </a:t>
            </a:r>
            <a:r>
              <a:rPr dirty="0"/>
              <a:t>Revenue</a:t>
            </a:r>
            <a:r>
              <a:rPr dirty="0" spc="-165"/>
              <a:t> </a:t>
            </a:r>
            <a:r>
              <a:rPr dirty="0" spc="-10"/>
              <a:t>Trends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Revenue</a:t>
            </a:r>
            <a:r>
              <a:rPr dirty="0" spc="100"/>
              <a:t> </a:t>
            </a:r>
            <a:r>
              <a:rPr dirty="0"/>
              <a:t>Distribution</a:t>
            </a:r>
            <a:r>
              <a:rPr dirty="0" spc="5"/>
              <a:t> </a:t>
            </a:r>
            <a:r>
              <a:rPr dirty="0" spc="-10"/>
              <a:t>Analysis</a:t>
            </a:r>
          </a:p>
          <a:p>
            <a:pPr marL="12700" marR="5080">
              <a:lnSpc>
                <a:spcPct val="142600"/>
              </a:lnSpc>
              <a:spcBef>
                <a:spcPts val="980"/>
              </a:spcBef>
            </a:pP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1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distribution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across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quarters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demonstrates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strong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seasonal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patterns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in</a:t>
            </a:r>
            <a:r>
              <a:rPr dirty="0" sz="11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15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demand.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00"/>
              <a:t>Quarterly</a:t>
            </a:r>
            <a:r>
              <a:rPr dirty="0" sz="1300" spc="-10"/>
              <a:t> Breakdown</a:t>
            </a:r>
            <a:endParaRPr sz="1300"/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300"/>
          </a:p>
          <a:p>
            <a:pPr marL="248920" indent="-236220">
              <a:lnSpc>
                <a:spcPct val="100000"/>
              </a:lnSpc>
              <a:buChar char="•"/>
              <a:tabLst>
                <a:tab pos="248920" algn="l"/>
              </a:tabLst>
            </a:pP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Q3</a:t>
            </a:r>
            <a:r>
              <a:rPr dirty="0" sz="115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contributes 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highest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(~46%)</a:t>
            </a:r>
            <a:endParaRPr sz="11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540"/>
              </a:spcBef>
              <a:buChar char="•"/>
              <a:tabLst>
                <a:tab pos="248920" algn="l"/>
              </a:tabLst>
            </a:pPr>
            <a:r>
              <a:rPr dirty="0" sz="1150" spc="-145">
                <a:solidFill>
                  <a:srgbClr val="DAD8E8"/>
                </a:solidFill>
                <a:latin typeface="Tahoma"/>
                <a:cs typeface="Tahoma"/>
              </a:rPr>
              <a:t>Q1</a:t>
            </a:r>
            <a:r>
              <a:rPr dirty="0" sz="11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contributes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lowest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endParaRPr sz="1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DAD8E8"/>
              </a:buClr>
              <a:buFont typeface="Tahoma"/>
              <a:buChar char="•"/>
            </a:pP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00"/>
              <a:t>Key </a:t>
            </a:r>
            <a:r>
              <a:rPr dirty="0" sz="1300" spc="-10"/>
              <a:t>Insights</a:t>
            </a:r>
            <a:endParaRPr sz="1300"/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300"/>
          </a:p>
          <a:p>
            <a:pPr marL="248920" indent="-236220">
              <a:lnSpc>
                <a:spcPct val="100000"/>
              </a:lnSpc>
              <a:buChar char="•"/>
              <a:tabLst>
                <a:tab pos="248920" algn="l"/>
              </a:tabLst>
            </a:pP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Strong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seasonal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variation 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in</a:t>
            </a:r>
            <a:r>
              <a:rPr dirty="0" sz="11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demand</a:t>
            </a:r>
            <a:endParaRPr sz="1150">
              <a:latin typeface="Tahoma"/>
              <a:cs typeface="Tahoma"/>
            </a:endParaRPr>
          </a:p>
          <a:p>
            <a:pPr marL="248920" indent="-236220">
              <a:lnSpc>
                <a:spcPct val="100000"/>
              </a:lnSpc>
              <a:spcBef>
                <a:spcPts val="540"/>
              </a:spcBef>
              <a:buChar char="•"/>
              <a:tabLst>
                <a:tab pos="248920" algn="l"/>
              </a:tabLst>
            </a:pP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Peak</a:t>
            </a:r>
            <a:r>
              <a:rPr dirty="0" sz="11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seasons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 significantly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impact</a:t>
            </a:r>
            <a:r>
              <a:rPr dirty="0" sz="11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6551" y="5571744"/>
            <a:ext cx="8846820" cy="643255"/>
            <a:chOff x="606551" y="5571744"/>
            <a:chExt cx="8846820" cy="643255"/>
          </a:xfrm>
        </p:grpSpPr>
        <p:sp>
          <p:nvSpPr>
            <p:cNvPr id="6" name="object 6"/>
            <p:cNvSpPr/>
            <p:nvPr/>
          </p:nvSpPr>
          <p:spPr>
            <a:xfrm>
              <a:off x="606551" y="5571744"/>
              <a:ext cx="8846820" cy="643255"/>
            </a:xfrm>
            <a:custGeom>
              <a:avLst/>
              <a:gdLst/>
              <a:ahLst/>
              <a:cxnLst/>
              <a:rect l="l" t="t" r="r" b="b"/>
              <a:pathLst>
                <a:path w="8846820" h="643254">
                  <a:moveTo>
                    <a:pt x="8782812" y="643127"/>
                  </a:moveTo>
                  <a:lnTo>
                    <a:pt x="64008" y="643127"/>
                  </a:lnTo>
                  <a:lnTo>
                    <a:pt x="39219" y="638294"/>
                  </a:lnTo>
                  <a:lnTo>
                    <a:pt x="18859" y="625030"/>
                  </a:lnTo>
                  <a:lnTo>
                    <a:pt x="5072" y="605194"/>
                  </a:lnTo>
                  <a:lnTo>
                    <a:pt x="0" y="580644"/>
                  </a:lnTo>
                  <a:lnTo>
                    <a:pt x="0" y="64008"/>
                  </a:lnTo>
                  <a:lnTo>
                    <a:pt x="5072" y="39219"/>
                  </a:lnTo>
                  <a:lnTo>
                    <a:pt x="18859" y="18859"/>
                  </a:lnTo>
                  <a:lnTo>
                    <a:pt x="39219" y="5072"/>
                  </a:lnTo>
                  <a:lnTo>
                    <a:pt x="64008" y="0"/>
                  </a:lnTo>
                  <a:lnTo>
                    <a:pt x="8782812" y="0"/>
                  </a:lnTo>
                  <a:lnTo>
                    <a:pt x="8807600" y="5072"/>
                  </a:lnTo>
                  <a:lnTo>
                    <a:pt x="8827960" y="18859"/>
                  </a:lnTo>
                  <a:lnTo>
                    <a:pt x="8841747" y="39219"/>
                  </a:lnTo>
                  <a:lnTo>
                    <a:pt x="8846819" y="64008"/>
                  </a:lnTo>
                  <a:lnTo>
                    <a:pt x="8846819" y="580644"/>
                  </a:lnTo>
                  <a:lnTo>
                    <a:pt x="8841747" y="605194"/>
                  </a:lnTo>
                  <a:lnTo>
                    <a:pt x="8827960" y="625030"/>
                  </a:lnTo>
                  <a:lnTo>
                    <a:pt x="8807600" y="638294"/>
                  </a:lnTo>
                  <a:lnTo>
                    <a:pt x="8782812" y="643127"/>
                  </a:lnTo>
                  <a:close/>
                </a:path>
              </a:pathLst>
            </a:custGeom>
            <a:solidFill>
              <a:srgbClr val="311A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951" y="5797296"/>
              <a:ext cx="188975" cy="1524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84627" y="5776983"/>
            <a:ext cx="463677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125" b="1">
                <a:solidFill>
                  <a:srgbClr val="FFFFFF"/>
                </a:solidFill>
                <a:latin typeface="Tahoma"/>
                <a:cs typeface="Tahoma"/>
              </a:rPr>
              <a:t>Conclusion:</a:t>
            </a:r>
            <a:r>
              <a:rPr dirty="0" sz="1150" spc="-1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30">
                <a:solidFill>
                  <a:srgbClr val="FFFFFF"/>
                </a:solidFill>
                <a:latin typeface="Tahoma"/>
                <a:cs typeface="Tahoma"/>
              </a:rPr>
              <a:t>Hotels </a:t>
            </a:r>
            <a:r>
              <a:rPr dirty="0" sz="1150" spc="-35">
                <a:solidFill>
                  <a:srgbClr val="FFFFFF"/>
                </a:solidFill>
                <a:latin typeface="Tahoma"/>
                <a:cs typeface="Tahoma"/>
              </a:rPr>
              <a:t>should</a:t>
            </a:r>
            <a:r>
              <a:rPr dirty="0" sz="115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FFFFFF"/>
                </a:solidFill>
                <a:latin typeface="Tahoma"/>
                <a:cs typeface="Tahoma"/>
              </a:rPr>
              <a:t>adopt</a:t>
            </a:r>
            <a:r>
              <a:rPr dirty="0" sz="115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40">
                <a:solidFill>
                  <a:srgbClr val="FFFFFF"/>
                </a:solidFill>
                <a:latin typeface="Tahoma"/>
                <a:cs typeface="Tahoma"/>
              </a:rPr>
              <a:t>dynamic</a:t>
            </a:r>
            <a:r>
              <a:rPr dirty="0" sz="115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FFFFFF"/>
                </a:solidFill>
                <a:latin typeface="Tahoma"/>
                <a:cs typeface="Tahoma"/>
              </a:rPr>
              <a:t>pricing</a:t>
            </a:r>
            <a:r>
              <a:rPr dirty="0" sz="1150" spc="-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50">
                <a:solidFill>
                  <a:srgbClr val="FFFFFF"/>
                </a:solidFill>
                <a:latin typeface="Tahoma"/>
                <a:cs typeface="Tahoma"/>
              </a:rPr>
              <a:t>based</a:t>
            </a:r>
            <a:r>
              <a:rPr dirty="0" sz="115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dirty="0" sz="115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FFFFFF"/>
                </a:solidFill>
                <a:latin typeface="Tahoma"/>
                <a:cs typeface="Tahoma"/>
              </a:rPr>
              <a:t>seasonal</a:t>
            </a:r>
            <a:r>
              <a:rPr dirty="0" sz="115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Tahoma"/>
                <a:cs typeface="Tahoma"/>
              </a:rPr>
              <a:t>demand.</a:t>
            </a:r>
            <a:endParaRPr sz="11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756" y="2168651"/>
            <a:ext cx="3459479" cy="324611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799576" y="6323088"/>
            <a:ext cx="1259205" cy="373380"/>
          </a:xfrm>
          <a:custGeom>
            <a:avLst/>
            <a:gdLst/>
            <a:ahLst/>
            <a:cxnLst/>
            <a:rect l="l" t="t" r="r" b="b"/>
            <a:pathLst>
              <a:path w="1259204" h="373379">
                <a:moveTo>
                  <a:pt x="1258824" y="0"/>
                </a:moveTo>
                <a:lnTo>
                  <a:pt x="0" y="0"/>
                </a:lnTo>
                <a:lnTo>
                  <a:pt x="0" y="373380"/>
                </a:lnTo>
                <a:lnTo>
                  <a:pt x="1258824" y="373380"/>
                </a:lnTo>
                <a:lnTo>
                  <a:pt x="1258824" y="368808"/>
                </a:lnTo>
                <a:lnTo>
                  <a:pt x="1258824" y="364236"/>
                </a:lnTo>
                <a:lnTo>
                  <a:pt x="1258824" y="7620"/>
                </a:lnTo>
                <a:lnTo>
                  <a:pt x="1258824" y="3048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6137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dirty="0"/>
              <a:t>Operational</a:t>
            </a:r>
            <a:r>
              <a:rPr dirty="0" spc="-150"/>
              <a:t> </a:t>
            </a:r>
            <a:r>
              <a:rPr dirty="0" spc="-10"/>
              <a:t>Insights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0472" y="2218413"/>
            <a:ext cx="3542029" cy="3121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64135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solidFill>
                  <a:srgbClr val="C6BFED"/>
                </a:solidFill>
                <a:latin typeface="Arial MT"/>
                <a:cs typeface="Arial MT"/>
              </a:rPr>
              <a:t>Stay</a:t>
            </a:r>
            <a:r>
              <a:rPr dirty="0" sz="1550" spc="6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C6BFED"/>
                </a:solidFill>
                <a:latin typeface="Arial MT"/>
                <a:cs typeface="Arial MT"/>
              </a:rPr>
              <a:t>Pattern</a:t>
            </a:r>
            <a:r>
              <a:rPr dirty="0" sz="1550" spc="-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C6BFED"/>
                </a:solidFill>
                <a:latin typeface="Arial MT"/>
                <a:cs typeface="Arial MT"/>
              </a:rPr>
              <a:t>Analysis</a:t>
            </a:r>
            <a:endParaRPr sz="1550">
              <a:latin typeface="Arial MT"/>
              <a:cs typeface="Arial MT"/>
            </a:endParaRPr>
          </a:p>
          <a:p>
            <a:pPr marL="12700" marR="5080">
              <a:lnSpc>
                <a:spcPct val="142600"/>
              </a:lnSpc>
              <a:spcBef>
                <a:spcPts val="655"/>
              </a:spcBef>
            </a:pP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Operational</a:t>
            </a:r>
            <a:r>
              <a:rPr dirty="0" sz="115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analysis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focuses</a:t>
            </a:r>
            <a:r>
              <a:rPr dirty="0" sz="1150" spc="-1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on</a:t>
            </a:r>
            <a:r>
              <a:rPr dirty="0" sz="11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stay</a:t>
            </a:r>
            <a:r>
              <a:rPr dirty="0" sz="115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patterns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50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revenue distribution</a:t>
            </a:r>
            <a:r>
              <a:rPr dirty="0" sz="11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across</a:t>
            </a:r>
            <a:r>
              <a:rPr dirty="0" sz="11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the</a:t>
            </a:r>
            <a:r>
              <a:rPr dirty="0" sz="11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15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cycle.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dirty="0" sz="1300">
                <a:solidFill>
                  <a:srgbClr val="C6BFED"/>
                </a:solidFill>
                <a:latin typeface="Arial MT"/>
                <a:cs typeface="Arial MT"/>
              </a:rPr>
              <a:t>Revenue</a:t>
            </a:r>
            <a:r>
              <a:rPr dirty="0" sz="1300" spc="10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C6BFED"/>
                </a:solidFill>
                <a:latin typeface="Arial MT"/>
                <a:cs typeface="Arial MT"/>
              </a:rPr>
              <a:t>Distribution</a:t>
            </a:r>
            <a:endParaRPr sz="1300">
              <a:latin typeface="Arial MT"/>
              <a:cs typeface="Arial MT"/>
            </a:endParaRPr>
          </a:p>
          <a:p>
            <a:pPr marL="300990" indent="-236854">
              <a:lnSpc>
                <a:spcPct val="100000"/>
              </a:lnSpc>
              <a:spcBef>
                <a:spcPts val="915"/>
              </a:spcBef>
              <a:buChar char="•"/>
              <a:tabLst>
                <a:tab pos="300990" algn="l"/>
              </a:tabLst>
            </a:pPr>
            <a:r>
              <a:rPr dirty="0" sz="1150" spc="-60">
                <a:solidFill>
                  <a:srgbClr val="DAD8E8"/>
                </a:solidFill>
                <a:latin typeface="Tahoma"/>
                <a:cs typeface="Tahoma"/>
              </a:rPr>
              <a:t>Weekday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(~73%)</a:t>
            </a:r>
            <a:endParaRPr sz="1150">
              <a:latin typeface="Tahoma"/>
              <a:cs typeface="Tahoma"/>
            </a:endParaRPr>
          </a:p>
          <a:p>
            <a:pPr marL="300990" indent="-236854">
              <a:lnSpc>
                <a:spcPct val="100000"/>
              </a:lnSpc>
              <a:spcBef>
                <a:spcPts val="540"/>
              </a:spcBef>
              <a:buChar char="•"/>
              <a:tabLst>
                <a:tab pos="300990" algn="l"/>
              </a:tabLst>
            </a:pPr>
            <a:r>
              <a:rPr dirty="0" sz="1150" spc="-50">
                <a:solidFill>
                  <a:srgbClr val="DAD8E8"/>
                </a:solidFill>
                <a:latin typeface="Tahoma"/>
                <a:cs typeface="Tahoma"/>
              </a:rPr>
              <a:t>Weekend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(~27%)</a:t>
            </a:r>
            <a:endParaRPr sz="1150">
              <a:latin typeface="Tahoma"/>
              <a:cs typeface="Tahoma"/>
            </a:endParaRPr>
          </a:p>
          <a:p>
            <a:pPr marL="300990" indent="-236854">
              <a:lnSpc>
                <a:spcPct val="100000"/>
              </a:lnSpc>
              <a:spcBef>
                <a:spcPts val="550"/>
              </a:spcBef>
              <a:buChar char="•"/>
              <a:tabLst>
                <a:tab pos="300990" algn="l"/>
              </a:tabLst>
            </a:pP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Average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70">
                <a:solidFill>
                  <a:srgbClr val="DAD8E8"/>
                </a:solidFill>
                <a:latin typeface="Tahoma"/>
                <a:cs typeface="Tahoma"/>
              </a:rPr>
              <a:t>stay:</a:t>
            </a:r>
            <a:r>
              <a:rPr dirty="0" sz="11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85">
                <a:solidFill>
                  <a:srgbClr val="DAD8E8"/>
                </a:solidFill>
                <a:latin typeface="Tahoma"/>
                <a:cs typeface="Tahoma"/>
              </a:rPr>
              <a:t>3.5</a:t>
            </a:r>
            <a:r>
              <a:rPr dirty="0" sz="11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days</a:t>
            </a:r>
            <a:endParaRPr sz="1150">
              <a:latin typeface="Tahoma"/>
              <a:cs typeface="Tahoma"/>
            </a:endParaRPr>
          </a:p>
          <a:p>
            <a:pPr marL="43180">
              <a:lnSpc>
                <a:spcPct val="100000"/>
              </a:lnSpc>
              <a:spcBef>
                <a:spcPts val="1030"/>
              </a:spcBef>
            </a:pPr>
            <a:r>
              <a:rPr dirty="0" sz="1300">
                <a:solidFill>
                  <a:srgbClr val="C6BFED"/>
                </a:solidFill>
                <a:latin typeface="Arial MT"/>
                <a:cs typeface="Arial MT"/>
              </a:rPr>
              <a:t>Key </a:t>
            </a:r>
            <a:r>
              <a:rPr dirty="0" sz="1300" spc="-10">
                <a:solidFill>
                  <a:srgbClr val="C6BFED"/>
                </a:solidFill>
                <a:latin typeface="Arial MT"/>
                <a:cs typeface="Arial MT"/>
              </a:rPr>
              <a:t>Insights</a:t>
            </a:r>
            <a:endParaRPr sz="1300">
              <a:latin typeface="Arial MT"/>
              <a:cs typeface="Arial MT"/>
            </a:endParaRPr>
          </a:p>
          <a:p>
            <a:pPr marL="300990" indent="-236854">
              <a:lnSpc>
                <a:spcPct val="100000"/>
              </a:lnSpc>
              <a:spcBef>
                <a:spcPts val="1205"/>
              </a:spcBef>
              <a:buChar char="•"/>
              <a:tabLst>
                <a:tab pos="300990" algn="l"/>
              </a:tabLst>
            </a:pPr>
            <a:r>
              <a:rPr dirty="0" sz="1150" spc="-45">
                <a:solidFill>
                  <a:srgbClr val="DAD8E8"/>
                </a:solidFill>
                <a:latin typeface="Tahoma"/>
                <a:cs typeface="Tahoma"/>
              </a:rPr>
              <a:t>Business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travelers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dominate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weekday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bookings</a:t>
            </a:r>
            <a:endParaRPr sz="1150">
              <a:latin typeface="Tahoma"/>
              <a:cs typeface="Tahoma"/>
            </a:endParaRPr>
          </a:p>
          <a:p>
            <a:pPr marL="300990" indent="-236854">
              <a:lnSpc>
                <a:spcPct val="100000"/>
              </a:lnSpc>
              <a:spcBef>
                <a:spcPts val="540"/>
              </a:spcBef>
              <a:buChar char="•"/>
              <a:tabLst>
                <a:tab pos="300990" algn="l"/>
              </a:tabLst>
            </a:pPr>
            <a:r>
              <a:rPr dirty="0" sz="1150" spc="-50">
                <a:solidFill>
                  <a:srgbClr val="DAD8E8"/>
                </a:solidFill>
                <a:latin typeface="Tahoma"/>
                <a:cs typeface="Tahoma"/>
              </a:rPr>
              <a:t>Weekend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occupancy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is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comparatively</a:t>
            </a:r>
            <a:r>
              <a:rPr dirty="0" sz="1150" spc="-1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low</a:t>
            </a:r>
            <a:endParaRPr sz="1150">
              <a:latin typeface="Tahoma"/>
              <a:cs typeface="Tahoma"/>
            </a:endParaRPr>
          </a:p>
          <a:p>
            <a:pPr marL="300990" indent="-236854">
              <a:lnSpc>
                <a:spcPct val="100000"/>
              </a:lnSpc>
              <a:spcBef>
                <a:spcPts val="550"/>
              </a:spcBef>
              <a:buChar char="•"/>
              <a:tabLst>
                <a:tab pos="300990" algn="l"/>
              </a:tabLst>
            </a:pP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Short</a:t>
            </a:r>
            <a:r>
              <a:rPr dirty="0" sz="11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40">
                <a:solidFill>
                  <a:srgbClr val="DAD8E8"/>
                </a:solidFill>
                <a:latin typeface="Tahoma"/>
                <a:cs typeface="Tahoma"/>
              </a:rPr>
              <a:t>stay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25">
                <a:solidFill>
                  <a:srgbClr val="DAD8E8"/>
                </a:solidFill>
                <a:latin typeface="Tahoma"/>
                <a:cs typeface="Tahoma"/>
              </a:rPr>
              <a:t>duration </a:t>
            </a:r>
            <a:r>
              <a:rPr dirty="0" sz="1150" spc="-30">
                <a:solidFill>
                  <a:srgbClr val="DAD8E8"/>
                </a:solidFill>
                <a:latin typeface="Tahoma"/>
                <a:cs typeface="Tahoma"/>
              </a:rPr>
              <a:t>indicates</a:t>
            </a:r>
            <a:r>
              <a:rPr dirty="0" sz="1150" spc="-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35">
                <a:solidFill>
                  <a:srgbClr val="DAD8E8"/>
                </a:solidFill>
                <a:latin typeface="Tahoma"/>
                <a:cs typeface="Tahoma"/>
              </a:rPr>
              <a:t>quick</a:t>
            </a:r>
            <a:r>
              <a:rPr dirty="0" sz="11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50" spc="-10">
                <a:solidFill>
                  <a:srgbClr val="DAD8E8"/>
                </a:solidFill>
                <a:latin typeface="Tahoma"/>
                <a:cs typeface="Tahoma"/>
              </a:rPr>
              <a:t>turnover</a:t>
            </a:r>
            <a:endParaRPr sz="11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3504" y="5707379"/>
            <a:ext cx="9455150" cy="989330"/>
            <a:chOff x="603504" y="5707379"/>
            <a:chExt cx="9455150" cy="989330"/>
          </a:xfrm>
        </p:grpSpPr>
        <p:sp>
          <p:nvSpPr>
            <p:cNvPr id="6" name="object 6"/>
            <p:cNvSpPr/>
            <p:nvPr/>
          </p:nvSpPr>
          <p:spPr>
            <a:xfrm>
              <a:off x="8799576" y="6323088"/>
              <a:ext cx="1259205" cy="373380"/>
            </a:xfrm>
            <a:custGeom>
              <a:avLst/>
              <a:gdLst/>
              <a:ahLst/>
              <a:cxnLst/>
              <a:rect l="l" t="t" r="r" b="b"/>
              <a:pathLst>
                <a:path w="1259204" h="373379">
                  <a:moveTo>
                    <a:pt x="1258824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1258824" y="373380"/>
                  </a:lnTo>
                  <a:lnTo>
                    <a:pt x="1258824" y="368808"/>
                  </a:lnTo>
                  <a:lnTo>
                    <a:pt x="1258824" y="364236"/>
                  </a:lnTo>
                  <a:lnTo>
                    <a:pt x="1258824" y="7620"/>
                  </a:lnTo>
                  <a:lnTo>
                    <a:pt x="1258824" y="3048"/>
                  </a:lnTo>
                  <a:lnTo>
                    <a:pt x="1258824" y="0"/>
                  </a:lnTo>
                  <a:close/>
                </a:path>
              </a:pathLst>
            </a:custGeom>
            <a:solidFill>
              <a:srgbClr val="000C2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03504" y="5707379"/>
              <a:ext cx="8994775" cy="708660"/>
            </a:xfrm>
            <a:custGeom>
              <a:avLst/>
              <a:gdLst/>
              <a:ahLst/>
              <a:cxnLst/>
              <a:rect l="l" t="t" r="r" b="b"/>
              <a:pathLst>
                <a:path w="8994775" h="708660">
                  <a:moveTo>
                    <a:pt x="8923019" y="708659"/>
                  </a:moveTo>
                  <a:lnTo>
                    <a:pt x="73152" y="708659"/>
                  </a:lnTo>
                  <a:lnTo>
                    <a:pt x="45005" y="703040"/>
                  </a:lnTo>
                  <a:lnTo>
                    <a:pt x="21716" y="687704"/>
                  </a:lnTo>
                  <a:lnTo>
                    <a:pt x="5857" y="664940"/>
                  </a:lnTo>
                  <a:lnTo>
                    <a:pt x="0" y="637032"/>
                  </a:lnTo>
                  <a:lnTo>
                    <a:pt x="0" y="71627"/>
                  </a:lnTo>
                  <a:lnTo>
                    <a:pt x="5857" y="43719"/>
                  </a:lnTo>
                  <a:lnTo>
                    <a:pt x="21717" y="20954"/>
                  </a:lnTo>
                  <a:lnTo>
                    <a:pt x="45005" y="5619"/>
                  </a:lnTo>
                  <a:lnTo>
                    <a:pt x="73152" y="0"/>
                  </a:lnTo>
                  <a:lnTo>
                    <a:pt x="8923019" y="0"/>
                  </a:lnTo>
                  <a:lnTo>
                    <a:pt x="8950928" y="5619"/>
                  </a:lnTo>
                  <a:lnTo>
                    <a:pt x="8973693" y="20954"/>
                  </a:lnTo>
                  <a:lnTo>
                    <a:pt x="8989028" y="43719"/>
                  </a:lnTo>
                  <a:lnTo>
                    <a:pt x="8994648" y="71627"/>
                  </a:lnTo>
                  <a:lnTo>
                    <a:pt x="8994648" y="637032"/>
                  </a:lnTo>
                  <a:lnTo>
                    <a:pt x="8989028" y="664940"/>
                  </a:lnTo>
                  <a:lnTo>
                    <a:pt x="8973693" y="687704"/>
                  </a:lnTo>
                  <a:lnTo>
                    <a:pt x="8950928" y="703040"/>
                  </a:lnTo>
                  <a:lnTo>
                    <a:pt x="8923019" y="708659"/>
                  </a:lnTo>
                  <a:close/>
                </a:path>
              </a:pathLst>
            </a:custGeom>
            <a:solidFill>
              <a:srgbClr val="311A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760" y="5913119"/>
              <a:ext cx="179831" cy="14325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57142" y="5827273"/>
            <a:ext cx="8436610" cy="50482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2700" marR="5080">
              <a:lnSpc>
                <a:spcPts val="1789"/>
              </a:lnSpc>
              <a:spcBef>
                <a:spcPts val="325"/>
              </a:spcBef>
            </a:pP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Conclusion:</a:t>
            </a:r>
            <a:r>
              <a:rPr dirty="0" sz="1650" spc="-6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This</a:t>
            </a:r>
            <a:r>
              <a:rPr dirty="0" sz="1650" spc="-4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indicates</a:t>
            </a:r>
            <a:r>
              <a:rPr dirty="0" sz="1650" spc="-5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that</a:t>
            </a:r>
            <a:r>
              <a:rPr dirty="0" sz="1650" spc="-4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operational</a:t>
            </a:r>
            <a:r>
              <a:rPr dirty="0" sz="1650" spc="-7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performance</a:t>
            </a:r>
            <a:r>
              <a:rPr dirty="0" sz="1650" spc="-5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is</a:t>
            </a:r>
            <a:r>
              <a:rPr dirty="0" sz="1650" spc="-4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heavily</a:t>
            </a:r>
            <a:r>
              <a:rPr dirty="0" sz="1650" spc="-4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driven</a:t>
            </a:r>
            <a:r>
              <a:rPr dirty="0" sz="1650" spc="-5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by</a:t>
            </a:r>
            <a:r>
              <a:rPr dirty="0" sz="1650" spc="-4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weekday</a:t>
            </a:r>
            <a:r>
              <a:rPr dirty="0" sz="1650" spc="-5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business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demand,</a:t>
            </a:r>
            <a:r>
              <a:rPr dirty="0" sz="1650" spc="-5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with</a:t>
            </a:r>
            <a:r>
              <a:rPr dirty="0" sz="1650" spc="-4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significant</a:t>
            </a:r>
            <a:r>
              <a:rPr dirty="0" sz="1650" spc="-9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opportunities</a:t>
            </a:r>
            <a:r>
              <a:rPr dirty="0" sz="1650" spc="-6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to</a:t>
            </a:r>
            <a:r>
              <a:rPr dirty="0" sz="1650" spc="-3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improve</a:t>
            </a:r>
            <a:r>
              <a:rPr dirty="0" sz="1650" spc="-4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weekend</a:t>
            </a:r>
            <a:r>
              <a:rPr dirty="0" sz="1650" spc="-6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occupancy</a:t>
            </a:r>
            <a:r>
              <a:rPr dirty="0" sz="1650" spc="-50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and</a:t>
            </a:r>
            <a:r>
              <a:rPr dirty="0" sz="1650" spc="-4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>
                <a:solidFill>
                  <a:srgbClr val="FBE4D6"/>
                </a:solidFill>
                <a:latin typeface="Calibri"/>
                <a:cs typeface="Calibri"/>
              </a:rPr>
              <a:t>optimize</a:t>
            </a:r>
            <a:r>
              <a:rPr dirty="0" sz="1650" spc="-4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stay</a:t>
            </a:r>
            <a:r>
              <a:rPr dirty="0" sz="1650" spc="-25">
                <a:solidFill>
                  <a:srgbClr val="FBE4D6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FBE4D6"/>
                </a:solidFill>
                <a:latin typeface="Calibri"/>
                <a:cs typeface="Calibri"/>
              </a:rPr>
              <a:t>duration.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30040" y="2345436"/>
            <a:ext cx="5923787" cy="33070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2604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05"/>
              </a:spcBef>
            </a:pPr>
            <a:r>
              <a:rPr dirty="0" sz="2500"/>
              <a:t>Key</a:t>
            </a:r>
            <a:r>
              <a:rPr dirty="0" sz="2500" spc="-10"/>
              <a:t> Insights</a:t>
            </a:r>
            <a:endParaRPr sz="2500"/>
          </a:p>
        </p:txBody>
      </p:sp>
      <p:sp>
        <p:nvSpPr>
          <p:cNvPr id="4" name="object 4"/>
          <p:cNvSpPr txBox="1"/>
          <p:nvPr/>
        </p:nvSpPr>
        <p:spPr>
          <a:xfrm>
            <a:off x="592297" y="2213803"/>
            <a:ext cx="17602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60">
                <a:solidFill>
                  <a:srgbClr val="DAD8E8"/>
                </a:solidFill>
                <a:latin typeface="Tahoma"/>
                <a:cs typeface="Tahoma"/>
              </a:rPr>
              <a:t>Key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findings</a:t>
            </a:r>
            <a:r>
              <a:rPr dirty="0" sz="110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DAD8E8"/>
                </a:solidFill>
                <a:latin typeface="Tahoma"/>
                <a:cs typeface="Tahoma"/>
              </a:rPr>
              <a:t>from</a:t>
            </a:r>
            <a:r>
              <a:rPr dirty="0" sz="110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DAD8E8"/>
                </a:solidFill>
                <a:latin typeface="Tahoma"/>
                <a:cs typeface="Tahoma"/>
              </a:rPr>
              <a:t>the</a:t>
            </a:r>
            <a:r>
              <a:rPr dirty="0" sz="110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AD8E8"/>
                </a:solidFill>
                <a:latin typeface="Tahoma"/>
                <a:cs typeface="Tahoma"/>
              </a:rPr>
              <a:t>analysis: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1312" y="2575560"/>
            <a:ext cx="4378960" cy="1065530"/>
            <a:chOff x="591312" y="2575560"/>
            <a:chExt cx="4378960" cy="1065530"/>
          </a:xfrm>
        </p:grpSpPr>
        <p:sp>
          <p:nvSpPr>
            <p:cNvPr id="6" name="object 6"/>
            <p:cNvSpPr/>
            <p:nvPr/>
          </p:nvSpPr>
          <p:spPr>
            <a:xfrm>
              <a:off x="606551" y="2583180"/>
              <a:ext cx="4356100" cy="1050290"/>
            </a:xfrm>
            <a:custGeom>
              <a:avLst/>
              <a:gdLst/>
              <a:ahLst/>
              <a:cxnLst/>
              <a:rect l="l" t="t" r="r" b="b"/>
              <a:pathLst>
                <a:path w="4356100" h="1050289">
                  <a:moveTo>
                    <a:pt x="4279391" y="1050035"/>
                  </a:moveTo>
                  <a:lnTo>
                    <a:pt x="74676" y="1050035"/>
                  </a:lnTo>
                  <a:lnTo>
                    <a:pt x="45648" y="1044130"/>
                  </a:lnTo>
                  <a:lnTo>
                    <a:pt x="21907" y="1027937"/>
                  </a:lnTo>
                  <a:lnTo>
                    <a:pt x="5881" y="1003744"/>
                  </a:lnTo>
                  <a:lnTo>
                    <a:pt x="0" y="973835"/>
                  </a:lnTo>
                  <a:lnTo>
                    <a:pt x="0" y="76200"/>
                  </a:lnTo>
                  <a:lnTo>
                    <a:pt x="5881" y="46291"/>
                  </a:lnTo>
                  <a:lnTo>
                    <a:pt x="21907" y="22097"/>
                  </a:lnTo>
                  <a:lnTo>
                    <a:pt x="45648" y="5905"/>
                  </a:lnTo>
                  <a:lnTo>
                    <a:pt x="74676" y="0"/>
                  </a:lnTo>
                  <a:lnTo>
                    <a:pt x="4279391" y="0"/>
                  </a:lnTo>
                  <a:lnTo>
                    <a:pt x="4308657" y="5905"/>
                  </a:lnTo>
                  <a:lnTo>
                    <a:pt x="4332922" y="22098"/>
                  </a:lnTo>
                  <a:lnTo>
                    <a:pt x="4349472" y="46291"/>
                  </a:lnTo>
                  <a:lnTo>
                    <a:pt x="4355591" y="76200"/>
                  </a:lnTo>
                  <a:lnTo>
                    <a:pt x="4355591" y="973835"/>
                  </a:lnTo>
                  <a:lnTo>
                    <a:pt x="4349472" y="1003744"/>
                  </a:lnTo>
                  <a:lnTo>
                    <a:pt x="4332922" y="1027937"/>
                  </a:lnTo>
                  <a:lnTo>
                    <a:pt x="4308657" y="1044130"/>
                  </a:lnTo>
                  <a:lnTo>
                    <a:pt x="4279391" y="1050035"/>
                  </a:lnTo>
                  <a:close/>
                </a:path>
              </a:pathLst>
            </a:custGeom>
            <a:solidFill>
              <a:srgbClr val="0A0C23">
                <a:alpha val="9452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8932" y="2575560"/>
              <a:ext cx="4371340" cy="1065530"/>
            </a:xfrm>
            <a:custGeom>
              <a:avLst/>
              <a:gdLst/>
              <a:ahLst/>
              <a:cxnLst/>
              <a:rect l="l" t="t" r="r" b="b"/>
              <a:pathLst>
                <a:path w="4371340" h="1065529">
                  <a:moveTo>
                    <a:pt x="4296156" y="1065276"/>
                  </a:moveTo>
                  <a:lnTo>
                    <a:pt x="74676" y="1065276"/>
                  </a:lnTo>
                  <a:lnTo>
                    <a:pt x="67056" y="1063752"/>
                  </a:lnTo>
                  <a:lnTo>
                    <a:pt x="57912" y="1062228"/>
                  </a:lnTo>
                  <a:lnTo>
                    <a:pt x="50292" y="1059180"/>
                  </a:lnTo>
                  <a:lnTo>
                    <a:pt x="44196" y="1054608"/>
                  </a:lnTo>
                  <a:lnTo>
                    <a:pt x="36576" y="1051560"/>
                  </a:lnTo>
                  <a:lnTo>
                    <a:pt x="36576" y="1050036"/>
                  </a:lnTo>
                  <a:lnTo>
                    <a:pt x="24384" y="1040892"/>
                  </a:lnTo>
                  <a:lnTo>
                    <a:pt x="22860" y="1040892"/>
                  </a:lnTo>
                  <a:lnTo>
                    <a:pt x="9144" y="1022604"/>
                  </a:lnTo>
                  <a:lnTo>
                    <a:pt x="3048" y="1007364"/>
                  </a:lnTo>
                  <a:lnTo>
                    <a:pt x="1524" y="999744"/>
                  </a:lnTo>
                  <a:lnTo>
                    <a:pt x="0" y="990600"/>
                  </a:lnTo>
                  <a:lnTo>
                    <a:pt x="0" y="74676"/>
                  </a:lnTo>
                  <a:lnTo>
                    <a:pt x="3048" y="59436"/>
                  </a:lnTo>
                  <a:lnTo>
                    <a:pt x="9144" y="44196"/>
                  </a:lnTo>
                  <a:lnTo>
                    <a:pt x="13716" y="36576"/>
                  </a:lnTo>
                  <a:lnTo>
                    <a:pt x="22860" y="24384"/>
                  </a:lnTo>
                  <a:lnTo>
                    <a:pt x="24384" y="24384"/>
                  </a:lnTo>
                  <a:lnTo>
                    <a:pt x="36576" y="15240"/>
                  </a:lnTo>
                  <a:lnTo>
                    <a:pt x="36576" y="13716"/>
                  </a:lnTo>
                  <a:lnTo>
                    <a:pt x="42672" y="10668"/>
                  </a:lnTo>
                  <a:lnTo>
                    <a:pt x="50292" y="6096"/>
                  </a:lnTo>
                  <a:lnTo>
                    <a:pt x="57912" y="3048"/>
                  </a:lnTo>
                  <a:lnTo>
                    <a:pt x="65532" y="1524"/>
                  </a:lnTo>
                  <a:lnTo>
                    <a:pt x="74676" y="0"/>
                  </a:lnTo>
                  <a:lnTo>
                    <a:pt x="4294632" y="0"/>
                  </a:lnTo>
                  <a:lnTo>
                    <a:pt x="4303776" y="1524"/>
                  </a:lnTo>
                  <a:lnTo>
                    <a:pt x="4311396" y="3048"/>
                  </a:lnTo>
                  <a:lnTo>
                    <a:pt x="4326636" y="9144"/>
                  </a:lnTo>
                  <a:lnTo>
                    <a:pt x="4332732" y="13716"/>
                  </a:lnTo>
                  <a:lnTo>
                    <a:pt x="4334256" y="13716"/>
                  </a:lnTo>
                  <a:lnTo>
                    <a:pt x="4334256" y="15240"/>
                  </a:lnTo>
                  <a:lnTo>
                    <a:pt x="76200" y="15240"/>
                  </a:lnTo>
                  <a:lnTo>
                    <a:pt x="70104" y="16764"/>
                  </a:lnTo>
                  <a:lnTo>
                    <a:pt x="62484" y="18288"/>
                  </a:lnTo>
                  <a:lnTo>
                    <a:pt x="56388" y="21336"/>
                  </a:lnTo>
                  <a:lnTo>
                    <a:pt x="51816" y="22860"/>
                  </a:lnTo>
                  <a:lnTo>
                    <a:pt x="46736" y="25908"/>
                  </a:lnTo>
                  <a:lnTo>
                    <a:pt x="45720" y="25908"/>
                  </a:lnTo>
                  <a:lnTo>
                    <a:pt x="36576" y="35052"/>
                  </a:lnTo>
                  <a:lnTo>
                    <a:pt x="35052" y="35052"/>
                  </a:lnTo>
                  <a:lnTo>
                    <a:pt x="25908" y="45720"/>
                  </a:lnTo>
                  <a:lnTo>
                    <a:pt x="27432" y="45720"/>
                  </a:lnTo>
                  <a:lnTo>
                    <a:pt x="24384" y="50292"/>
                  </a:lnTo>
                  <a:lnTo>
                    <a:pt x="18288" y="62484"/>
                  </a:lnTo>
                  <a:lnTo>
                    <a:pt x="16764" y="68580"/>
                  </a:lnTo>
                  <a:lnTo>
                    <a:pt x="15240" y="76200"/>
                  </a:lnTo>
                  <a:lnTo>
                    <a:pt x="15240" y="989076"/>
                  </a:lnTo>
                  <a:lnTo>
                    <a:pt x="19812" y="1007364"/>
                  </a:lnTo>
                  <a:lnTo>
                    <a:pt x="22860" y="1013460"/>
                  </a:lnTo>
                  <a:lnTo>
                    <a:pt x="27432" y="1019556"/>
                  </a:lnTo>
                  <a:lnTo>
                    <a:pt x="25908" y="1019556"/>
                  </a:lnTo>
                  <a:lnTo>
                    <a:pt x="35052" y="1030224"/>
                  </a:lnTo>
                  <a:lnTo>
                    <a:pt x="36830" y="1030224"/>
                  </a:lnTo>
                  <a:lnTo>
                    <a:pt x="45720" y="1037844"/>
                  </a:lnTo>
                  <a:lnTo>
                    <a:pt x="44196" y="1037844"/>
                  </a:lnTo>
                  <a:lnTo>
                    <a:pt x="62484" y="1046988"/>
                  </a:lnTo>
                  <a:lnTo>
                    <a:pt x="68580" y="1048512"/>
                  </a:lnTo>
                  <a:lnTo>
                    <a:pt x="76200" y="1048512"/>
                  </a:lnTo>
                  <a:lnTo>
                    <a:pt x="82296" y="1050036"/>
                  </a:lnTo>
                  <a:lnTo>
                    <a:pt x="4334256" y="1050036"/>
                  </a:lnTo>
                  <a:lnTo>
                    <a:pt x="4334256" y="1051560"/>
                  </a:lnTo>
                  <a:lnTo>
                    <a:pt x="4332732" y="1051560"/>
                  </a:lnTo>
                  <a:lnTo>
                    <a:pt x="4326636" y="1054608"/>
                  </a:lnTo>
                  <a:lnTo>
                    <a:pt x="4320540" y="1059180"/>
                  </a:lnTo>
                  <a:lnTo>
                    <a:pt x="4312920" y="1060704"/>
                  </a:lnTo>
                  <a:lnTo>
                    <a:pt x="4303776" y="1063752"/>
                  </a:lnTo>
                  <a:lnTo>
                    <a:pt x="4296156" y="1065276"/>
                  </a:lnTo>
                  <a:close/>
                </a:path>
                <a:path w="4371340" h="1065529">
                  <a:moveTo>
                    <a:pt x="4325112" y="27432"/>
                  </a:moveTo>
                  <a:lnTo>
                    <a:pt x="4319016" y="24384"/>
                  </a:lnTo>
                  <a:lnTo>
                    <a:pt x="4314444" y="21336"/>
                  </a:lnTo>
                  <a:lnTo>
                    <a:pt x="4308348" y="18288"/>
                  </a:lnTo>
                  <a:lnTo>
                    <a:pt x="4300728" y="16764"/>
                  </a:lnTo>
                  <a:lnTo>
                    <a:pt x="4294632" y="15240"/>
                  </a:lnTo>
                  <a:lnTo>
                    <a:pt x="4334256" y="15240"/>
                  </a:lnTo>
                  <a:lnTo>
                    <a:pt x="4344924" y="24384"/>
                  </a:lnTo>
                  <a:lnTo>
                    <a:pt x="4346448" y="24384"/>
                  </a:lnTo>
                  <a:lnTo>
                    <a:pt x="4347591" y="25908"/>
                  </a:lnTo>
                  <a:lnTo>
                    <a:pt x="4325112" y="25908"/>
                  </a:lnTo>
                  <a:lnTo>
                    <a:pt x="4325112" y="27432"/>
                  </a:lnTo>
                  <a:close/>
                </a:path>
                <a:path w="4371340" h="1065529">
                  <a:moveTo>
                    <a:pt x="44196" y="27432"/>
                  </a:moveTo>
                  <a:lnTo>
                    <a:pt x="45720" y="25908"/>
                  </a:lnTo>
                  <a:lnTo>
                    <a:pt x="46736" y="25908"/>
                  </a:lnTo>
                  <a:lnTo>
                    <a:pt x="44196" y="27432"/>
                  </a:lnTo>
                  <a:close/>
                </a:path>
                <a:path w="4371340" h="1065529">
                  <a:moveTo>
                    <a:pt x="4355592" y="36576"/>
                  </a:moveTo>
                  <a:lnTo>
                    <a:pt x="4335780" y="36576"/>
                  </a:lnTo>
                  <a:lnTo>
                    <a:pt x="4325112" y="25908"/>
                  </a:lnTo>
                  <a:lnTo>
                    <a:pt x="4347591" y="25908"/>
                  </a:lnTo>
                  <a:lnTo>
                    <a:pt x="4355592" y="36576"/>
                  </a:lnTo>
                  <a:close/>
                </a:path>
                <a:path w="4371340" h="1065529">
                  <a:moveTo>
                    <a:pt x="35052" y="36576"/>
                  </a:moveTo>
                  <a:lnTo>
                    <a:pt x="35052" y="35052"/>
                  </a:lnTo>
                  <a:lnTo>
                    <a:pt x="36576" y="35052"/>
                  </a:lnTo>
                  <a:lnTo>
                    <a:pt x="35052" y="36576"/>
                  </a:lnTo>
                  <a:close/>
                </a:path>
                <a:path w="4371340" h="1065529">
                  <a:moveTo>
                    <a:pt x="4334959" y="1029403"/>
                  </a:moveTo>
                  <a:lnTo>
                    <a:pt x="4343400" y="1019556"/>
                  </a:lnTo>
                  <a:lnTo>
                    <a:pt x="4346448" y="1014984"/>
                  </a:lnTo>
                  <a:lnTo>
                    <a:pt x="4349496" y="1008888"/>
                  </a:lnTo>
                  <a:lnTo>
                    <a:pt x="4351020" y="1002792"/>
                  </a:lnTo>
                  <a:lnTo>
                    <a:pt x="4354068" y="996695"/>
                  </a:lnTo>
                  <a:lnTo>
                    <a:pt x="4354068" y="989076"/>
                  </a:lnTo>
                  <a:lnTo>
                    <a:pt x="4355592" y="981456"/>
                  </a:lnTo>
                  <a:lnTo>
                    <a:pt x="4355592" y="83820"/>
                  </a:lnTo>
                  <a:lnTo>
                    <a:pt x="4354068" y="76200"/>
                  </a:lnTo>
                  <a:lnTo>
                    <a:pt x="4354068" y="70104"/>
                  </a:lnTo>
                  <a:lnTo>
                    <a:pt x="4352544" y="64008"/>
                  </a:lnTo>
                  <a:lnTo>
                    <a:pt x="4343400" y="45720"/>
                  </a:lnTo>
                  <a:lnTo>
                    <a:pt x="4334256" y="35052"/>
                  </a:lnTo>
                  <a:lnTo>
                    <a:pt x="4335780" y="36576"/>
                  </a:lnTo>
                  <a:lnTo>
                    <a:pt x="4357116" y="36576"/>
                  </a:lnTo>
                  <a:lnTo>
                    <a:pt x="4360164" y="42672"/>
                  </a:lnTo>
                  <a:lnTo>
                    <a:pt x="4369308" y="65532"/>
                  </a:lnTo>
                  <a:lnTo>
                    <a:pt x="4370832" y="74676"/>
                  </a:lnTo>
                  <a:lnTo>
                    <a:pt x="4370832" y="990600"/>
                  </a:lnTo>
                  <a:lnTo>
                    <a:pt x="4369308" y="998220"/>
                  </a:lnTo>
                  <a:lnTo>
                    <a:pt x="4366260" y="1005840"/>
                  </a:lnTo>
                  <a:lnTo>
                    <a:pt x="4364736" y="1013460"/>
                  </a:lnTo>
                  <a:lnTo>
                    <a:pt x="4360164" y="1021080"/>
                  </a:lnTo>
                  <a:lnTo>
                    <a:pt x="4357116" y="1028700"/>
                  </a:lnTo>
                  <a:lnTo>
                    <a:pt x="4335780" y="1028700"/>
                  </a:lnTo>
                  <a:lnTo>
                    <a:pt x="4334959" y="1029403"/>
                  </a:lnTo>
                  <a:close/>
                </a:path>
                <a:path w="4371340" h="1065529">
                  <a:moveTo>
                    <a:pt x="36830" y="1030224"/>
                  </a:moveTo>
                  <a:lnTo>
                    <a:pt x="35052" y="1030224"/>
                  </a:lnTo>
                  <a:lnTo>
                    <a:pt x="35052" y="1028700"/>
                  </a:lnTo>
                  <a:lnTo>
                    <a:pt x="36830" y="1030224"/>
                  </a:lnTo>
                  <a:close/>
                </a:path>
                <a:path w="4371340" h="1065529">
                  <a:moveTo>
                    <a:pt x="4354449" y="1030224"/>
                  </a:moveTo>
                  <a:lnTo>
                    <a:pt x="4334256" y="1030224"/>
                  </a:lnTo>
                  <a:lnTo>
                    <a:pt x="4335780" y="1028700"/>
                  </a:lnTo>
                  <a:lnTo>
                    <a:pt x="4355592" y="1028700"/>
                  </a:lnTo>
                  <a:lnTo>
                    <a:pt x="4354449" y="1030224"/>
                  </a:lnTo>
                  <a:close/>
                </a:path>
                <a:path w="4371340" h="1065529">
                  <a:moveTo>
                    <a:pt x="4334256" y="1050036"/>
                  </a:moveTo>
                  <a:lnTo>
                    <a:pt x="4293108" y="1050036"/>
                  </a:lnTo>
                  <a:lnTo>
                    <a:pt x="4300728" y="1048512"/>
                  </a:lnTo>
                  <a:lnTo>
                    <a:pt x="4306824" y="1046988"/>
                  </a:lnTo>
                  <a:lnTo>
                    <a:pt x="4325112" y="1037844"/>
                  </a:lnTo>
                  <a:lnTo>
                    <a:pt x="4334959" y="1029403"/>
                  </a:lnTo>
                  <a:lnTo>
                    <a:pt x="4334256" y="1030224"/>
                  </a:lnTo>
                  <a:lnTo>
                    <a:pt x="4354449" y="1030224"/>
                  </a:lnTo>
                  <a:lnTo>
                    <a:pt x="4346448" y="1040892"/>
                  </a:lnTo>
                  <a:lnTo>
                    <a:pt x="4344924" y="1040892"/>
                  </a:lnTo>
                  <a:lnTo>
                    <a:pt x="4334256" y="1050036"/>
                  </a:lnTo>
                  <a:close/>
                </a:path>
              </a:pathLst>
            </a:custGeom>
            <a:solidFill>
              <a:srgbClr val="6D44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91312" y="2583179"/>
              <a:ext cx="62865" cy="1050290"/>
            </a:xfrm>
            <a:custGeom>
              <a:avLst/>
              <a:gdLst/>
              <a:ahLst/>
              <a:cxnLst/>
              <a:rect l="l" t="t" r="r" b="b"/>
              <a:pathLst>
                <a:path w="62865" h="1050289">
                  <a:moveTo>
                    <a:pt x="30480" y="1050036"/>
                  </a:moveTo>
                  <a:lnTo>
                    <a:pt x="18645" y="1047607"/>
                  </a:lnTo>
                  <a:lnTo>
                    <a:pt x="8953" y="1040892"/>
                  </a:lnTo>
                  <a:lnTo>
                    <a:pt x="2405" y="1030747"/>
                  </a:lnTo>
                  <a:lnTo>
                    <a:pt x="0" y="1018032"/>
                  </a:lnTo>
                  <a:lnTo>
                    <a:pt x="0" y="32004"/>
                  </a:lnTo>
                  <a:lnTo>
                    <a:pt x="2405" y="19288"/>
                  </a:lnTo>
                  <a:lnTo>
                    <a:pt x="8953" y="9144"/>
                  </a:lnTo>
                  <a:lnTo>
                    <a:pt x="18645" y="2428"/>
                  </a:lnTo>
                  <a:lnTo>
                    <a:pt x="30480" y="0"/>
                  </a:lnTo>
                  <a:lnTo>
                    <a:pt x="43195" y="2428"/>
                  </a:lnTo>
                  <a:lnTo>
                    <a:pt x="53340" y="9144"/>
                  </a:lnTo>
                  <a:lnTo>
                    <a:pt x="60055" y="19288"/>
                  </a:lnTo>
                  <a:lnTo>
                    <a:pt x="62484" y="32004"/>
                  </a:lnTo>
                  <a:lnTo>
                    <a:pt x="62484" y="1018032"/>
                  </a:lnTo>
                  <a:lnTo>
                    <a:pt x="60055" y="1030747"/>
                  </a:lnTo>
                  <a:lnTo>
                    <a:pt x="53340" y="1040892"/>
                  </a:lnTo>
                  <a:lnTo>
                    <a:pt x="43195" y="1047607"/>
                  </a:lnTo>
                  <a:lnTo>
                    <a:pt x="30480" y="1050036"/>
                  </a:lnTo>
                  <a:close/>
                </a:path>
              </a:pathLst>
            </a:custGeom>
            <a:solidFill>
              <a:srgbClr val="A85B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99524" y="2722891"/>
            <a:ext cx="3692525" cy="732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Low</a:t>
            </a:r>
            <a:r>
              <a:rPr dirty="0" sz="1200" spc="12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Occupancy</a:t>
            </a:r>
            <a:r>
              <a:rPr dirty="0" sz="1200" spc="13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DAD8E8"/>
                </a:solidFill>
                <a:latin typeface="Arial MT"/>
                <a:cs typeface="Arial MT"/>
              </a:rPr>
              <a:t>Rate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38200"/>
              </a:lnSpc>
              <a:spcBef>
                <a:spcPts val="434"/>
              </a:spcBef>
            </a:pP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Despite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high</a:t>
            </a:r>
            <a:r>
              <a:rPr dirty="0" sz="110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10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generation,</a:t>
            </a:r>
            <a:r>
              <a:rPr dirty="0" sz="110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AD8E8"/>
                </a:solidFill>
                <a:latin typeface="Tahoma"/>
                <a:cs typeface="Tahoma"/>
              </a:rPr>
              <a:t>occupancy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rates</a:t>
            </a:r>
            <a:r>
              <a:rPr dirty="0" sz="110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remain</a:t>
            </a:r>
            <a:r>
              <a:rPr dirty="0" sz="110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DAD8E8"/>
                </a:solidFill>
                <a:latin typeface="Tahoma"/>
                <a:cs typeface="Tahoma"/>
              </a:rPr>
              <a:t>below </a:t>
            </a:r>
            <a:r>
              <a:rPr dirty="0" sz="1100" spc="-25">
                <a:solidFill>
                  <a:srgbClr val="DAD8E8"/>
                </a:solidFill>
                <a:latin typeface="Tahoma"/>
                <a:cs typeface="Tahoma"/>
              </a:rPr>
              <a:t>optimal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DAD8E8"/>
                </a:solidFill>
                <a:latin typeface="Tahoma"/>
                <a:cs typeface="Tahoma"/>
              </a:rPr>
              <a:t>levels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82539" y="2575560"/>
            <a:ext cx="4378960" cy="1065530"/>
            <a:chOff x="5082539" y="2575560"/>
            <a:chExt cx="4378960" cy="1065530"/>
          </a:xfrm>
        </p:grpSpPr>
        <p:sp>
          <p:nvSpPr>
            <p:cNvPr id="11" name="object 11"/>
            <p:cNvSpPr/>
            <p:nvPr/>
          </p:nvSpPr>
          <p:spPr>
            <a:xfrm>
              <a:off x="5097780" y="2583180"/>
              <a:ext cx="4356100" cy="1050290"/>
            </a:xfrm>
            <a:custGeom>
              <a:avLst/>
              <a:gdLst/>
              <a:ahLst/>
              <a:cxnLst/>
              <a:rect l="l" t="t" r="r" b="b"/>
              <a:pathLst>
                <a:path w="4356100" h="1050289">
                  <a:moveTo>
                    <a:pt x="4280916" y="1050035"/>
                  </a:moveTo>
                  <a:lnTo>
                    <a:pt x="76200" y="1050035"/>
                  </a:lnTo>
                  <a:lnTo>
                    <a:pt x="46291" y="1044130"/>
                  </a:lnTo>
                  <a:lnTo>
                    <a:pt x="22097" y="1027937"/>
                  </a:lnTo>
                  <a:lnTo>
                    <a:pt x="5905" y="1003744"/>
                  </a:lnTo>
                  <a:lnTo>
                    <a:pt x="0" y="973835"/>
                  </a:lnTo>
                  <a:lnTo>
                    <a:pt x="0" y="76200"/>
                  </a:lnTo>
                  <a:lnTo>
                    <a:pt x="5905" y="46291"/>
                  </a:lnTo>
                  <a:lnTo>
                    <a:pt x="22097" y="22097"/>
                  </a:lnTo>
                  <a:lnTo>
                    <a:pt x="46291" y="5905"/>
                  </a:lnTo>
                  <a:lnTo>
                    <a:pt x="76200" y="0"/>
                  </a:lnTo>
                  <a:lnTo>
                    <a:pt x="4280916" y="0"/>
                  </a:lnTo>
                  <a:lnTo>
                    <a:pt x="4309943" y="5905"/>
                  </a:lnTo>
                  <a:lnTo>
                    <a:pt x="4333684" y="22098"/>
                  </a:lnTo>
                  <a:lnTo>
                    <a:pt x="4349710" y="46291"/>
                  </a:lnTo>
                  <a:lnTo>
                    <a:pt x="4355591" y="76200"/>
                  </a:lnTo>
                  <a:lnTo>
                    <a:pt x="4355591" y="973835"/>
                  </a:lnTo>
                  <a:lnTo>
                    <a:pt x="4349710" y="1003744"/>
                  </a:lnTo>
                  <a:lnTo>
                    <a:pt x="4333684" y="1027937"/>
                  </a:lnTo>
                  <a:lnTo>
                    <a:pt x="4309943" y="1044130"/>
                  </a:lnTo>
                  <a:lnTo>
                    <a:pt x="4280916" y="1050035"/>
                  </a:lnTo>
                  <a:close/>
                </a:path>
              </a:pathLst>
            </a:custGeom>
            <a:solidFill>
              <a:srgbClr val="0A0C23">
                <a:alpha val="9452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090160" y="2575560"/>
              <a:ext cx="4371340" cy="1065530"/>
            </a:xfrm>
            <a:custGeom>
              <a:avLst/>
              <a:gdLst/>
              <a:ahLst/>
              <a:cxnLst/>
              <a:rect l="l" t="t" r="r" b="b"/>
              <a:pathLst>
                <a:path w="4371340" h="1065529">
                  <a:moveTo>
                    <a:pt x="35052" y="36576"/>
                  </a:moveTo>
                  <a:lnTo>
                    <a:pt x="15240" y="36576"/>
                  </a:lnTo>
                  <a:lnTo>
                    <a:pt x="24384" y="24384"/>
                  </a:lnTo>
                  <a:lnTo>
                    <a:pt x="36576" y="15240"/>
                  </a:lnTo>
                  <a:lnTo>
                    <a:pt x="36576" y="13716"/>
                  </a:lnTo>
                  <a:lnTo>
                    <a:pt x="44196" y="10668"/>
                  </a:lnTo>
                  <a:lnTo>
                    <a:pt x="50292" y="6096"/>
                  </a:lnTo>
                  <a:lnTo>
                    <a:pt x="57912" y="3048"/>
                  </a:lnTo>
                  <a:lnTo>
                    <a:pt x="67056" y="1524"/>
                  </a:lnTo>
                  <a:lnTo>
                    <a:pt x="74676" y="0"/>
                  </a:lnTo>
                  <a:lnTo>
                    <a:pt x="4296156" y="0"/>
                  </a:lnTo>
                  <a:lnTo>
                    <a:pt x="4303776" y="1524"/>
                  </a:lnTo>
                  <a:lnTo>
                    <a:pt x="4312920" y="3048"/>
                  </a:lnTo>
                  <a:lnTo>
                    <a:pt x="4320540" y="6096"/>
                  </a:lnTo>
                  <a:lnTo>
                    <a:pt x="4326636" y="9144"/>
                  </a:lnTo>
                  <a:lnTo>
                    <a:pt x="4334256" y="13716"/>
                  </a:lnTo>
                  <a:lnTo>
                    <a:pt x="4334256" y="15240"/>
                  </a:lnTo>
                  <a:lnTo>
                    <a:pt x="77724" y="15240"/>
                  </a:lnTo>
                  <a:lnTo>
                    <a:pt x="70104" y="16764"/>
                  </a:lnTo>
                  <a:lnTo>
                    <a:pt x="64008" y="18288"/>
                  </a:lnTo>
                  <a:lnTo>
                    <a:pt x="57912" y="21336"/>
                  </a:lnTo>
                  <a:lnTo>
                    <a:pt x="51816" y="22860"/>
                  </a:lnTo>
                  <a:lnTo>
                    <a:pt x="47752" y="25908"/>
                  </a:lnTo>
                  <a:lnTo>
                    <a:pt x="45720" y="25908"/>
                  </a:lnTo>
                  <a:lnTo>
                    <a:pt x="35052" y="36576"/>
                  </a:lnTo>
                  <a:close/>
                </a:path>
                <a:path w="4371340" h="1065529">
                  <a:moveTo>
                    <a:pt x="4326636" y="27432"/>
                  </a:moveTo>
                  <a:lnTo>
                    <a:pt x="4308348" y="18288"/>
                  </a:lnTo>
                  <a:lnTo>
                    <a:pt x="4302252" y="16764"/>
                  </a:lnTo>
                  <a:lnTo>
                    <a:pt x="4294632" y="15240"/>
                  </a:lnTo>
                  <a:lnTo>
                    <a:pt x="4334256" y="15240"/>
                  </a:lnTo>
                  <a:lnTo>
                    <a:pt x="4346448" y="24384"/>
                  </a:lnTo>
                  <a:lnTo>
                    <a:pt x="4347781" y="25908"/>
                  </a:lnTo>
                  <a:lnTo>
                    <a:pt x="4325112" y="25908"/>
                  </a:lnTo>
                  <a:lnTo>
                    <a:pt x="4326636" y="27432"/>
                  </a:lnTo>
                  <a:close/>
                </a:path>
                <a:path w="4371340" h="1065529">
                  <a:moveTo>
                    <a:pt x="45720" y="27432"/>
                  </a:moveTo>
                  <a:lnTo>
                    <a:pt x="45720" y="25908"/>
                  </a:lnTo>
                  <a:lnTo>
                    <a:pt x="47752" y="25908"/>
                  </a:lnTo>
                  <a:lnTo>
                    <a:pt x="45720" y="27432"/>
                  </a:lnTo>
                  <a:close/>
                </a:path>
                <a:path w="4371340" h="1065529">
                  <a:moveTo>
                    <a:pt x="4335780" y="36576"/>
                  </a:moveTo>
                  <a:lnTo>
                    <a:pt x="4325112" y="25908"/>
                  </a:lnTo>
                  <a:lnTo>
                    <a:pt x="4347781" y="25908"/>
                  </a:lnTo>
                  <a:lnTo>
                    <a:pt x="4355782" y="35052"/>
                  </a:lnTo>
                  <a:lnTo>
                    <a:pt x="4335780" y="35052"/>
                  </a:lnTo>
                  <a:lnTo>
                    <a:pt x="4335780" y="36576"/>
                  </a:lnTo>
                  <a:close/>
                </a:path>
                <a:path w="4371340" h="1065529">
                  <a:moveTo>
                    <a:pt x="35872" y="1029403"/>
                  </a:moveTo>
                  <a:lnTo>
                    <a:pt x="35052" y="1028700"/>
                  </a:lnTo>
                  <a:lnTo>
                    <a:pt x="13716" y="1028700"/>
                  </a:lnTo>
                  <a:lnTo>
                    <a:pt x="10668" y="1022604"/>
                  </a:lnTo>
                  <a:lnTo>
                    <a:pt x="1524" y="999744"/>
                  </a:lnTo>
                  <a:lnTo>
                    <a:pt x="0" y="990600"/>
                  </a:lnTo>
                  <a:lnTo>
                    <a:pt x="0" y="74676"/>
                  </a:lnTo>
                  <a:lnTo>
                    <a:pt x="1524" y="67056"/>
                  </a:lnTo>
                  <a:lnTo>
                    <a:pt x="4572" y="59436"/>
                  </a:lnTo>
                  <a:lnTo>
                    <a:pt x="6096" y="51816"/>
                  </a:lnTo>
                  <a:lnTo>
                    <a:pt x="10668" y="44196"/>
                  </a:lnTo>
                  <a:lnTo>
                    <a:pt x="13716" y="36576"/>
                  </a:lnTo>
                  <a:lnTo>
                    <a:pt x="35052" y="36576"/>
                  </a:lnTo>
                  <a:lnTo>
                    <a:pt x="36576" y="35052"/>
                  </a:lnTo>
                  <a:lnTo>
                    <a:pt x="27432" y="45720"/>
                  </a:lnTo>
                  <a:lnTo>
                    <a:pt x="24384" y="50292"/>
                  </a:lnTo>
                  <a:lnTo>
                    <a:pt x="21336" y="56388"/>
                  </a:lnTo>
                  <a:lnTo>
                    <a:pt x="19812" y="62484"/>
                  </a:lnTo>
                  <a:lnTo>
                    <a:pt x="16764" y="68580"/>
                  </a:lnTo>
                  <a:lnTo>
                    <a:pt x="16764" y="76200"/>
                  </a:lnTo>
                  <a:lnTo>
                    <a:pt x="15240" y="83820"/>
                  </a:lnTo>
                  <a:lnTo>
                    <a:pt x="15240" y="981456"/>
                  </a:lnTo>
                  <a:lnTo>
                    <a:pt x="16764" y="989076"/>
                  </a:lnTo>
                  <a:lnTo>
                    <a:pt x="16764" y="995172"/>
                  </a:lnTo>
                  <a:lnTo>
                    <a:pt x="18288" y="1001268"/>
                  </a:lnTo>
                  <a:lnTo>
                    <a:pt x="27432" y="1019556"/>
                  </a:lnTo>
                  <a:lnTo>
                    <a:pt x="35872" y="1029403"/>
                  </a:lnTo>
                  <a:close/>
                </a:path>
                <a:path w="4371340" h="1065529">
                  <a:moveTo>
                    <a:pt x="4355782" y="1030224"/>
                  </a:moveTo>
                  <a:lnTo>
                    <a:pt x="4335780" y="1030224"/>
                  </a:lnTo>
                  <a:lnTo>
                    <a:pt x="4344924" y="1019556"/>
                  </a:lnTo>
                  <a:lnTo>
                    <a:pt x="4343400" y="1019556"/>
                  </a:lnTo>
                  <a:lnTo>
                    <a:pt x="4346448" y="1014984"/>
                  </a:lnTo>
                  <a:lnTo>
                    <a:pt x="4352544" y="1002792"/>
                  </a:lnTo>
                  <a:lnTo>
                    <a:pt x="4354068" y="996695"/>
                  </a:lnTo>
                  <a:lnTo>
                    <a:pt x="4355592" y="989076"/>
                  </a:lnTo>
                  <a:lnTo>
                    <a:pt x="4355592" y="76200"/>
                  </a:lnTo>
                  <a:lnTo>
                    <a:pt x="4352544" y="64008"/>
                  </a:lnTo>
                  <a:lnTo>
                    <a:pt x="4349496" y="57912"/>
                  </a:lnTo>
                  <a:lnTo>
                    <a:pt x="4347972" y="51816"/>
                  </a:lnTo>
                  <a:lnTo>
                    <a:pt x="4344924" y="45720"/>
                  </a:lnTo>
                  <a:lnTo>
                    <a:pt x="4335780" y="35052"/>
                  </a:lnTo>
                  <a:lnTo>
                    <a:pt x="4355782" y="35052"/>
                  </a:lnTo>
                  <a:lnTo>
                    <a:pt x="4357116" y="36576"/>
                  </a:lnTo>
                  <a:lnTo>
                    <a:pt x="4360164" y="42672"/>
                  </a:lnTo>
                  <a:lnTo>
                    <a:pt x="4364736" y="50292"/>
                  </a:lnTo>
                  <a:lnTo>
                    <a:pt x="4367784" y="57912"/>
                  </a:lnTo>
                  <a:lnTo>
                    <a:pt x="4369308" y="65532"/>
                  </a:lnTo>
                  <a:lnTo>
                    <a:pt x="4370832" y="74676"/>
                  </a:lnTo>
                  <a:lnTo>
                    <a:pt x="4370832" y="990600"/>
                  </a:lnTo>
                  <a:lnTo>
                    <a:pt x="4367784" y="1005840"/>
                  </a:lnTo>
                  <a:lnTo>
                    <a:pt x="4361688" y="1021080"/>
                  </a:lnTo>
                  <a:lnTo>
                    <a:pt x="4357116" y="1028700"/>
                  </a:lnTo>
                  <a:lnTo>
                    <a:pt x="4355782" y="1030224"/>
                  </a:lnTo>
                  <a:close/>
                </a:path>
                <a:path w="4371340" h="1065529">
                  <a:moveTo>
                    <a:pt x="4296156" y="1065276"/>
                  </a:moveTo>
                  <a:lnTo>
                    <a:pt x="76200" y="1065276"/>
                  </a:lnTo>
                  <a:lnTo>
                    <a:pt x="67056" y="1063752"/>
                  </a:lnTo>
                  <a:lnTo>
                    <a:pt x="59436" y="1062228"/>
                  </a:lnTo>
                  <a:lnTo>
                    <a:pt x="51816" y="1059180"/>
                  </a:lnTo>
                  <a:lnTo>
                    <a:pt x="44196" y="1054608"/>
                  </a:lnTo>
                  <a:lnTo>
                    <a:pt x="36576" y="1051560"/>
                  </a:lnTo>
                  <a:lnTo>
                    <a:pt x="36576" y="1050036"/>
                  </a:lnTo>
                  <a:lnTo>
                    <a:pt x="24384" y="1040892"/>
                  </a:lnTo>
                  <a:lnTo>
                    <a:pt x="15240" y="1028700"/>
                  </a:lnTo>
                  <a:lnTo>
                    <a:pt x="35052" y="1028700"/>
                  </a:lnTo>
                  <a:lnTo>
                    <a:pt x="36576" y="1030224"/>
                  </a:lnTo>
                  <a:lnTo>
                    <a:pt x="36830" y="1030224"/>
                  </a:lnTo>
                  <a:lnTo>
                    <a:pt x="45720" y="1037844"/>
                  </a:lnTo>
                  <a:lnTo>
                    <a:pt x="50292" y="1040892"/>
                  </a:lnTo>
                  <a:lnTo>
                    <a:pt x="62484" y="1046988"/>
                  </a:lnTo>
                  <a:lnTo>
                    <a:pt x="70104" y="1048512"/>
                  </a:lnTo>
                  <a:lnTo>
                    <a:pt x="76200" y="1048512"/>
                  </a:lnTo>
                  <a:lnTo>
                    <a:pt x="83820" y="1050036"/>
                  </a:lnTo>
                  <a:lnTo>
                    <a:pt x="4334256" y="1050036"/>
                  </a:lnTo>
                  <a:lnTo>
                    <a:pt x="4334256" y="1051560"/>
                  </a:lnTo>
                  <a:lnTo>
                    <a:pt x="4328160" y="1054608"/>
                  </a:lnTo>
                  <a:lnTo>
                    <a:pt x="4320540" y="1059180"/>
                  </a:lnTo>
                  <a:lnTo>
                    <a:pt x="4312920" y="1060704"/>
                  </a:lnTo>
                  <a:lnTo>
                    <a:pt x="4305300" y="1063752"/>
                  </a:lnTo>
                  <a:lnTo>
                    <a:pt x="4296156" y="1065276"/>
                  </a:lnTo>
                  <a:close/>
                </a:path>
                <a:path w="4371340" h="1065529">
                  <a:moveTo>
                    <a:pt x="4334256" y="1050036"/>
                  </a:moveTo>
                  <a:lnTo>
                    <a:pt x="4294632" y="1050036"/>
                  </a:lnTo>
                  <a:lnTo>
                    <a:pt x="4300728" y="1048512"/>
                  </a:lnTo>
                  <a:lnTo>
                    <a:pt x="4308348" y="1046988"/>
                  </a:lnTo>
                  <a:lnTo>
                    <a:pt x="4314444" y="1043940"/>
                  </a:lnTo>
                  <a:lnTo>
                    <a:pt x="4319016" y="1040892"/>
                  </a:lnTo>
                  <a:lnTo>
                    <a:pt x="4326636" y="1037844"/>
                  </a:lnTo>
                  <a:lnTo>
                    <a:pt x="4325112" y="1037844"/>
                  </a:lnTo>
                  <a:lnTo>
                    <a:pt x="4335780" y="1028700"/>
                  </a:lnTo>
                  <a:lnTo>
                    <a:pt x="4335780" y="1030224"/>
                  </a:lnTo>
                  <a:lnTo>
                    <a:pt x="4355782" y="1030224"/>
                  </a:lnTo>
                  <a:lnTo>
                    <a:pt x="4346448" y="1040892"/>
                  </a:lnTo>
                  <a:lnTo>
                    <a:pt x="4334256" y="1050036"/>
                  </a:lnTo>
                  <a:close/>
                </a:path>
                <a:path w="4371340" h="1065529">
                  <a:moveTo>
                    <a:pt x="36830" y="1030224"/>
                  </a:moveTo>
                  <a:lnTo>
                    <a:pt x="36576" y="1030224"/>
                  </a:lnTo>
                  <a:lnTo>
                    <a:pt x="35872" y="1029403"/>
                  </a:lnTo>
                  <a:lnTo>
                    <a:pt x="36830" y="1030224"/>
                  </a:lnTo>
                  <a:close/>
                </a:path>
              </a:pathLst>
            </a:custGeom>
            <a:solidFill>
              <a:srgbClr val="6D44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82539" y="2583179"/>
              <a:ext cx="62865" cy="1050290"/>
            </a:xfrm>
            <a:custGeom>
              <a:avLst/>
              <a:gdLst/>
              <a:ahLst/>
              <a:cxnLst/>
              <a:rect l="l" t="t" r="r" b="b"/>
              <a:pathLst>
                <a:path w="62864" h="1050289">
                  <a:moveTo>
                    <a:pt x="32004" y="1050036"/>
                  </a:moveTo>
                  <a:lnTo>
                    <a:pt x="19288" y="1047607"/>
                  </a:lnTo>
                  <a:lnTo>
                    <a:pt x="9144" y="1040892"/>
                  </a:lnTo>
                  <a:lnTo>
                    <a:pt x="2428" y="1030747"/>
                  </a:lnTo>
                  <a:lnTo>
                    <a:pt x="0" y="1018032"/>
                  </a:lnTo>
                  <a:lnTo>
                    <a:pt x="0" y="32004"/>
                  </a:lnTo>
                  <a:lnTo>
                    <a:pt x="2428" y="19288"/>
                  </a:lnTo>
                  <a:lnTo>
                    <a:pt x="9144" y="9144"/>
                  </a:lnTo>
                  <a:lnTo>
                    <a:pt x="19288" y="2428"/>
                  </a:lnTo>
                  <a:lnTo>
                    <a:pt x="32004" y="0"/>
                  </a:lnTo>
                  <a:lnTo>
                    <a:pt x="43838" y="2428"/>
                  </a:lnTo>
                  <a:lnTo>
                    <a:pt x="53530" y="9144"/>
                  </a:lnTo>
                  <a:lnTo>
                    <a:pt x="60078" y="19288"/>
                  </a:lnTo>
                  <a:lnTo>
                    <a:pt x="62484" y="32004"/>
                  </a:lnTo>
                  <a:lnTo>
                    <a:pt x="62484" y="1018032"/>
                  </a:lnTo>
                  <a:lnTo>
                    <a:pt x="60078" y="1030747"/>
                  </a:lnTo>
                  <a:lnTo>
                    <a:pt x="53530" y="1040892"/>
                  </a:lnTo>
                  <a:lnTo>
                    <a:pt x="43838" y="1047607"/>
                  </a:lnTo>
                  <a:lnTo>
                    <a:pt x="32004" y="1050036"/>
                  </a:lnTo>
                  <a:close/>
                </a:path>
              </a:pathLst>
            </a:custGeom>
            <a:solidFill>
              <a:srgbClr val="A85B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290808" y="2722891"/>
            <a:ext cx="3460115" cy="732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Very</a:t>
            </a:r>
            <a:r>
              <a:rPr dirty="0" sz="1200" spc="45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Low</a:t>
            </a:r>
            <a:r>
              <a:rPr dirty="0" sz="1200" spc="6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Repeat</a:t>
            </a:r>
            <a:r>
              <a:rPr dirty="0" sz="1200" spc="8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DAD8E8"/>
                </a:solidFill>
                <a:latin typeface="Arial MT"/>
                <a:cs typeface="Arial MT"/>
              </a:rPr>
              <a:t>Customers</a:t>
            </a:r>
            <a:endParaRPr sz="1200">
              <a:latin typeface="Arial MT"/>
              <a:cs typeface="Arial MT"/>
            </a:endParaRPr>
          </a:p>
          <a:p>
            <a:pPr marL="12700" marR="5080">
              <a:lnSpc>
                <a:spcPct val="138200"/>
              </a:lnSpc>
              <a:spcBef>
                <a:spcPts val="434"/>
              </a:spcBef>
            </a:pPr>
            <a:r>
              <a:rPr dirty="0" sz="1100" spc="-50">
                <a:solidFill>
                  <a:srgbClr val="DAD8E8"/>
                </a:solidFill>
                <a:latin typeface="Tahoma"/>
                <a:cs typeface="Tahoma"/>
              </a:rPr>
              <a:t>Repeat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customer</a:t>
            </a:r>
            <a:r>
              <a:rPr dirty="0" sz="110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DAD8E8"/>
                </a:solidFill>
                <a:latin typeface="Tahoma"/>
                <a:cs typeface="Tahoma"/>
              </a:rPr>
              <a:t>rate</a:t>
            </a:r>
            <a:r>
              <a:rPr dirty="0" sz="110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is</a:t>
            </a:r>
            <a:r>
              <a:rPr dirty="0" sz="110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approximately</a:t>
            </a:r>
            <a:r>
              <a:rPr dirty="0" sz="110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45">
                <a:solidFill>
                  <a:srgbClr val="DAD8E8"/>
                </a:solidFill>
                <a:latin typeface="Tahoma"/>
                <a:cs typeface="Tahoma"/>
              </a:rPr>
              <a:t>~3%,</a:t>
            </a:r>
            <a:r>
              <a:rPr dirty="0" sz="110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indicating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20">
                <a:solidFill>
                  <a:srgbClr val="DAD8E8"/>
                </a:solidFill>
                <a:latin typeface="Tahoma"/>
                <a:cs typeface="Tahoma"/>
              </a:rPr>
              <a:t>poor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customer</a:t>
            </a:r>
            <a:r>
              <a:rPr dirty="0" sz="110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DAD8E8"/>
                </a:solidFill>
                <a:latin typeface="Tahoma"/>
                <a:cs typeface="Tahoma"/>
              </a:rPr>
              <a:t>retention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91312" y="3761232"/>
            <a:ext cx="4378960" cy="841375"/>
            <a:chOff x="591312" y="3761232"/>
            <a:chExt cx="4378960" cy="841375"/>
          </a:xfrm>
        </p:grpSpPr>
        <p:sp>
          <p:nvSpPr>
            <p:cNvPr id="16" name="object 16"/>
            <p:cNvSpPr/>
            <p:nvPr/>
          </p:nvSpPr>
          <p:spPr>
            <a:xfrm>
              <a:off x="606551" y="3768852"/>
              <a:ext cx="4356100" cy="826135"/>
            </a:xfrm>
            <a:custGeom>
              <a:avLst/>
              <a:gdLst/>
              <a:ahLst/>
              <a:cxnLst/>
              <a:rect l="l" t="t" r="r" b="b"/>
              <a:pathLst>
                <a:path w="4356100" h="826135">
                  <a:moveTo>
                    <a:pt x="4279391" y="826008"/>
                  </a:moveTo>
                  <a:lnTo>
                    <a:pt x="74676" y="826008"/>
                  </a:lnTo>
                  <a:lnTo>
                    <a:pt x="45648" y="820102"/>
                  </a:lnTo>
                  <a:lnTo>
                    <a:pt x="21907" y="803909"/>
                  </a:lnTo>
                  <a:lnTo>
                    <a:pt x="5881" y="779716"/>
                  </a:lnTo>
                  <a:lnTo>
                    <a:pt x="0" y="749808"/>
                  </a:lnTo>
                  <a:lnTo>
                    <a:pt x="0" y="76200"/>
                  </a:lnTo>
                  <a:lnTo>
                    <a:pt x="5881" y="46934"/>
                  </a:lnTo>
                  <a:lnTo>
                    <a:pt x="21907" y="22669"/>
                  </a:lnTo>
                  <a:lnTo>
                    <a:pt x="45648" y="6119"/>
                  </a:lnTo>
                  <a:lnTo>
                    <a:pt x="74676" y="0"/>
                  </a:lnTo>
                  <a:lnTo>
                    <a:pt x="4279391" y="0"/>
                  </a:lnTo>
                  <a:lnTo>
                    <a:pt x="4308657" y="6119"/>
                  </a:lnTo>
                  <a:lnTo>
                    <a:pt x="4332922" y="22669"/>
                  </a:lnTo>
                  <a:lnTo>
                    <a:pt x="4349472" y="46934"/>
                  </a:lnTo>
                  <a:lnTo>
                    <a:pt x="4355591" y="76200"/>
                  </a:lnTo>
                  <a:lnTo>
                    <a:pt x="4355591" y="749808"/>
                  </a:lnTo>
                  <a:lnTo>
                    <a:pt x="4349472" y="779716"/>
                  </a:lnTo>
                  <a:lnTo>
                    <a:pt x="4332922" y="803909"/>
                  </a:lnTo>
                  <a:lnTo>
                    <a:pt x="4308657" y="820102"/>
                  </a:lnTo>
                  <a:lnTo>
                    <a:pt x="4279391" y="826008"/>
                  </a:lnTo>
                  <a:close/>
                </a:path>
              </a:pathLst>
            </a:custGeom>
            <a:solidFill>
              <a:srgbClr val="0A0C23">
                <a:alpha val="9452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98932" y="3761232"/>
              <a:ext cx="4371340" cy="841375"/>
            </a:xfrm>
            <a:custGeom>
              <a:avLst/>
              <a:gdLst/>
              <a:ahLst/>
              <a:cxnLst/>
              <a:rect l="l" t="t" r="r" b="b"/>
              <a:pathLst>
                <a:path w="4371340" h="841375">
                  <a:moveTo>
                    <a:pt x="4294632" y="1524"/>
                  </a:moveTo>
                  <a:lnTo>
                    <a:pt x="74676" y="1524"/>
                  </a:lnTo>
                  <a:lnTo>
                    <a:pt x="82296" y="0"/>
                  </a:lnTo>
                  <a:lnTo>
                    <a:pt x="4287012" y="0"/>
                  </a:lnTo>
                  <a:lnTo>
                    <a:pt x="4294632" y="1524"/>
                  </a:lnTo>
                  <a:close/>
                </a:path>
                <a:path w="4371340" h="841375">
                  <a:moveTo>
                    <a:pt x="4334256" y="827532"/>
                  </a:moveTo>
                  <a:lnTo>
                    <a:pt x="35052" y="827532"/>
                  </a:lnTo>
                  <a:lnTo>
                    <a:pt x="24384" y="818388"/>
                  </a:lnTo>
                  <a:lnTo>
                    <a:pt x="24384" y="816864"/>
                  </a:lnTo>
                  <a:lnTo>
                    <a:pt x="22860" y="816864"/>
                  </a:lnTo>
                  <a:lnTo>
                    <a:pt x="13716" y="806195"/>
                  </a:lnTo>
                  <a:lnTo>
                    <a:pt x="13716" y="804672"/>
                  </a:lnTo>
                  <a:lnTo>
                    <a:pt x="9144" y="798576"/>
                  </a:lnTo>
                  <a:lnTo>
                    <a:pt x="3048" y="783336"/>
                  </a:lnTo>
                  <a:lnTo>
                    <a:pt x="1524" y="775716"/>
                  </a:lnTo>
                  <a:lnTo>
                    <a:pt x="0" y="766572"/>
                  </a:lnTo>
                  <a:lnTo>
                    <a:pt x="0" y="76200"/>
                  </a:lnTo>
                  <a:lnTo>
                    <a:pt x="1524" y="67056"/>
                  </a:lnTo>
                  <a:lnTo>
                    <a:pt x="3048" y="59436"/>
                  </a:lnTo>
                  <a:lnTo>
                    <a:pt x="9144" y="44196"/>
                  </a:lnTo>
                  <a:lnTo>
                    <a:pt x="13716" y="38100"/>
                  </a:lnTo>
                  <a:lnTo>
                    <a:pt x="13716" y="36576"/>
                  </a:lnTo>
                  <a:lnTo>
                    <a:pt x="22860" y="25908"/>
                  </a:lnTo>
                  <a:lnTo>
                    <a:pt x="24384" y="24384"/>
                  </a:lnTo>
                  <a:lnTo>
                    <a:pt x="35052" y="15240"/>
                  </a:lnTo>
                  <a:lnTo>
                    <a:pt x="36576" y="15240"/>
                  </a:lnTo>
                  <a:lnTo>
                    <a:pt x="36576" y="13716"/>
                  </a:lnTo>
                  <a:lnTo>
                    <a:pt x="42672" y="10668"/>
                  </a:lnTo>
                  <a:lnTo>
                    <a:pt x="65532" y="1524"/>
                  </a:lnTo>
                  <a:lnTo>
                    <a:pt x="4303776" y="1524"/>
                  </a:lnTo>
                  <a:lnTo>
                    <a:pt x="4326636" y="10668"/>
                  </a:lnTo>
                  <a:lnTo>
                    <a:pt x="4332732" y="13716"/>
                  </a:lnTo>
                  <a:lnTo>
                    <a:pt x="4334256" y="15240"/>
                  </a:lnTo>
                  <a:lnTo>
                    <a:pt x="4336034" y="16764"/>
                  </a:lnTo>
                  <a:lnTo>
                    <a:pt x="70104" y="16764"/>
                  </a:lnTo>
                  <a:lnTo>
                    <a:pt x="62484" y="19812"/>
                  </a:lnTo>
                  <a:lnTo>
                    <a:pt x="56388" y="21336"/>
                  </a:lnTo>
                  <a:lnTo>
                    <a:pt x="44196" y="27432"/>
                  </a:lnTo>
                  <a:lnTo>
                    <a:pt x="45720" y="27432"/>
                  </a:lnTo>
                  <a:lnTo>
                    <a:pt x="36830" y="35052"/>
                  </a:lnTo>
                  <a:lnTo>
                    <a:pt x="35052" y="35052"/>
                  </a:lnTo>
                  <a:lnTo>
                    <a:pt x="25908" y="47244"/>
                  </a:lnTo>
                  <a:lnTo>
                    <a:pt x="26670" y="47244"/>
                  </a:lnTo>
                  <a:lnTo>
                    <a:pt x="24384" y="51816"/>
                  </a:lnTo>
                  <a:lnTo>
                    <a:pt x="21336" y="56388"/>
                  </a:lnTo>
                  <a:lnTo>
                    <a:pt x="18288" y="64008"/>
                  </a:lnTo>
                  <a:lnTo>
                    <a:pt x="15240" y="76200"/>
                  </a:lnTo>
                  <a:lnTo>
                    <a:pt x="15240" y="765047"/>
                  </a:lnTo>
                  <a:lnTo>
                    <a:pt x="16764" y="771144"/>
                  </a:lnTo>
                  <a:lnTo>
                    <a:pt x="18288" y="778764"/>
                  </a:lnTo>
                  <a:lnTo>
                    <a:pt x="19812" y="784860"/>
                  </a:lnTo>
                  <a:lnTo>
                    <a:pt x="22860" y="789432"/>
                  </a:lnTo>
                  <a:lnTo>
                    <a:pt x="26517" y="795528"/>
                  </a:lnTo>
                  <a:lnTo>
                    <a:pt x="25908" y="795528"/>
                  </a:lnTo>
                  <a:lnTo>
                    <a:pt x="35052" y="806195"/>
                  </a:lnTo>
                  <a:lnTo>
                    <a:pt x="45720" y="815340"/>
                  </a:lnTo>
                  <a:lnTo>
                    <a:pt x="47244" y="815340"/>
                  </a:lnTo>
                  <a:lnTo>
                    <a:pt x="62484" y="822960"/>
                  </a:lnTo>
                  <a:lnTo>
                    <a:pt x="68580" y="824484"/>
                  </a:lnTo>
                  <a:lnTo>
                    <a:pt x="76200" y="826008"/>
                  </a:lnTo>
                  <a:lnTo>
                    <a:pt x="4336034" y="826008"/>
                  </a:lnTo>
                  <a:lnTo>
                    <a:pt x="4334256" y="827532"/>
                  </a:lnTo>
                  <a:close/>
                </a:path>
                <a:path w="4371340" h="841375">
                  <a:moveTo>
                    <a:pt x="4334713" y="35661"/>
                  </a:moveTo>
                  <a:lnTo>
                    <a:pt x="4325112" y="27432"/>
                  </a:lnTo>
                  <a:lnTo>
                    <a:pt x="4319016" y="24384"/>
                  </a:lnTo>
                  <a:lnTo>
                    <a:pt x="4314444" y="21336"/>
                  </a:lnTo>
                  <a:lnTo>
                    <a:pt x="4308348" y="19812"/>
                  </a:lnTo>
                  <a:lnTo>
                    <a:pt x="4300728" y="18288"/>
                  </a:lnTo>
                  <a:lnTo>
                    <a:pt x="4294632" y="16764"/>
                  </a:lnTo>
                  <a:lnTo>
                    <a:pt x="4336034" y="16764"/>
                  </a:lnTo>
                  <a:lnTo>
                    <a:pt x="4344924" y="24384"/>
                  </a:lnTo>
                  <a:lnTo>
                    <a:pt x="4346448" y="24384"/>
                  </a:lnTo>
                  <a:lnTo>
                    <a:pt x="4346448" y="25908"/>
                  </a:lnTo>
                  <a:lnTo>
                    <a:pt x="4354285" y="35052"/>
                  </a:lnTo>
                  <a:lnTo>
                    <a:pt x="4334256" y="35052"/>
                  </a:lnTo>
                  <a:lnTo>
                    <a:pt x="4334713" y="35661"/>
                  </a:lnTo>
                  <a:close/>
                </a:path>
                <a:path w="4371340" h="841375">
                  <a:moveTo>
                    <a:pt x="35052" y="36576"/>
                  </a:moveTo>
                  <a:lnTo>
                    <a:pt x="35052" y="35052"/>
                  </a:lnTo>
                  <a:lnTo>
                    <a:pt x="36830" y="35052"/>
                  </a:lnTo>
                  <a:lnTo>
                    <a:pt x="35052" y="36576"/>
                  </a:lnTo>
                  <a:close/>
                </a:path>
                <a:path w="4371340" h="841375">
                  <a:moveTo>
                    <a:pt x="4335780" y="36576"/>
                  </a:moveTo>
                  <a:lnTo>
                    <a:pt x="4334713" y="35661"/>
                  </a:lnTo>
                  <a:lnTo>
                    <a:pt x="4334256" y="35052"/>
                  </a:lnTo>
                  <a:lnTo>
                    <a:pt x="4335780" y="36576"/>
                  </a:lnTo>
                  <a:close/>
                </a:path>
                <a:path w="4371340" h="841375">
                  <a:moveTo>
                    <a:pt x="4355592" y="36576"/>
                  </a:moveTo>
                  <a:lnTo>
                    <a:pt x="4335780" y="36576"/>
                  </a:lnTo>
                  <a:lnTo>
                    <a:pt x="4334256" y="35052"/>
                  </a:lnTo>
                  <a:lnTo>
                    <a:pt x="4354285" y="35052"/>
                  </a:lnTo>
                  <a:lnTo>
                    <a:pt x="4355592" y="36576"/>
                  </a:lnTo>
                  <a:close/>
                </a:path>
                <a:path w="4371340" h="841375">
                  <a:moveTo>
                    <a:pt x="4343400" y="47244"/>
                  </a:moveTo>
                  <a:lnTo>
                    <a:pt x="4334713" y="35661"/>
                  </a:lnTo>
                  <a:lnTo>
                    <a:pt x="4335780" y="36576"/>
                  </a:lnTo>
                  <a:lnTo>
                    <a:pt x="4357116" y="36576"/>
                  </a:lnTo>
                  <a:lnTo>
                    <a:pt x="4357116" y="38100"/>
                  </a:lnTo>
                  <a:lnTo>
                    <a:pt x="4360926" y="45720"/>
                  </a:lnTo>
                  <a:lnTo>
                    <a:pt x="4343400" y="45720"/>
                  </a:lnTo>
                  <a:lnTo>
                    <a:pt x="4343400" y="47244"/>
                  </a:lnTo>
                  <a:close/>
                </a:path>
                <a:path w="4371340" h="841375">
                  <a:moveTo>
                    <a:pt x="26670" y="47244"/>
                  </a:moveTo>
                  <a:lnTo>
                    <a:pt x="25908" y="47244"/>
                  </a:lnTo>
                  <a:lnTo>
                    <a:pt x="27432" y="45720"/>
                  </a:lnTo>
                  <a:lnTo>
                    <a:pt x="26670" y="47244"/>
                  </a:lnTo>
                  <a:close/>
                </a:path>
                <a:path w="4371340" h="841375">
                  <a:moveTo>
                    <a:pt x="4360164" y="797051"/>
                  </a:moveTo>
                  <a:lnTo>
                    <a:pt x="4343400" y="797051"/>
                  </a:lnTo>
                  <a:lnTo>
                    <a:pt x="4349496" y="784860"/>
                  </a:lnTo>
                  <a:lnTo>
                    <a:pt x="4351020" y="778764"/>
                  </a:lnTo>
                  <a:lnTo>
                    <a:pt x="4354068" y="772668"/>
                  </a:lnTo>
                  <a:lnTo>
                    <a:pt x="4354068" y="765047"/>
                  </a:lnTo>
                  <a:lnTo>
                    <a:pt x="4355592" y="758951"/>
                  </a:lnTo>
                  <a:lnTo>
                    <a:pt x="4355592" y="83820"/>
                  </a:lnTo>
                  <a:lnTo>
                    <a:pt x="4354068" y="77724"/>
                  </a:lnTo>
                  <a:lnTo>
                    <a:pt x="4354068" y="70104"/>
                  </a:lnTo>
                  <a:lnTo>
                    <a:pt x="4352544" y="64008"/>
                  </a:lnTo>
                  <a:lnTo>
                    <a:pt x="4343400" y="45720"/>
                  </a:lnTo>
                  <a:lnTo>
                    <a:pt x="4360926" y="45720"/>
                  </a:lnTo>
                  <a:lnTo>
                    <a:pt x="4363212" y="50292"/>
                  </a:lnTo>
                  <a:lnTo>
                    <a:pt x="4366260" y="59436"/>
                  </a:lnTo>
                  <a:lnTo>
                    <a:pt x="4369308" y="67056"/>
                  </a:lnTo>
                  <a:lnTo>
                    <a:pt x="4370832" y="74676"/>
                  </a:lnTo>
                  <a:lnTo>
                    <a:pt x="4370832" y="766572"/>
                  </a:lnTo>
                  <a:lnTo>
                    <a:pt x="4369308" y="774192"/>
                  </a:lnTo>
                  <a:lnTo>
                    <a:pt x="4366260" y="783336"/>
                  </a:lnTo>
                  <a:lnTo>
                    <a:pt x="4364736" y="790956"/>
                  </a:lnTo>
                  <a:lnTo>
                    <a:pt x="4360164" y="797051"/>
                  </a:lnTo>
                  <a:close/>
                </a:path>
                <a:path w="4371340" h="841375">
                  <a:moveTo>
                    <a:pt x="27940" y="797898"/>
                  </a:moveTo>
                  <a:lnTo>
                    <a:pt x="25908" y="795528"/>
                  </a:lnTo>
                  <a:lnTo>
                    <a:pt x="26517" y="795528"/>
                  </a:lnTo>
                  <a:lnTo>
                    <a:pt x="27940" y="797898"/>
                  </a:lnTo>
                  <a:close/>
                </a:path>
                <a:path w="4371340" h="841375">
                  <a:moveTo>
                    <a:pt x="4347754" y="815340"/>
                  </a:moveTo>
                  <a:lnTo>
                    <a:pt x="4325112" y="815340"/>
                  </a:lnTo>
                  <a:lnTo>
                    <a:pt x="4335780" y="806195"/>
                  </a:lnTo>
                  <a:lnTo>
                    <a:pt x="4334256" y="806195"/>
                  </a:lnTo>
                  <a:lnTo>
                    <a:pt x="4343400" y="795528"/>
                  </a:lnTo>
                  <a:lnTo>
                    <a:pt x="4343400" y="797051"/>
                  </a:lnTo>
                  <a:lnTo>
                    <a:pt x="4360164" y="797051"/>
                  </a:lnTo>
                  <a:lnTo>
                    <a:pt x="4357116" y="804672"/>
                  </a:lnTo>
                  <a:lnTo>
                    <a:pt x="4355592" y="804672"/>
                  </a:lnTo>
                  <a:lnTo>
                    <a:pt x="4355592" y="806195"/>
                  </a:lnTo>
                  <a:lnTo>
                    <a:pt x="4347754" y="815340"/>
                  </a:lnTo>
                  <a:close/>
                </a:path>
                <a:path w="4371340" h="841375">
                  <a:moveTo>
                    <a:pt x="47244" y="815340"/>
                  </a:moveTo>
                  <a:lnTo>
                    <a:pt x="45720" y="815340"/>
                  </a:lnTo>
                  <a:lnTo>
                    <a:pt x="44545" y="814165"/>
                  </a:lnTo>
                  <a:lnTo>
                    <a:pt x="43941" y="813816"/>
                  </a:lnTo>
                  <a:lnTo>
                    <a:pt x="43586" y="813511"/>
                  </a:lnTo>
                  <a:lnTo>
                    <a:pt x="47244" y="815340"/>
                  </a:lnTo>
                  <a:close/>
                </a:path>
                <a:path w="4371340" h="841375">
                  <a:moveTo>
                    <a:pt x="4336034" y="826008"/>
                  </a:moveTo>
                  <a:lnTo>
                    <a:pt x="4293108" y="826008"/>
                  </a:lnTo>
                  <a:lnTo>
                    <a:pt x="4300728" y="824484"/>
                  </a:lnTo>
                  <a:lnTo>
                    <a:pt x="4312920" y="821436"/>
                  </a:lnTo>
                  <a:lnTo>
                    <a:pt x="4319016" y="818388"/>
                  </a:lnTo>
                  <a:lnTo>
                    <a:pt x="4325112" y="813816"/>
                  </a:lnTo>
                  <a:lnTo>
                    <a:pt x="4325112" y="815340"/>
                  </a:lnTo>
                  <a:lnTo>
                    <a:pt x="4347754" y="815340"/>
                  </a:lnTo>
                  <a:lnTo>
                    <a:pt x="4346448" y="816864"/>
                  </a:lnTo>
                  <a:lnTo>
                    <a:pt x="4344924" y="818388"/>
                  </a:lnTo>
                  <a:lnTo>
                    <a:pt x="4336034" y="826008"/>
                  </a:lnTo>
                  <a:close/>
                </a:path>
                <a:path w="4371340" h="841375">
                  <a:moveTo>
                    <a:pt x="4296156" y="841247"/>
                  </a:moveTo>
                  <a:lnTo>
                    <a:pt x="74676" y="841247"/>
                  </a:lnTo>
                  <a:lnTo>
                    <a:pt x="67056" y="839724"/>
                  </a:lnTo>
                  <a:lnTo>
                    <a:pt x="57912" y="838199"/>
                  </a:lnTo>
                  <a:lnTo>
                    <a:pt x="50292" y="835151"/>
                  </a:lnTo>
                  <a:lnTo>
                    <a:pt x="44196" y="832104"/>
                  </a:lnTo>
                  <a:lnTo>
                    <a:pt x="36576" y="827532"/>
                  </a:lnTo>
                  <a:lnTo>
                    <a:pt x="4332732" y="827532"/>
                  </a:lnTo>
                  <a:lnTo>
                    <a:pt x="4326636" y="830580"/>
                  </a:lnTo>
                  <a:lnTo>
                    <a:pt x="4320540" y="835151"/>
                  </a:lnTo>
                  <a:lnTo>
                    <a:pt x="4312920" y="838199"/>
                  </a:lnTo>
                  <a:lnTo>
                    <a:pt x="4303776" y="839724"/>
                  </a:lnTo>
                  <a:lnTo>
                    <a:pt x="4296156" y="841247"/>
                  </a:lnTo>
                  <a:close/>
                </a:path>
              </a:pathLst>
            </a:custGeom>
            <a:solidFill>
              <a:srgbClr val="6D44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1312" y="3768852"/>
              <a:ext cx="62865" cy="826135"/>
            </a:xfrm>
            <a:custGeom>
              <a:avLst/>
              <a:gdLst/>
              <a:ahLst/>
              <a:cxnLst/>
              <a:rect l="l" t="t" r="r" b="b"/>
              <a:pathLst>
                <a:path w="62865" h="826135">
                  <a:moveTo>
                    <a:pt x="30480" y="826008"/>
                  </a:moveTo>
                  <a:lnTo>
                    <a:pt x="18645" y="823579"/>
                  </a:lnTo>
                  <a:lnTo>
                    <a:pt x="8953" y="816864"/>
                  </a:lnTo>
                  <a:lnTo>
                    <a:pt x="2405" y="806719"/>
                  </a:lnTo>
                  <a:lnTo>
                    <a:pt x="0" y="794004"/>
                  </a:lnTo>
                  <a:lnTo>
                    <a:pt x="0" y="32004"/>
                  </a:lnTo>
                  <a:lnTo>
                    <a:pt x="2405" y="19931"/>
                  </a:lnTo>
                  <a:lnTo>
                    <a:pt x="8953" y="9715"/>
                  </a:lnTo>
                  <a:lnTo>
                    <a:pt x="18645" y="2643"/>
                  </a:lnTo>
                  <a:lnTo>
                    <a:pt x="30480" y="0"/>
                  </a:lnTo>
                  <a:lnTo>
                    <a:pt x="43195" y="2643"/>
                  </a:lnTo>
                  <a:lnTo>
                    <a:pt x="53340" y="9715"/>
                  </a:lnTo>
                  <a:lnTo>
                    <a:pt x="60055" y="19931"/>
                  </a:lnTo>
                  <a:lnTo>
                    <a:pt x="62484" y="32004"/>
                  </a:lnTo>
                  <a:lnTo>
                    <a:pt x="62484" y="794004"/>
                  </a:lnTo>
                  <a:lnTo>
                    <a:pt x="60055" y="806719"/>
                  </a:lnTo>
                  <a:lnTo>
                    <a:pt x="53340" y="816864"/>
                  </a:lnTo>
                  <a:lnTo>
                    <a:pt x="43195" y="823579"/>
                  </a:lnTo>
                  <a:lnTo>
                    <a:pt x="30480" y="826008"/>
                  </a:lnTo>
                  <a:close/>
                </a:path>
              </a:pathLst>
            </a:custGeom>
            <a:solidFill>
              <a:srgbClr val="A85B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799599" y="3910069"/>
            <a:ext cx="219837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High</a:t>
            </a:r>
            <a:r>
              <a:rPr dirty="0" sz="1200" spc="10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Dependency</a:t>
            </a:r>
            <a:r>
              <a:rPr dirty="0" sz="1200" spc="125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on</a:t>
            </a:r>
            <a:r>
              <a:rPr dirty="0" sz="1200" spc="9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DAD8E8"/>
                </a:solidFill>
                <a:latin typeface="Arial MT"/>
                <a:cs typeface="Arial MT"/>
              </a:rPr>
              <a:t>Channels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9524" y="4221020"/>
            <a:ext cx="342582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Strong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reliance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on</a:t>
            </a:r>
            <a:r>
              <a:rPr dirty="0" sz="110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travel</a:t>
            </a:r>
            <a:r>
              <a:rPr dirty="0" sz="110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agents</a:t>
            </a:r>
            <a:r>
              <a:rPr dirty="0" sz="110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10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Online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TA</a:t>
            </a:r>
            <a:r>
              <a:rPr dirty="0" sz="110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DAD8E8"/>
                </a:solidFill>
                <a:latin typeface="Tahoma"/>
                <a:cs typeface="Tahoma"/>
              </a:rPr>
              <a:t>for</a:t>
            </a:r>
            <a:r>
              <a:rPr dirty="0" sz="110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DAD8E8"/>
                </a:solidFill>
                <a:latin typeface="Tahoma"/>
                <a:cs typeface="Tahoma"/>
              </a:rPr>
              <a:t>bookings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082539" y="3761232"/>
            <a:ext cx="4378960" cy="841375"/>
            <a:chOff x="5082539" y="3761232"/>
            <a:chExt cx="4378960" cy="841375"/>
          </a:xfrm>
        </p:grpSpPr>
        <p:sp>
          <p:nvSpPr>
            <p:cNvPr id="22" name="object 22"/>
            <p:cNvSpPr/>
            <p:nvPr/>
          </p:nvSpPr>
          <p:spPr>
            <a:xfrm>
              <a:off x="5097780" y="3768852"/>
              <a:ext cx="4356100" cy="826135"/>
            </a:xfrm>
            <a:custGeom>
              <a:avLst/>
              <a:gdLst/>
              <a:ahLst/>
              <a:cxnLst/>
              <a:rect l="l" t="t" r="r" b="b"/>
              <a:pathLst>
                <a:path w="4356100" h="826135">
                  <a:moveTo>
                    <a:pt x="4280916" y="826008"/>
                  </a:moveTo>
                  <a:lnTo>
                    <a:pt x="76200" y="826008"/>
                  </a:lnTo>
                  <a:lnTo>
                    <a:pt x="46291" y="820102"/>
                  </a:lnTo>
                  <a:lnTo>
                    <a:pt x="22097" y="803909"/>
                  </a:lnTo>
                  <a:lnTo>
                    <a:pt x="5905" y="779716"/>
                  </a:lnTo>
                  <a:lnTo>
                    <a:pt x="0" y="749808"/>
                  </a:lnTo>
                  <a:lnTo>
                    <a:pt x="0" y="76200"/>
                  </a:lnTo>
                  <a:lnTo>
                    <a:pt x="5905" y="46934"/>
                  </a:lnTo>
                  <a:lnTo>
                    <a:pt x="22097" y="22669"/>
                  </a:lnTo>
                  <a:lnTo>
                    <a:pt x="46291" y="6119"/>
                  </a:lnTo>
                  <a:lnTo>
                    <a:pt x="76200" y="0"/>
                  </a:lnTo>
                  <a:lnTo>
                    <a:pt x="4280916" y="0"/>
                  </a:lnTo>
                  <a:lnTo>
                    <a:pt x="4309943" y="6119"/>
                  </a:lnTo>
                  <a:lnTo>
                    <a:pt x="4333684" y="22669"/>
                  </a:lnTo>
                  <a:lnTo>
                    <a:pt x="4349710" y="46934"/>
                  </a:lnTo>
                  <a:lnTo>
                    <a:pt x="4355591" y="76200"/>
                  </a:lnTo>
                  <a:lnTo>
                    <a:pt x="4355591" y="749808"/>
                  </a:lnTo>
                  <a:lnTo>
                    <a:pt x="4349710" y="779716"/>
                  </a:lnTo>
                  <a:lnTo>
                    <a:pt x="4333684" y="803909"/>
                  </a:lnTo>
                  <a:lnTo>
                    <a:pt x="4309943" y="820102"/>
                  </a:lnTo>
                  <a:lnTo>
                    <a:pt x="4280916" y="826008"/>
                  </a:lnTo>
                  <a:close/>
                </a:path>
              </a:pathLst>
            </a:custGeom>
            <a:solidFill>
              <a:srgbClr val="0A0C23">
                <a:alpha val="9452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090160" y="3761232"/>
              <a:ext cx="4371340" cy="841375"/>
            </a:xfrm>
            <a:custGeom>
              <a:avLst/>
              <a:gdLst/>
              <a:ahLst/>
              <a:cxnLst/>
              <a:rect l="l" t="t" r="r" b="b"/>
              <a:pathLst>
                <a:path w="4371340" h="841375">
                  <a:moveTo>
                    <a:pt x="4296156" y="1524"/>
                  </a:moveTo>
                  <a:lnTo>
                    <a:pt x="74676" y="1524"/>
                  </a:lnTo>
                  <a:lnTo>
                    <a:pt x="83820" y="0"/>
                  </a:lnTo>
                  <a:lnTo>
                    <a:pt x="4288536" y="0"/>
                  </a:lnTo>
                  <a:lnTo>
                    <a:pt x="4296156" y="1524"/>
                  </a:lnTo>
                  <a:close/>
                </a:path>
                <a:path w="4371340" h="841375">
                  <a:moveTo>
                    <a:pt x="35052" y="36576"/>
                  </a:moveTo>
                  <a:lnTo>
                    <a:pt x="15240" y="36576"/>
                  </a:lnTo>
                  <a:lnTo>
                    <a:pt x="24384" y="25908"/>
                  </a:lnTo>
                  <a:lnTo>
                    <a:pt x="24384" y="24384"/>
                  </a:lnTo>
                  <a:lnTo>
                    <a:pt x="36576" y="15240"/>
                  </a:lnTo>
                  <a:lnTo>
                    <a:pt x="36576" y="13716"/>
                  </a:lnTo>
                  <a:lnTo>
                    <a:pt x="44196" y="10668"/>
                  </a:lnTo>
                  <a:lnTo>
                    <a:pt x="50292" y="7620"/>
                  </a:lnTo>
                  <a:lnTo>
                    <a:pt x="57912" y="4572"/>
                  </a:lnTo>
                  <a:lnTo>
                    <a:pt x="67056" y="1524"/>
                  </a:lnTo>
                  <a:lnTo>
                    <a:pt x="4303776" y="1524"/>
                  </a:lnTo>
                  <a:lnTo>
                    <a:pt x="4312920" y="4572"/>
                  </a:lnTo>
                  <a:lnTo>
                    <a:pt x="4320540" y="7620"/>
                  </a:lnTo>
                  <a:lnTo>
                    <a:pt x="4326636" y="10668"/>
                  </a:lnTo>
                  <a:lnTo>
                    <a:pt x="4334256" y="13716"/>
                  </a:lnTo>
                  <a:lnTo>
                    <a:pt x="4334256" y="15240"/>
                  </a:lnTo>
                  <a:lnTo>
                    <a:pt x="4336288" y="16764"/>
                  </a:lnTo>
                  <a:lnTo>
                    <a:pt x="70104" y="16764"/>
                  </a:lnTo>
                  <a:lnTo>
                    <a:pt x="64008" y="19812"/>
                  </a:lnTo>
                  <a:lnTo>
                    <a:pt x="57912" y="21336"/>
                  </a:lnTo>
                  <a:lnTo>
                    <a:pt x="45720" y="27432"/>
                  </a:lnTo>
                  <a:lnTo>
                    <a:pt x="36830" y="35052"/>
                  </a:lnTo>
                  <a:lnTo>
                    <a:pt x="36576" y="35052"/>
                  </a:lnTo>
                  <a:lnTo>
                    <a:pt x="35052" y="36576"/>
                  </a:lnTo>
                  <a:close/>
                </a:path>
                <a:path w="4371340" h="841375">
                  <a:moveTo>
                    <a:pt x="4335780" y="36576"/>
                  </a:moveTo>
                  <a:lnTo>
                    <a:pt x="4325112" y="27432"/>
                  </a:lnTo>
                  <a:lnTo>
                    <a:pt x="4326636" y="27432"/>
                  </a:lnTo>
                  <a:lnTo>
                    <a:pt x="4314444" y="21336"/>
                  </a:lnTo>
                  <a:lnTo>
                    <a:pt x="4302252" y="18288"/>
                  </a:lnTo>
                  <a:lnTo>
                    <a:pt x="4294632" y="16764"/>
                  </a:lnTo>
                  <a:lnTo>
                    <a:pt x="4336288" y="16764"/>
                  </a:lnTo>
                  <a:lnTo>
                    <a:pt x="4346448" y="24384"/>
                  </a:lnTo>
                  <a:lnTo>
                    <a:pt x="4346448" y="25908"/>
                  </a:lnTo>
                  <a:lnTo>
                    <a:pt x="4355592" y="35052"/>
                  </a:lnTo>
                  <a:lnTo>
                    <a:pt x="4335780" y="35052"/>
                  </a:lnTo>
                  <a:lnTo>
                    <a:pt x="4335780" y="36576"/>
                  </a:lnTo>
                  <a:close/>
                </a:path>
                <a:path w="4371340" h="841375">
                  <a:moveTo>
                    <a:pt x="35052" y="36576"/>
                  </a:moveTo>
                  <a:lnTo>
                    <a:pt x="36576" y="35052"/>
                  </a:lnTo>
                  <a:lnTo>
                    <a:pt x="36118" y="35661"/>
                  </a:lnTo>
                  <a:lnTo>
                    <a:pt x="35052" y="36576"/>
                  </a:lnTo>
                  <a:close/>
                </a:path>
                <a:path w="4371340" h="841375">
                  <a:moveTo>
                    <a:pt x="36118" y="35661"/>
                  </a:moveTo>
                  <a:lnTo>
                    <a:pt x="36576" y="35052"/>
                  </a:lnTo>
                  <a:lnTo>
                    <a:pt x="36830" y="35052"/>
                  </a:lnTo>
                  <a:lnTo>
                    <a:pt x="36118" y="35661"/>
                  </a:lnTo>
                  <a:close/>
                </a:path>
                <a:path w="4371340" h="841375">
                  <a:moveTo>
                    <a:pt x="4361992" y="47244"/>
                  </a:moveTo>
                  <a:lnTo>
                    <a:pt x="4344924" y="47244"/>
                  </a:lnTo>
                  <a:lnTo>
                    <a:pt x="4335780" y="35052"/>
                  </a:lnTo>
                  <a:lnTo>
                    <a:pt x="4355592" y="35052"/>
                  </a:lnTo>
                  <a:lnTo>
                    <a:pt x="4357116" y="36576"/>
                  </a:lnTo>
                  <a:lnTo>
                    <a:pt x="4357116" y="38100"/>
                  </a:lnTo>
                  <a:lnTo>
                    <a:pt x="4360164" y="44196"/>
                  </a:lnTo>
                  <a:lnTo>
                    <a:pt x="4361992" y="47244"/>
                  </a:lnTo>
                  <a:close/>
                </a:path>
                <a:path w="4371340" h="841375">
                  <a:moveTo>
                    <a:pt x="4296156" y="841247"/>
                  </a:moveTo>
                  <a:lnTo>
                    <a:pt x="74676" y="841247"/>
                  </a:lnTo>
                  <a:lnTo>
                    <a:pt x="59436" y="838199"/>
                  </a:lnTo>
                  <a:lnTo>
                    <a:pt x="44196" y="832104"/>
                  </a:lnTo>
                  <a:lnTo>
                    <a:pt x="36576" y="827532"/>
                  </a:lnTo>
                  <a:lnTo>
                    <a:pt x="24384" y="818388"/>
                  </a:lnTo>
                  <a:lnTo>
                    <a:pt x="24384" y="816864"/>
                  </a:lnTo>
                  <a:lnTo>
                    <a:pt x="15240" y="806195"/>
                  </a:lnTo>
                  <a:lnTo>
                    <a:pt x="15240" y="804672"/>
                  </a:lnTo>
                  <a:lnTo>
                    <a:pt x="13716" y="804672"/>
                  </a:lnTo>
                  <a:lnTo>
                    <a:pt x="10668" y="798576"/>
                  </a:lnTo>
                  <a:lnTo>
                    <a:pt x="1524" y="775716"/>
                  </a:lnTo>
                  <a:lnTo>
                    <a:pt x="0" y="766572"/>
                  </a:lnTo>
                  <a:lnTo>
                    <a:pt x="0" y="76200"/>
                  </a:lnTo>
                  <a:lnTo>
                    <a:pt x="1524" y="67056"/>
                  </a:lnTo>
                  <a:lnTo>
                    <a:pt x="4572" y="59436"/>
                  </a:lnTo>
                  <a:lnTo>
                    <a:pt x="6096" y="51816"/>
                  </a:lnTo>
                  <a:lnTo>
                    <a:pt x="10668" y="44196"/>
                  </a:lnTo>
                  <a:lnTo>
                    <a:pt x="13716" y="38100"/>
                  </a:lnTo>
                  <a:lnTo>
                    <a:pt x="13716" y="36576"/>
                  </a:lnTo>
                  <a:lnTo>
                    <a:pt x="35052" y="36576"/>
                  </a:lnTo>
                  <a:lnTo>
                    <a:pt x="36118" y="35661"/>
                  </a:lnTo>
                  <a:lnTo>
                    <a:pt x="28575" y="45720"/>
                  </a:lnTo>
                  <a:lnTo>
                    <a:pt x="27432" y="45720"/>
                  </a:lnTo>
                  <a:lnTo>
                    <a:pt x="24384" y="51816"/>
                  </a:lnTo>
                  <a:lnTo>
                    <a:pt x="21336" y="56388"/>
                  </a:lnTo>
                  <a:lnTo>
                    <a:pt x="19812" y="64008"/>
                  </a:lnTo>
                  <a:lnTo>
                    <a:pt x="16764" y="70104"/>
                  </a:lnTo>
                  <a:lnTo>
                    <a:pt x="16764" y="76200"/>
                  </a:lnTo>
                  <a:lnTo>
                    <a:pt x="15240" y="83820"/>
                  </a:lnTo>
                  <a:lnTo>
                    <a:pt x="15240" y="757428"/>
                  </a:lnTo>
                  <a:lnTo>
                    <a:pt x="16764" y="765047"/>
                  </a:lnTo>
                  <a:lnTo>
                    <a:pt x="16764" y="771144"/>
                  </a:lnTo>
                  <a:lnTo>
                    <a:pt x="18288" y="778764"/>
                  </a:lnTo>
                  <a:lnTo>
                    <a:pt x="21336" y="784860"/>
                  </a:lnTo>
                  <a:lnTo>
                    <a:pt x="24384" y="789432"/>
                  </a:lnTo>
                  <a:lnTo>
                    <a:pt x="27432" y="797051"/>
                  </a:lnTo>
                  <a:lnTo>
                    <a:pt x="28738" y="797051"/>
                  </a:lnTo>
                  <a:lnTo>
                    <a:pt x="36576" y="806195"/>
                  </a:lnTo>
                  <a:lnTo>
                    <a:pt x="35052" y="806195"/>
                  </a:lnTo>
                  <a:lnTo>
                    <a:pt x="45720" y="815340"/>
                  </a:lnTo>
                  <a:lnTo>
                    <a:pt x="48006" y="815340"/>
                  </a:lnTo>
                  <a:lnTo>
                    <a:pt x="50292" y="816864"/>
                  </a:lnTo>
                  <a:lnTo>
                    <a:pt x="62484" y="822960"/>
                  </a:lnTo>
                  <a:lnTo>
                    <a:pt x="70104" y="824484"/>
                  </a:lnTo>
                  <a:lnTo>
                    <a:pt x="76200" y="826008"/>
                  </a:lnTo>
                  <a:lnTo>
                    <a:pt x="4336288" y="826008"/>
                  </a:lnTo>
                  <a:lnTo>
                    <a:pt x="4334256" y="827532"/>
                  </a:lnTo>
                  <a:lnTo>
                    <a:pt x="4328160" y="830580"/>
                  </a:lnTo>
                  <a:lnTo>
                    <a:pt x="4320540" y="835151"/>
                  </a:lnTo>
                  <a:lnTo>
                    <a:pt x="4312920" y="838199"/>
                  </a:lnTo>
                  <a:lnTo>
                    <a:pt x="4305300" y="839724"/>
                  </a:lnTo>
                  <a:lnTo>
                    <a:pt x="4296156" y="841247"/>
                  </a:lnTo>
                  <a:close/>
                </a:path>
                <a:path w="4371340" h="841375">
                  <a:moveTo>
                    <a:pt x="27432" y="47244"/>
                  </a:moveTo>
                  <a:lnTo>
                    <a:pt x="27432" y="45720"/>
                  </a:lnTo>
                  <a:lnTo>
                    <a:pt x="28575" y="45720"/>
                  </a:lnTo>
                  <a:lnTo>
                    <a:pt x="27432" y="47244"/>
                  </a:lnTo>
                  <a:close/>
                </a:path>
                <a:path w="4371340" h="841375">
                  <a:moveTo>
                    <a:pt x="4343095" y="797661"/>
                  </a:moveTo>
                  <a:lnTo>
                    <a:pt x="4352544" y="778764"/>
                  </a:lnTo>
                  <a:lnTo>
                    <a:pt x="4354068" y="772668"/>
                  </a:lnTo>
                  <a:lnTo>
                    <a:pt x="4355592" y="765047"/>
                  </a:lnTo>
                  <a:lnTo>
                    <a:pt x="4355592" y="77724"/>
                  </a:lnTo>
                  <a:lnTo>
                    <a:pt x="4354068" y="70104"/>
                  </a:lnTo>
                  <a:lnTo>
                    <a:pt x="4352544" y="64008"/>
                  </a:lnTo>
                  <a:lnTo>
                    <a:pt x="4349496" y="57912"/>
                  </a:lnTo>
                  <a:lnTo>
                    <a:pt x="4347972" y="51816"/>
                  </a:lnTo>
                  <a:lnTo>
                    <a:pt x="4343400" y="45720"/>
                  </a:lnTo>
                  <a:lnTo>
                    <a:pt x="4344924" y="47244"/>
                  </a:lnTo>
                  <a:lnTo>
                    <a:pt x="4361992" y="47244"/>
                  </a:lnTo>
                  <a:lnTo>
                    <a:pt x="4364736" y="51816"/>
                  </a:lnTo>
                  <a:lnTo>
                    <a:pt x="4367784" y="59436"/>
                  </a:lnTo>
                  <a:lnTo>
                    <a:pt x="4370832" y="74676"/>
                  </a:lnTo>
                  <a:lnTo>
                    <a:pt x="4370832" y="766572"/>
                  </a:lnTo>
                  <a:lnTo>
                    <a:pt x="4369308" y="774192"/>
                  </a:lnTo>
                  <a:lnTo>
                    <a:pt x="4367784" y="783336"/>
                  </a:lnTo>
                  <a:lnTo>
                    <a:pt x="4364736" y="790956"/>
                  </a:lnTo>
                  <a:lnTo>
                    <a:pt x="4362450" y="795528"/>
                  </a:lnTo>
                  <a:lnTo>
                    <a:pt x="4344924" y="795528"/>
                  </a:lnTo>
                  <a:lnTo>
                    <a:pt x="4343749" y="796702"/>
                  </a:lnTo>
                  <a:lnTo>
                    <a:pt x="4343578" y="797051"/>
                  </a:lnTo>
                  <a:lnTo>
                    <a:pt x="4343095" y="797661"/>
                  </a:lnTo>
                  <a:close/>
                </a:path>
                <a:path w="4371340" h="841375">
                  <a:moveTo>
                    <a:pt x="28738" y="797051"/>
                  </a:moveTo>
                  <a:lnTo>
                    <a:pt x="27432" y="797051"/>
                  </a:lnTo>
                  <a:lnTo>
                    <a:pt x="27432" y="795528"/>
                  </a:lnTo>
                  <a:lnTo>
                    <a:pt x="28738" y="797051"/>
                  </a:lnTo>
                  <a:close/>
                </a:path>
                <a:path w="4371340" h="841375">
                  <a:moveTo>
                    <a:pt x="4347972" y="815340"/>
                  </a:moveTo>
                  <a:lnTo>
                    <a:pt x="4325112" y="815340"/>
                  </a:lnTo>
                  <a:lnTo>
                    <a:pt x="4335780" y="806195"/>
                  </a:lnTo>
                  <a:lnTo>
                    <a:pt x="4344924" y="795528"/>
                  </a:lnTo>
                  <a:lnTo>
                    <a:pt x="4362450" y="795528"/>
                  </a:lnTo>
                  <a:lnTo>
                    <a:pt x="4361688" y="797051"/>
                  </a:lnTo>
                  <a:lnTo>
                    <a:pt x="4357116" y="804672"/>
                  </a:lnTo>
                  <a:lnTo>
                    <a:pt x="4357116" y="806195"/>
                  </a:lnTo>
                  <a:lnTo>
                    <a:pt x="4347972" y="815340"/>
                  </a:lnTo>
                  <a:close/>
                </a:path>
                <a:path w="4371340" h="841375">
                  <a:moveTo>
                    <a:pt x="4336288" y="826008"/>
                  </a:moveTo>
                  <a:lnTo>
                    <a:pt x="4294632" y="826008"/>
                  </a:lnTo>
                  <a:lnTo>
                    <a:pt x="4300728" y="824484"/>
                  </a:lnTo>
                  <a:lnTo>
                    <a:pt x="4308348" y="822960"/>
                  </a:lnTo>
                  <a:lnTo>
                    <a:pt x="4314444" y="821436"/>
                  </a:lnTo>
                  <a:lnTo>
                    <a:pt x="4319016" y="818388"/>
                  </a:lnTo>
                  <a:lnTo>
                    <a:pt x="4327482" y="813307"/>
                  </a:lnTo>
                  <a:lnTo>
                    <a:pt x="4325112" y="815340"/>
                  </a:lnTo>
                  <a:lnTo>
                    <a:pt x="4347972" y="815340"/>
                  </a:lnTo>
                  <a:lnTo>
                    <a:pt x="4346448" y="816864"/>
                  </a:lnTo>
                  <a:lnTo>
                    <a:pt x="4346448" y="818388"/>
                  </a:lnTo>
                  <a:lnTo>
                    <a:pt x="4336288" y="826008"/>
                  </a:lnTo>
                  <a:close/>
                </a:path>
                <a:path w="4371340" h="841375">
                  <a:moveTo>
                    <a:pt x="48006" y="815340"/>
                  </a:moveTo>
                  <a:lnTo>
                    <a:pt x="45720" y="815340"/>
                  </a:lnTo>
                  <a:lnTo>
                    <a:pt x="45720" y="813816"/>
                  </a:lnTo>
                  <a:lnTo>
                    <a:pt x="48006" y="815340"/>
                  </a:lnTo>
                  <a:close/>
                </a:path>
              </a:pathLst>
            </a:custGeom>
            <a:solidFill>
              <a:srgbClr val="6D44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082539" y="3768852"/>
              <a:ext cx="62865" cy="826135"/>
            </a:xfrm>
            <a:custGeom>
              <a:avLst/>
              <a:gdLst/>
              <a:ahLst/>
              <a:cxnLst/>
              <a:rect l="l" t="t" r="r" b="b"/>
              <a:pathLst>
                <a:path w="62864" h="826135">
                  <a:moveTo>
                    <a:pt x="32004" y="826008"/>
                  </a:moveTo>
                  <a:lnTo>
                    <a:pt x="19288" y="823579"/>
                  </a:lnTo>
                  <a:lnTo>
                    <a:pt x="9144" y="816864"/>
                  </a:lnTo>
                  <a:lnTo>
                    <a:pt x="2428" y="806719"/>
                  </a:lnTo>
                  <a:lnTo>
                    <a:pt x="0" y="794004"/>
                  </a:lnTo>
                  <a:lnTo>
                    <a:pt x="0" y="32004"/>
                  </a:lnTo>
                  <a:lnTo>
                    <a:pt x="2428" y="19931"/>
                  </a:lnTo>
                  <a:lnTo>
                    <a:pt x="9144" y="9715"/>
                  </a:lnTo>
                  <a:lnTo>
                    <a:pt x="19288" y="2643"/>
                  </a:lnTo>
                  <a:lnTo>
                    <a:pt x="32004" y="0"/>
                  </a:lnTo>
                  <a:lnTo>
                    <a:pt x="43838" y="2643"/>
                  </a:lnTo>
                  <a:lnTo>
                    <a:pt x="53530" y="9715"/>
                  </a:lnTo>
                  <a:lnTo>
                    <a:pt x="60078" y="19931"/>
                  </a:lnTo>
                  <a:lnTo>
                    <a:pt x="62484" y="32004"/>
                  </a:lnTo>
                  <a:lnTo>
                    <a:pt x="62484" y="794004"/>
                  </a:lnTo>
                  <a:lnTo>
                    <a:pt x="60078" y="806719"/>
                  </a:lnTo>
                  <a:lnTo>
                    <a:pt x="53530" y="816864"/>
                  </a:lnTo>
                  <a:lnTo>
                    <a:pt x="43838" y="823579"/>
                  </a:lnTo>
                  <a:lnTo>
                    <a:pt x="32004" y="826008"/>
                  </a:lnTo>
                  <a:close/>
                </a:path>
              </a:pathLst>
            </a:custGeom>
            <a:solidFill>
              <a:srgbClr val="A85B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290856" y="3910069"/>
            <a:ext cx="220789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City</a:t>
            </a:r>
            <a:r>
              <a:rPr dirty="0" sz="1200" spc="65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Hotels</a:t>
            </a:r>
            <a:r>
              <a:rPr dirty="0" sz="1200" spc="10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as</a:t>
            </a:r>
            <a:r>
              <a:rPr dirty="0" sz="1200" spc="7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Revenue</a:t>
            </a:r>
            <a:r>
              <a:rPr dirty="0" sz="1200" spc="114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DAD8E8"/>
                </a:solidFill>
                <a:latin typeface="Arial MT"/>
                <a:cs typeface="Arial MT"/>
              </a:rPr>
              <a:t>Drivers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90808" y="4221020"/>
            <a:ext cx="377190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City</a:t>
            </a:r>
            <a:r>
              <a:rPr dirty="0" sz="110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hotels</a:t>
            </a:r>
            <a:r>
              <a:rPr dirty="0" sz="110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are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DAD8E8"/>
                </a:solidFill>
                <a:latin typeface="Tahoma"/>
                <a:cs typeface="Tahoma"/>
              </a:rPr>
              <a:t>the</a:t>
            </a:r>
            <a:r>
              <a:rPr dirty="0" sz="110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main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10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DAD8E8"/>
                </a:solidFill>
                <a:latin typeface="Tahoma"/>
                <a:cs typeface="Tahoma"/>
              </a:rPr>
              <a:t>contributors</a:t>
            </a:r>
            <a:r>
              <a:rPr dirty="0" sz="110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AD8E8"/>
                </a:solidFill>
                <a:latin typeface="Tahoma"/>
                <a:cs typeface="Tahoma"/>
              </a:rPr>
              <a:t>across</a:t>
            </a:r>
            <a:r>
              <a:rPr dirty="0" sz="110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all</a:t>
            </a:r>
            <a:r>
              <a:rPr dirty="0" sz="110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DAD8E8"/>
                </a:solidFill>
                <a:latin typeface="Tahoma"/>
                <a:cs typeface="Tahoma"/>
              </a:rPr>
              <a:t>segments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91312" y="4722876"/>
            <a:ext cx="4378960" cy="841375"/>
            <a:chOff x="591312" y="4722876"/>
            <a:chExt cx="4378960" cy="841375"/>
          </a:xfrm>
        </p:grpSpPr>
        <p:sp>
          <p:nvSpPr>
            <p:cNvPr id="28" name="object 28"/>
            <p:cNvSpPr/>
            <p:nvPr/>
          </p:nvSpPr>
          <p:spPr>
            <a:xfrm>
              <a:off x="606551" y="4732020"/>
              <a:ext cx="4356100" cy="824865"/>
            </a:xfrm>
            <a:custGeom>
              <a:avLst/>
              <a:gdLst/>
              <a:ahLst/>
              <a:cxnLst/>
              <a:rect l="l" t="t" r="r" b="b"/>
              <a:pathLst>
                <a:path w="4356100" h="824864">
                  <a:moveTo>
                    <a:pt x="4279391" y="824484"/>
                  </a:moveTo>
                  <a:lnTo>
                    <a:pt x="74676" y="824484"/>
                  </a:lnTo>
                  <a:lnTo>
                    <a:pt x="45648" y="818602"/>
                  </a:lnTo>
                  <a:lnTo>
                    <a:pt x="21907" y="802576"/>
                  </a:lnTo>
                  <a:lnTo>
                    <a:pt x="5881" y="778835"/>
                  </a:lnTo>
                  <a:lnTo>
                    <a:pt x="0" y="749807"/>
                  </a:lnTo>
                  <a:lnTo>
                    <a:pt x="0" y="74675"/>
                  </a:lnTo>
                  <a:lnTo>
                    <a:pt x="5881" y="45648"/>
                  </a:lnTo>
                  <a:lnTo>
                    <a:pt x="21907" y="21907"/>
                  </a:lnTo>
                  <a:lnTo>
                    <a:pt x="45648" y="5881"/>
                  </a:lnTo>
                  <a:lnTo>
                    <a:pt x="74676" y="0"/>
                  </a:lnTo>
                  <a:lnTo>
                    <a:pt x="4279391" y="0"/>
                  </a:lnTo>
                  <a:lnTo>
                    <a:pt x="4308657" y="5881"/>
                  </a:lnTo>
                  <a:lnTo>
                    <a:pt x="4332922" y="21907"/>
                  </a:lnTo>
                  <a:lnTo>
                    <a:pt x="4349472" y="45648"/>
                  </a:lnTo>
                  <a:lnTo>
                    <a:pt x="4355591" y="74675"/>
                  </a:lnTo>
                  <a:lnTo>
                    <a:pt x="4355591" y="749807"/>
                  </a:lnTo>
                  <a:lnTo>
                    <a:pt x="4349472" y="778835"/>
                  </a:lnTo>
                  <a:lnTo>
                    <a:pt x="4332922" y="802576"/>
                  </a:lnTo>
                  <a:lnTo>
                    <a:pt x="4308657" y="818602"/>
                  </a:lnTo>
                  <a:lnTo>
                    <a:pt x="4279391" y="824484"/>
                  </a:lnTo>
                  <a:close/>
                </a:path>
              </a:pathLst>
            </a:custGeom>
            <a:solidFill>
              <a:srgbClr val="0A0C23">
                <a:alpha val="9452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98932" y="4722876"/>
              <a:ext cx="4371340" cy="841375"/>
            </a:xfrm>
            <a:custGeom>
              <a:avLst/>
              <a:gdLst/>
              <a:ahLst/>
              <a:cxnLst/>
              <a:rect l="l" t="t" r="r" b="b"/>
              <a:pathLst>
                <a:path w="4371340" h="841375">
                  <a:moveTo>
                    <a:pt x="4332732" y="15240"/>
                  </a:moveTo>
                  <a:lnTo>
                    <a:pt x="36576" y="15240"/>
                  </a:lnTo>
                  <a:lnTo>
                    <a:pt x="42672" y="10668"/>
                  </a:lnTo>
                  <a:lnTo>
                    <a:pt x="57912" y="4572"/>
                  </a:lnTo>
                  <a:lnTo>
                    <a:pt x="65532" y="3048"/>
                  </a:lnTo>
                  <a:lnTo>
                    <a:pt x="74676" y="1524"/>
                  </a:lnTo>
                  <a:lnTo>
                    <a:pt x="82296" y="0"/>
                  </a:lnTo>
                  <a:lnTo>
                    <a:pt x="4287012" y="0"/>
                  </a:lnTo>
                  <a:lnTo>
                    <a:pt x="4294632" y="1524"/>
                  </a:lnTo>
                  <a:lnTo>
                    <a:pt x="4303776" y="3048"/>
                  </a:lnTo>
                  <a:lnTo>
                    <a:pt x="4311396" y="4572"/>
                  </a:lnTo>
                  <a:lnTo>
                    <a:pt x="4326636" y="10668"/>
                  </a:lnTo>
                  <a:lnTo>
                    <a:pt x="4332732" y="15240"/>
                  </a:lnTo>
                  <a:close/>
                </a:path>
                <a:path w="4371340" h="841375">
                  <a:moveTo>
                    <a:pt x="4334256" y="827532"/>
                  </a:moveTo>
                  <a:lnTo>
                    <a:pt x="35052" y="827532"/>
                  </a:lnTo>
                  <a:lnTo>
                    <a:pt x="24384" y="818388"/>
                  </a:lnTo>
                  <a:lnTo>
                    <a:pt x="24384" y="816864"/>
                  </a:lnTo>
                  <a:lnTo>
                    <a:pt x="22860" y="816864"/>
                  </a:lnTo>
                  <a:lnTo>
                    <a:pt x="13716" y="806195"/>
                  </a:lnTo>
                  <a:lnTo>
                    <a:pt x="13716" y="804672"/>
                  </a:lnTo>
                  <a:lnTo>
                    <a:pt x="9144" y="798576"/>
                  </a:lnTo>
                  <a:lnTo>
                    <a:pt x="3048" y="783336"/>
                  </a:lnTo>
                  <a:lnTo>
                    <a:pt x="0" y="768095"/>
                  </a:lnTo>
                  <a:lnTo>
                    <a:pt x="0" y="76200"/>
                  </a:lnTo>
                  <a:lnTo>
                    <a:pt x="1524" y="67056"/>
                  </a:lnTo>
                  <a:lnTo>
                    <a:pt x="3048" y="59436"/>
                  </a:lnTo>
                  <a:lnTo>
                    <a:pt x="9144" y="44196"/>
                  </a:lnTo>
                  <a:lnTo>
                    <a:pt x="13716" y="38100"/>
                  </a:lnTo>
                  <a:lnTo>
                    <a:pt x="13716" y="36576"/>
                  </a:lnTo>
                  <a:lnTo>
                    <a:pt x="22860" y="25908"/>
                  </a:lnTo>
                  <a:lnTo>
                    <a:pt x="24384" y="25908"/>
                  </a:lnTo>
                  <a:lnTo>
                    <a:pt x="24384" y="24384"/>
                  </a:lnTo>
                  <a:lnTo>
                    <a:pt x="35052" y="15240"/>
                  </a:lnTo>
                  <a:lnTo>
                    <a:pt x="4334256" y="15240"/>
                  </a:lnTo>
                  <a:lnTo>
                    <a:pt x="4336034" y="16764"/>
                  </a:lnTo>
                  <a:lnTo>
                    <a:pt x="76200" y="16764"/>
                  </a:lnTo>
                  <a:lnTo>
                    <a:pt x="70104" y="18288"/>
                  </a:lnTo>
                  <a:lnTo>
                    <a:pt x="62484" y="19812"/>
                  </a:lnTo>
                  <a:lnTo>
                    <a:pt x="56388" y="21336"/>
                  </a:lnTo>
                  <a:lnTo>
                    <a:pt x="50292" y="24384"/>
                  </a:lnTo>
                  <a:lnTo>
                    <a:pt x="46228" y="27432"/>
                  </a:lnTo>
                  <a:lnTo>
                    <a:pt x="45720" y="27432"/>
                  </a:lnTo>
                  <a:lnTo>
                    <a:pt x="36830" y="35052"/>
                  </a:lnTo>
                  <a:lnTo>
                    <a:pt x="35052" y="35052"/>
                  </a:lnTo>
                  <a:lnTo>
                    <a:pt x="25908" y="47244"/>
                  </a:lnTo>
                  <a:lnTo>
                    <a:pt x="26670" y="47244"/>
                  </a:lnTo>
                  <a:lnTo>
                    <a:pt x="18288" y="64008"/>
                  </a:lnTo>
                  <a:lnTo>
                    <a:pt x="15240" y="76200"/>
                  </a:lnTo>
                  <a:lnTo>
                    <a:pt x="15240" y="765047"/>
                  </a:lnTo>
                  <a:lnTo>
                    <a:pt x="16764" y="771144"/>
                  </a:lnTo>
                  <a:lnTo>
                    <a:pt x="18288" y="778764"/>
                  </a:lnTo>
                  <a:lnTo>
                    <a:pt x="19812" y="784860"/>
                  </a:lnTo>
                  <a:lnTo>
                    <a:pt x="22860" y="790956"/>
                  </a:lnTo>
                  <a:lnTo>
                    <a:pt x="26289" y="795528"/>
                  </a:lnTo>
                  <a:lnTo>
                    <a:pt x="25908" y="795528"/>
                  </a:lnTo>
                  <a:lnTo>
                    <a:pt x="35052" y="806195"/>
                  </a:lnTo>
                  <a:lnTo>
                    <a:pt x="45720" y="815340"/>
                  </a:lnTo>
                  <a:lnTo>
                    <a:pt x="46228" y="815340"/>
                  </a:lnTo>
                  <a:lnTo>
                    <a:pt x="50292" y="818388"/>
                  </a:lnTo>
                  <a:lnTo>
                    <a:pt x="56388" y="819912"/>
                  </a:lnTo>
                  <a:lnTo>
                    <a:pt x="62484" y="822960"/>
                  </a:lnTo>
                  <a:lnTo>
                    <a:pt x="68580" y="824484"/>
                  </a:lnTo>
                  <a:lnTo>
                    <a:pt x="76200" y="826008"/>
                  </a:lnTo>
                  <a:lnTo>
                    <a:pt x="4336034" y="826008"/>
                  </a:lnTo>
                  <a:lnTo>
                    <a:pt x="4334256" y="827532"/>
                  </a:lnTo>
                  <a:close/>
                </a:path>
                <a:path w="4371340" h="841375">
                  <a:moveTo>
                    <a:pt x="4325112" y="28830"/>
                  </a:moveTo>
                  <a:lnTo>
                    <a:pt x="4324944" y="28830"/>
                  </a:lnTo>
                  <a:lnTo>
                    <a:pt x="4319016" y="24384"/>
                  </a:lnTo>
                  <a:lnTo>
                    <a:pt x="4314444" y="21336"/>
                  </a:lnTo>
                  <a:lnTo>
                    <a:pt x="4308348" y="19812"/>
                  </a:lnTo>
                  <a:lnTo>
                    <a:pt x="4300728" y="18288"/>
                  </a:lnTo>
                  <a:lnTo>
                    <a:pt x="4294632" y="16764"/>
                  </a:lnTo>
                  <a:lnTo>
                    <a:pt x="4336034" y="16764"/>
                  </a:lnTo>
                  <a:lnTo>
                    <a:pt x="4344924" y="24384"/>
                  </a:lnTo>
                  <a:lnTo>
                    <a:pt x="4346448" y="24384"/>
                  </a:lnTo>
                  <a:lnTo>
                    <a:pt x="4346448" y="25908"/>
                  </a:lnTo>
                  <a:lnTo>
                    <a:pt x="4347754" y="27432"/>
                  </a:lnTo>
                  <a:lnTo>
                    <a:pt x="4325112" y="27432"/>
                  </a:lnTo>
                  <a:lnTo>
                    <a:pt x="4325112" y="28830"/>
                  </a:lnTo>
                  <a:close/>
                </a:path>
                <a:path w="4371340" h="841375">
                  <a:moveTo>
                    <a:pt x="42164" y="30480"/>
                  </a:moveTo>
                  <a:lnTo>
                    <a:pt x="45720" y="27432"/>
                  </a:lnTo>
                  <a:lnTo>
                    <a:pt x="46228" y="27432"/>
                  </a:lnTo>
                  <a:lnTo>
                    <a:pt x="42164" y="30480"/>
                  </a:lnTo>
                  <a:close/>
                </a:path>
                <a:path w="4371340" h="841375">
                  <a:moveTo>
                    <a:pt x="4334713" y="35661"/>
                  </a:moveTo>
                  <a:lnTo>
                    <a:pt x="4325112" y="27432"/>
                  </a:lnTo>
                  <a:lnTo>
                    <a:pt x="4347754" y="27432"/>
                  </a:lnTo>
                  <a:lnTo>
                    <a:pt x="4354285" y="35052"/>
                  </a:lnTo>
                  <a:lnTo>
                    <a:pt x="4334256" y="35052"/>
                  </a:lnTo>
                  <a:lnTo>
                    <a:pt x="4334713" y="35661"/>
                  </a:lnTo>
                  <a:close/>
                </a:path>
                <a:path w="4371340" h="841375">
                  <a:moveTo>
                    <a:pt x="35052" y="36576"/>
                  </a:moveTo>
                  <a:lnTo>
                    <a:pt x="35052" y="35052"/>
                  </a:lnTo>
                  <a:lnTo>
                    <a:pt x="36830" y="35052"/>
                  </a:lnTo>
                  <a:lnTo>
                    <a:pt x="35052" y="36576"/>
                  </a:lnTo>
                  <a:close/>
                </a:path>
                <a:path w="4371340" h="841375">
                  <a:moveTo>
                    <a:pt x="4335780" y="36576"/>
                  </a:moveTo>
                  <a:lnTo>
                    <a:pt x="4334713" y="35661"/>
                  </a:lnTo>
                  <a:lnTo>
                    <a:pt x="4334256" y="35052"/>
                  </a:lnTo>
                  <a:lnTo>
                    <a:pt x="4335780" y="36576"/>
                  </a:lnTo>
                  <a:close/>
                </a:path>
                <a:path w="4371340" h="841375">
                  <a:moveTo>
                    <a:pt x="4355592" y="36576"/>
                  </a:moveTo>
                  <a:lnTo>
                    <a:pt x="4335780" y="36576"/>
                  </a:lnTo>
                  <a:lnTo>
                    <a:pt x="4334256" y="35052"/>
                  </a:lnTo>
                  <a:lnTo>
                    <a:pt x="4354285" y="35052"/>
                  </a:lnTo>
                  <a:lnTo>
                    <a:pt x="4355592" y="36576"/>
                  </a:lnTo>
                  <a:close/>
                </a:path>
                <a:path w="4371340" h="841375">
                  <a:moveTo>
                    <a:pt x="4343400" y="47244"/>
                  </a:moveTo>
                  <a:lnTo>
                    <a:pt x="4334713" y="35661"/>
                  </a:lnTo>
                  <a:lnTo>
                    <a:pt x="4335780" y="36576"/>
                  </a:lnTo>
                  <a:lnTo>
                    <a:pt x="4355592" y="36576"/>
                  </a:lnTo>
                  <a:lnTo>
                    <a:pt x="4357116" y="38100"/>
                  </a:lnTo>
                  <a:lnTo>
                    <a:pt x="4360164" y="44196"/>
                  </a:lnTo>
                  <a:lnTo>
                    <a:pt x="4360773" y="45720"/>
                  </a:lnTo>
                  <a:lnTo>
                    <a:pt x="4343400" y="45720"/>
                  </a:lnTo>
                  <a:lnTo>
                    <a:pt x="4343400" y="47244"/>
                  </a:lnTo>
                  <a:close/>
                </a:path>
                <a:path w="4371340" h="841375">
                  <a:moveTo>
                    <a:pt x="26670" y="47244"/>
                  </a:moveTo>
                  <a:lnTo>
                    <a:pt x="25908" y="47244"/>
                  </a:lnTo>
                  <a:lnTo>
                    <a:pt x="27432" y="45720"/>
                  </a:lnTo>
                  <a:lnTo>
                    <a:pt x="26670" y="47244"/>
                  </a:lnTo>
                  <a:close/>
                </a:path>
                <a:path w="4371340" h="841375">
                  <a:moveTo>
                    <a:pt x="4361078" y="797051"/>
                  </a:moveTo>
                  <a:lnTo>
                    <a:pt x="4343400" y="797051"/>
                  </a:lnTo>
                  <a:lnTo>
                    <a:pt x="4349496" y="784860"/>
                  </a:lnTo>
                  <a:lnTo>
                    <a:pt x="4351020" y="778764"/>
                  </a:lnTo>
                  <a:lnTo>
                    <a:pt x="4354068" y="772668"/>
                  </a:lnTo>
                  <a:lnTo>
                    <a:pt x="4354068" y="766572"/>
                  </a:lnTo>
                  <a:lnTo>
                    <a:pt x="4355592" y="758951"/>
                  </a:lnTo>
                  <a:lnTo>
                    <a:pt x="4355592" y="83820"/>
                  </a:lnTo>
                  <a:lnTo>
                    <a:pt x="4354068" y="77724"/>
                  </a:lnTo>
                  <a:lnTo>
                    <a:pt x="4354068" y="71628"/>
                  </a:lnTo>
                  <a:lnTo>
                    <a:pt x="4352544" y="64008"/>
                  </a:lnTo>
                  <a:lnTo>
                    <a:pt x="4343400" y="45720"/>
                  </a:lnTo>
                  <a:lnTo>
                    <a:pt x="4360773" y="45720"/>
                  </a:lnTo>
                  <a:lnTo>
                    <a:pt x="4369308" y="67056"/>
                  </a:lnTo>
                  <a:lnTo>
                    <a:pt x="4370832" y="74676"/>
                  </a:lnTo>
                  <a:lnTo>
                    <a:pt x="4370832" y="766572"/>
                  </a:lnTo>
                  <a:lnTo>
                    <a:pt x="4369308" y="774192"/>
                  </a:lnTo>
                  <a:lnTo>
                    <a:pt x="4366260" y="783336"/>
                  </a:lnTo>
                  <a:lnTo>
                    <a:pt x="4364736" y="790956"/>
                  </a:lnTo>
                  <a:lnTo>
                    <a:pt x="4361078" y="797051"/>
                  </a:lnTo>
                  <a:close/>
                </a:path>
                <a:path w="4371340" h="841375">
                  <a:moveTo>
                    <a:pt x="28575" y="798576"/>
                  </a:moveTo>
                  <a:lnTo>
                    <a:pt x="27214" y="797051"/>
                  </a:lnTo>
                  <a:lnTo>
                    <a:pt x="25908" y="795528"/>
                  </a:lnTo>
                  <a:lnTo>
                    <a:pt x="26289" y="795528"/>
                  </a:lnTo>
                  <a:lnTo>
                    <a:pt x="28575" y="798576"/>
                  </a:lnTo>
                  <a:close/>
                </a:path>
                <a:path w="4371340" h="841375">
                  <a:moveTo>
                    <a:pt x="4347754" y="815340"/>
                  </a:moveTo>
                  <a:lnTo>
                    <a:pt x="4325112" y="815340"/>
                  </a:lnTo>
                  <a:lnTo>
                    <a:pt x="4335780" y="806195"/>
                  </a:lnTo>
                  <a:lnTo>
                    <a:pt x="4334256" y="806195"/>
                  </a:lnTo>
                  <a:lnTo>
                    <a:pt x="4343400" y="795528"/>
                  </a:lnTo>
                  <a:lnTo>
                    <a:pt x="4343400" y="797051"/>
                  </a:lnTo>
                  <a:lnTo>
                    <a:pt x="4361078" y="797051"/>
                  </a:lnTo>
                  <a:lnTo>
                    <a:pt x="4360164" y="798576"/>
                  </a:lnTo>
                  <a:lnTo>
                    <a:pt x="4357116" y="804672"/>
                  </a:lnTo>
                  <a:lnTo>
                    <a:pt x="4355592" y="804672"/>
                  </a:lnTo>
                  <a:lnTo>
                    <a:pt x="4355592" y="806195"/>
                  </a:lnTo>
                  <a:lnTo>
                    <a:pt x="4347754" y="815340"/>
                  </a:lnTo>
                  <a:close/>
                </a:path>
                <a:path w="4371340" h="841375">
                  <a:moveTo>
                    <a:pt x="46228" y="815340"/>
                  </a:moveTo>
                  <a:lnTo>
                    <a:pt x="45720" y="815340"/>
                  </a:lnTo>
                  <a:lnTo>
                    <a:pt x="44911" y="814531"/>
                  </a:lnTo>
                  <a:lnTo>
                    <a:pt x="43941" y="813816"/>
                  </a:lnTo>
                  <a:lnTo>
                    <a:pt x="42163" y="812291"/>
                  </a:lnTo>
                  <a:lnTo>
                    <a:pt x="46228" y="815340"/>
                  </a:lnTo>
                  <a:close/>
                </a:path>
                <a:path w="4371340" h="841375">
                  <a:moveTo>
                    <a:pt x="4336034" y="826008"/>
                  </a:moveTo>
                  <a:lnTo>
                    <a:pt x="4293108" y="826008"/>
                  </a:lnTo>
                  <a:lnTo>
                    <a:pt x="4300728" y="824484"/>
                  </a:lnTo>
                  <a:lnTo>
                    <a:pt x="4312920" y="821436"/>
                  </a:lnTo>
                  <a:lnTo>
                    <a:pt x="4319016" y="818388"/>
                  </a:lnTo>
                  <a:lnTo>
                    <a:pt x="4325112" y="813816"/>
                  </a:lnTo>
                  <a:lnTo>
                    <a:pt x="4325112" y="815340"/>
                  </a:lnTo>
                  <a:lnTo>
                    <a:pt x="4347754" y="815340"/>
                  </a:lnTo>
                  <a:lnTo>
                    <a:pt x="4346448" y="816864"/>
                  </a:lnTo>
                  <a:lnTo>
                    <a:pt x="4344924" y="818388"/>
                  </a:lnTo>
                  <a:lnTo>
                    <a:pt x="4336034" y="826008"/>
                  </a:lnTo>
                  <a:close/>
                </a:path>
                <a:path w="4371340" h="841375">
                  <a:moveTo>
                    <a:pt x="4296156" y="841247"/>
                  </a:moveTo>
                  <a:lnTo>
                    <a:pt x="74676" y="841247"/>
                  </a:lnTo>
                  <a:lnTo>
                    <a:pt x="67056" y="839724"/>
                  </a:lnTo>
                  <a:lnTo>
                    <a:pt x="57912" y="838199"/>
                  </a:lnTo>
                  <a:lnTo>
                    <a:pt x="50292" y="835151"/>
                  </a:lnTo>
                  <a:lnTo>
                    <a:pt x="44196" y="832104"/>
                  </a:lnTo>
                  <a:lnTo>
                    <a:pt x="36576" y="827532"/>
                  </a:lnTo>
                  <a:lnTo>
                    <a:pt x="4332732" y="827532"/>
                  </a:lnTo>
                  <a:lnTo>
                    <a:pt x="4326636" y="832104"/>
                  </a:lnTo>
                  <a:lnTo>
                    <a:pt x="4320540" y="835151"/>
                  </a:lnTo>
                  <a:lnTo>
                    <a:pt x="4312920" y="838199"/>
                  </a:lnTo>
                  <a:lnTo>
                    <a:pt x="4303776" y="839724"/>
                  </a:lnTo>
                  <a:lnTo>
                    <a:pt x="4296156" y="841247"/>
                  </a:lnTo>
                  <a:close/>
                </a:path>
              </a:pathLst>
            </a:custGeom>
            <a:solidFill>
              <a:srgbClr val="6D44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91312" y="4732019"/>
              <a:ext cx="62865" cy="824865"/>
            </a:xfrm>
            <a:custGeom>
              <a:avLst/>
              <a:gdLst/>
              <a:ahLst/>
              <a:cxnLst/>
              <a:rect l="l" t="t" r="r" b="b"/>
              <a:pathLst>
                <a:path w="62865" h="824864">
                  <a:moveTo>
                    <a:pt x="30480" y="824484"/>
                  </a:moveTo>
                  <a:lnTo>
                    <a:pt x="18645" y="822078"/>
                  </a:lnTo>
                  <a:lnTo>
                    <a:pt x="8953" y="815530"/>
                  </a:lnTo>
                  <a:lnTo>
                    <a:pt x="2405" y="805838"/>
                  </a:lnTo>
                  <a:lnTo>
                    <a:pt x="0" y="794004"/>
                  </a:lnTo>
                  <a:lnTo>
                    <a:pt x="0" y="30479"/>
                  </a:lnTo>
                  <a:lnTo>
                    <a:pt x="2405" y="18645"/>
                  </a:lnTo>
                  <a:lnTo>
                    <a:pt x="8953" y="8953"/>
                  </a:lnTo>
                  <a:lnTo>
                    <a:pt x="18645" y="2405"/>
                  </a:lnTo>
                  <a:lnTo>
                    <a:pt x="30480" y="0"/>
                  </a:lnTo>
                  <a:lnTo>
                    <a:pt x="43195" y="2405"/>
                  </a:lnTo>
                  <a:lnTo>
                    <a:pt x="53340" y="8953"/>
                  </a:lnTo>
                  <a:lnTo>
                    <a:pt x="60055" y="18645"/>
                  </a:lnTo>
                  <a:lnTo>
                    <a:pt x="62484" y="30479"/>
                  </a:lnTo>
                  <a:lnTo>
                    <a:pt x="62484" y="794004"/>
                  </a:lnTo>
                  <a:lnTo>
                    <a:pt x="60055" y="805838"/>
                  </a:lnTo>
                  <a:lnTo>
                    <a:pt x="53340" y="815530"/>
                  </a:lnTo>
                  <a:lnTo>
                    <a:pt x="43195" y="822078"/>
                  </a:lnTo>
                  <a:lnTo>
                    <a:pt x="30480" y="824484"/>
                  </a:lnTo>
                  <a:close/>
                </a:path>
              </a:pathLst>
            </a:custGeom>
            <a:solidFill>
              <a:srgbClr val="A85B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99599" y="4871753"/>
            <a:ext cx="1204595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Seasonal</a:t>
            </a:r>
            <a:r>
              <a:rPr dirty="0" sz="1200" spc="13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DAD8E8"/>
                </a:solidFill>
                <a:latin typeface="Arial MT"/>
                <a:cs typeface="Arial MT"/>
              </a:rPr>
              <a:t>Trends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9524" y="5182567"/>
            <a:ext cx="361061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Strong </a:t>
            </a:r>
            <a:r>
              <a:rPr dirty="0" sz="1100" spc="-50">
                <a:solidFill>
                  <a:srgbClr val="DAD8E8"/>
                </a:solidFill>
                <a:latin typeface="Tahoma"/>
                <a:cs typeface="Tahoma"/>
              </a:rPr>
              <a:t>seasonal</a:t>
            </a:r>
            <a:r>
              <a:rPr dirty="0" sz="110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trends</a:t>
            </a:r>
            <a:r>
              <a:rPr dirty="0" sz="1100" spc="-5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significantly </a:t>
            </a:r>
            <a:r>
              <a:rPr dirty="0" sz="1100" spc="-20">
                <a:solidFill>
                  <a:srgbClr val="DAD8E8"/>
                </a:solidFill>
                <a:latin typeface="Tahoma"/>
                <a:cs typeface="Tahoma"/>
              </a:rPr>
              <a:t>affect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overall</a:t>
            </a:r>
            <a:r>
              <a:rPr dirty="0" sz="110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DAD8E8"/>
                </a:solidFill>
                <a:latin typeface="Tahoma"/>
                <a:cs typeface="Tahoma"/>
              </a:rPr>
              <a:t>performance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082539" y="4722876"/>
            <a:ext cx="4378960" cy="841375"/>
            <a:chOff x="5082539" y="4722876"/>
            <a:chExt cx="4378960" cy="841375"/>
          </a:xfrm>
        </p:grpSpPr>
        <p:sp>
          <p:nvSpPr>
            <p:cNvPr id="34" name="object 34"/>
            <p:cNvSpPr/>
            <p:nvPr/>
          </p:nvSpPr>
          <p:spPr>
            <a:xfrm>
              <a:off x="5097780" y="4732020"/>
              <a:ext cx="4356100" cy="824865"/>
            </a:xfrm>
            <a:custGeom>
              <a:avLst/>
              <a:gdLst/>
              <a:ahLst/>
              <a:cxnLst/>
              <a:rect l="l" t="t" r="r" b="b"/>
              <a:pathLst>
                <a:path w="4356100" h="824864">
                  <a:moveTo>
                    <a:pt x="4280916" y="824484"/>
                  </a:moveTo>
                  <a:lnTo>
                    <a:pt x="76200" y="824484"/>
                  </a:lnTo>
                  <a:lnTo>
                    <a:pt x="46291" y="818602"/>
                  </a:lnTo>
                  <a:lnTo>
                    <a:pt x="22097" y="802576"/>
                  </a:lnTo>
                  <a:lnTo>
                    <a:pt x="5905" y="778835"/>
                  </a:lnTo>
                  <a:lnTo>
                    <a:pt x="0" y="749807"/>
                  </a:lnTo>
                  <a:lnTo>
                    <a:pt x="0" y="74675"/>
                  </a:lnTo>
                  <a:lnTo>
                    <a:pt x="5905" y="45648"/>
                  </a:lnTo>
                  <a:lnTo>
                    <a:pt x="22097" y="21907"/>
                  </a:lnTo>
                  <a:lnTo>
                    <a:pt x="46291" y="5881"/>
                  </a:lnTo>
                  <a:lnTo>
                    <a:pt x="76200" y="0"/>
                  </a:lnTo>
                  <a:lnTo>
                    <a:pt x="4280916" y="0"/>
                  </a:lnTo>
                  <a:lnTo>
                    <a:pt x="4309943" y="5881"/>
                  </a:lnTo>
                  <a:lnTo>
                    <a:pt x="4333684" y="21907"/>
                  </a:lnTo>
                  <a:lnTo>
                    <a:pt x="4349710" y="45648"/>
                  </a:lnTo>
                  <a:lnTo>
                    <a:pt x="4355591" y="74675"/>
                  </a:lnTo>
                  <a:lnTo>
                    <a:pt x="4355591" y="749807"/>
                  </a:lnTo>
                  <a:lnTo>
                    <a:pt x="4349710" y="778835"/>
                  </a:lnTo>
                  <a:lnTo>
                    <a:pt x="4333684" y="802576"/>
                  </a:lnTo>
                  <a:lnTo>
                    <a:pt x="4309943" y="818602"/>
                  </a:lnTo>
                  <a:lnTo>
                    <a:pt x="4280916" y="824484"/>
                  </a:lnTo>
                  <a:close/>
                </a:path>
              </a:pathLst>
            </a:custGeom>
            <a:solidFill>
              <a:srgbClr val="0A0C23">
                <a:alpha val="9452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090160" y="4722876"/>
              <a:ext cx="4371340" cy="841375"/>
            </a:xfrm>
            <a:custGeom>
              <a:avLst/>
              <a:gdLst/>
              <a:ahLst/>
              <a:cxnLst/>
              <a:rect l="l" t="t" r="r" b="b"/>
              <a:pathLst>
                <a:path w="4371340" h="841375">
                  <a:moveTo>
                    <a:pt x="4296156" y="841247"/>
                  </a:moveTo>
                  <a:lnTo>
                    <a:pt x="74676" y="841247"/>
                  </a:lnTo>
                  <a:lnTo>
                    <a:pt x="59436" y="838199"/>
                  </a:lnTo>
                  <a:lnTo>
                    <a:pt x="44196" y="832104"/>
                  </a:lnTo>
                  <a:lnTo>
                    <a:pt x="36576" y="827532"/>
                  </a:lnTo>
                  <a:lnTo>
                    <a:pt x="24384" y="818388"/>
                  </a:lnTo>
                  <a:lnTo>
                    <a:pt x="24384" y="816864"/>
                  </a:lnTo>
                  <a:lnTo>
                    <a:pt x="15240" y="806195"/>
                  </a:lnTo>
                  <a:lnTo>
                    <a:pt x="15240" y="804672"/>
                  </a:lnTo>
                  <a:lnTo>
                    <a:pt x="13716" y="804672"/>
                  </a:lnTo>
                  <a:lnTo>
                    <a:pt x="10668" y="798576"/>
                  </a:lnTo>
                  <a:lnTo>
                    <a:pt x="1524" y="775716"/>
                  </a:lnTo>
                  <a:lnTo>
                    <a:pt x="0" y="768095"/>
                  </a:lnTo>
                  <a:lnTo>
                    <a:pt x="0" y="76200"/>
                  </a:lnTo>
                  <a:lnTo>
                    <a:pt x="1524" y="67056"/>
                  </a:lnTo>
                  <a:lnTo>
                    <a:pt x="4572" y="59436"/>
                  </a:lnTo>
                  <a:lnTo>
                    <a:pt x="6096" y="51816"/>
                  </a:lnTo>
                  <a:lnTo>
                    <a:pt x="10668" y="44196"/>
                  </a:lnTo>
                  <a:lnTo>
                    <a:pt x="13716" y="38100"/>
                  </a:lnTo>
                  <a:lnTo>
                    <a:pt x="15240" y="36576"/>
                  </a:lnTo>
                  <a:lnTo>
                    <a:pt x="24384" y="25908"/>
                  </a:lnTo>
                  <a:lnTo>
                    <a:pt x="24384" y="24384"/>
                  </a:lnTo>
                  <a:lnTo>
                    <a:pt x="36576" y="15240"/>
                  </a:lnTo>
                  <a:lnTo>
                    <a:pt x="44196" y="10668"/>
                  </a:lnTo>
                  <a:lnTo>
                    <a:pt x="50292" y="7620"/>
                  </a:lnTo>
                  <a:lnTo>
                    <a:pt x="57912" y="4572"/>
                  </a:lnTo>
                  <a:lnTo>
                    <a:pt x="67056" y="3048"/>
                  </a:lnTo>
                  <a:lnTo>
                    <a:pt x="74676" y="1524"/>
                  </a:lnTo>
                  <a:lnTo>
                    <a:pt x="83820" y="0"/>
                  </a:lnTo>
                  <a:lnTo>
                    <a:pt x="4288536" y="0"/>
                  </a:lnTo>
                  <a:lnTo>
                    <a:pt x="4303776" y="3048"/>
                  </a:lnTo>
                  <a:lnTo>
                    <a:pt x="4312920" y="4572"/>
                  </a:lnTo>
                  <a:lnTo>
                    <a:pt x="4320540" y="7620"/>
                  </a:lnTo>
                  <a:lnTo>
                    <a:pt x="4326636" y="10668"/>
                  </a:lnTo>
                  <a:lnTo>
                    <a:pt x="4334256" y="15240"/>
                  </a:lnTo>
                  <a:lnTo>
                    <a:pt x="4336288" y="16764"/>
                  </a:lnTo>
                  <a:lnTo>
                    <a:pt x="76200" y="16764"/>
                  </a:lnTo>
                  <a:lnTo>
                    <a:pt x="57912" y="21336"/>
                  </a:lnTo>
                  <a:lnTo>
                    <a:pt x="51816" y="24384"/>
                  </a:lnTo>
                  <a:lnTo>
                    <a:pt x="47752" y="27432"/>
                  </a:lnTo>
                  <a:lnTo>
                    <a:pt x="45720" y="27432"/>
                  </a:lnTo>
                  <a:lnTo>
                    <a:pt x="36830" y="35052"/>
                  </a:lnTo>
                  <a:lnTo>
                    <a:pt x="36576" y="35052"/>
                  </a:lnTo>
                  <a:lnTo>
                    <a:pt x="35052" y="36576"/>
                  </a:lnTo>
                  <a:lnTo>
                    <a:pt x="35433" y="36576"/>
                  </a:lnTo>
                  <a:lnTo>
                    <a:pt x="28575" y="45720"/>
                  </a:lnTo>
                  <a:lnTo>
                    <a:pt x="27432" y="45720"/>
                  </a:lnTo>
                  <a:lnTo>
                    <a:pt x="21336" y="57912"/>
                  </a:lnTo>
                  <a:lnTo>
                    <a:pt x="19812" y="64008"/>
                  </a:lnTo>
                  <a:lnTo>
                    <a:pt x="16764" y="70104"/>
                  </a:lnTo>
                  <a:lnTo>
                    <a:pt x="16764" y="76200"/>
                  </a:lnTo>
                  <a:lnTo>
                    <a:pt x="15240" y="83820"/>
                  </a:lnTo>
                  <a:lnTo>
                    <a:pt x="15240" y="757428"/>
                  </a:lnTo>
                  <a:lnTo>
                    <a:pt x="16764" y="765047"/>
                  </a:lnTo>
                  <a:lnTo>
                    <a:pt x="16764" y="771144"/>
                  </a:lnTo>
                  <a:lnTo>
                    <a:pt x="18288" y="778764"/>
                  </a:lnTo>
                  <a:lnTo>
                    <a:pt x="27432" y="797051"/>
                  </a:lnTo>
                  <a:lnTo>
                    <a:pt x="28738" y="797051"/>
                  </a:lnTo>
                  <a:lnTo>
                    <a:pt x="36576" y="806195"/>
                  </a:lnTo>
                  <a:lnTo>
                    <a:pt x="35052" y="806195"/>
                  </a:lnTo>
                  <a:lnTo>
                    <a:pt x="45720" y="815340"/>
                  </a:lnTo>
                  <a:lnTo>
                    <a:pt x="47244" y="815340"/>
                  </a:lnTo>
                  <a:lnTo>
                    <a:pt x="50292" y="818388"/>
                  </a:lnTo>
                  <a:lnTo>
                    <a:pt x="56388" y="819912"/>
                  </a:lnTo>
                  <a:lnTo>
                    <a:pt x="62484" y="822960"/>
                  </a:lnTo>
                  <a:lnTo>
                    <a:pt x="70104" y="824484"/>
                  </a:lnTo>
                  <a:lnTo>
                    <a:pt x="76200" y="826008"/>
                  </a:lnTo>
                  <a:lnTo>
                    <a:pt x="4336288" y="826008"/>
                  </a:lnTo>
                  <a:lnTo>
                    <a:pt x="4328160" y="832104"/>
                  </a:lnTo>
                  <a:lnTo>
                    <a:pt x="4312920" y="838199"/>
                  </a:lnTo>
                  <a:lnTo>
                    <a:pt x="4305300" y="839724"/>
                  </a:lnTo>
                  <a:lnTo>
                    <a:pt x="4296156" y="841247"/>
                  </a:lnTo>
                  <a:close/>
                </a:path>
                <a:path w="4371340" h="841375">
                  <a:moveTo>
                    <a:pt x="4335780" y="36576"/>
                  </a:moveTo>
                  <a:lnTo>
                    <a:pt x="4325112" y="27432"/>
                  </a:lnTo>
                  <a:lnTo>
                    <a:pt x="4326636" y="27432"/>
                  </a:lnTo>
                  <a:lnTo>
                    <a:pt x="4314444" y="21336"/>
                  </a:lnTo>
                  <a:lnTo>
                    <a:pt x="4302252" y="18288"/>
                  </a:lnTo>
                  <a:lnTo>
                    <a:pt x="4294632" y="16764"/>
                  </a:lnTo>
                  <a:lnTo>
                    <a:pt x="4336288" y="16764"/>
                  </a:lnTo>
                  <a:lnTo>
                    <a:pt x="4346448" y="24384"/>
                  </a:lnTo>
                  <a:lnTo>
                    <a:pt x="4346448" y="25908"/>
                  </a:lnTo>
                  <a:lnTo>
                    <a:pt x="4355592" y="35052"/>
                  </a:lnTo>
                  <a:lnTo>
                    <a:pt x="4335780" y="35052"/>
                  </a:lnTo>
                  <a:lnTo>
                    <a:pt x="4335780" y="36576"/>
                  </a:lnTo>
                  <a:close/>
                </a:path>
                <a:path w="4371340" h="841375">
                  <a:moveTo>
                    <a:pt x="45720" y="28956"/>
                  </a:moveTo>
                  <a:lnTo>
                    <a:pt x="45720" y="27432"/>
                  </a:lnTo>
                  <a:lnTo>
                    <a:pt x="47752" y="27432"/>
                  </a:lnTo>
                  <a:lnTo>
                    <a:pt x="45720" y="28956"/>
                  </a:lnTo>
                  <a:close/>
                </a:path>
                <a:path w="4371340" h="841375">
                  <a:moveTo>
                    <a:pt x="35052" y="36576"/>
                  </a:moveTo>
                  <a:lnTo>
                    <a:pt x="36576" y="35052"/>
                  </a:lnTo>
                  <a:lnTo>
                    <a:pt x="36118" y="35661"/>
                  </a:lnTo>
                  <a:lnTo>
                    <a:pt x="35052" y="36576"/>
                  </a:lnTo>
                  <a:close/>
                </a:path>
                <a:path w="4371340" h="841375">
                  <a:moveTo>
                    <a:pt x="36118" y="35661"/>
                  </a:moveTo>
                  <a:lnTo>
                    <a:pt x="36576" y="35052"/>
                  </a:lnTo>
                  <a:lnTo>
                    <a:pt x="36830" y="35052"/>
                  </a:lnTo>
                  <a:lnTo>
                    <a:pt x="36118" y="35661"/>
                  </a:lnTo>
                  <a:close/>
                </a:path>
                <a:path w="4371340" h="841375">
                  <a:moveTo>
                    <a:pt x="4361992" y="47244"/>
                  </a:moveTo>
                  <a:lnTo>
                    <a:pt x="4344924" y="47244"/>
                  </a:lnTo>
                  <a:lnTo>
                    <a:pt x="4335780" y="35052"/>
                  </a:lnTo>
                  <a:lnTo>
                    <a:pt x="4355592" y="35052"/>
                  </a:lnTo>
                  <a:lnTo>
                    <a:pt x="4357116" y="36576"/>
                  </a:lnTo>
                  <a:lnTo>
                    <a:pt x="4357116" y="38100"/>
                  </a:lnTo>
                  <a:lnTo>
                    <a:pt x="4360164" y="44196"/>
                  </a:lnTo>
                  <a:lnTo>
                    <a:pt x="4361992" y="47244"/>
                  </a:lnTo>
                  <a:close/>
                </a:path>
                <a:path w="4371340" h="841375">
                  <a:moveTo>
                    <a:pt x="35433" y="36576"/>
                  </a:moveTo>
                  <a:lnTo>
                    <a:pt x="35052" y="36576"/>
                  </a:lnTo>
                  <a:lnTo>
                    <a:pt x="36118" y="35661"/>
                  </a:lnTo>
                  <a:lnTo>
                    <a:pt x="35433" y="36576"/>
                  </a:lnTo>
                  <a:close/>
                </a:path>
                <a:path w="4371340" h="841375">
                  <a:moveTo>
                    <a:pt x="27432" y="47244"/>
                  </a:moveTo>
                  <a:lnTo>
                    <a:pt x="27432" y="45720"/>
                  </a:lnTo>
                  <a:lnTo>
                    <a:pt x="28575" y="45720"/>
                  </a:lnTo>
                  <a:lnTo>
                    <a:pt x="27432" y="47244"/>
                  </a:lnTo>
                  <a:close/>
                </a:path>
                <a:path w="4371340" h="841375">
                  <a:moveTo>
                    <a:pt x="4343095" y="797661"/>
                  </a:moveTo>
                  <a:lnTo>
                    <a:pt x="4352544" y="778764"/>
                  </a:lnTo>
                  <a:lnTo>
                    <a:pt x="4355592" y="766572"/>
                  </a:lnTo>
                  <a:lnTo>
                    <a:pt x="4355592" y="77724"/>
                  </a:lnTo>
                  <a:lnTo>
                    <a:pt x="4354068" y="71628"/>
                  </a:lnTo>
                  <a:lnTo>
                    <a:pt x="4352544" y="64008"/>
                  </a:lnTo>
                  <a:lnTo>
                    <a:pt x="4349496" y="57912"/>
                  </a:lnTo>
                  <a:lnTo>
                    <a:pt x="4347972" y="51816"/>
                  </a:lnTo>
                  <a:lnTo>
                    <a:pt x="4343400" y="45720"/>
                  </a:lnTo>
                  <a:lnTo>
                    <a:pt x="4344924" y="47244"/>
                  </a:lnTo>
                  <a:lnTo>
                    <a:pt x="4361992" y="47244"/>
                  </a:lnTo>
                  <a:lnTo>
                    <a:pt x="4364736" y="51816"/>
                  </a:lnTo>
                  <a:lnTo>
                    <a:pt x="4367784" y="59436"/>
                  </a:lnTo>
                  <a:lnTo>
                    <a:pt x="4370832" y="74676"/>
                  </a:lnTo>
                  <a:lnTo>
                    <a:pt x="4370832" y="766572"/>
                  </a:lnTo>
                  <a:lnTo>
                    <a:pt x="4369308" y="774192"/>
                  </a:lnTo>
                  <a:lnTo>
                    <a:pt x="4367784" y="783336"/>
                  </a:lnTo>
                  <a:lnTo>
                    <a:pt x="4364736" y="790956"/>
                  </a:lnTo>
                  <a:lnTo>
                    <a:pt x="4362450" y="795528"/>
                  </a:lnTo>
                  <a:lnTo>
                    <a:pt x="4344924" y="795528"/>
                  </a:lnTo>
                  <a:lnTo>
                    <a:pt x="4343749" y="796702"/>
                  </a:lnTo>
                  <a:lnTo>
                    <a:pt x="4343578" y="797051"/>
                  </a:lnTo>
                  <a:lnTo>
                    <a:pt x="4343095" y="797661"/>
                  </a:lnTo>
                  <a:close/>
                </a:path>
                <a:path w="4371340" h="841375">
                  <a:moveTo>
                    <a:pt x="28738" y="797051"/>
                  </a:moveTo>
                  <a:lnTo>
                    <a:pt x="27432" y="797051"/>
                  </a:lnTo>
                  <a:lnTo>
                    <a:pt x="27432" y="795528"/>
                  </a:lnTo>
                  <a:lnTo>
                    <a:pt x="28738" y="797051"/>
                  </a:lnTo>
                  <a:close/>
                </a:path>
                <a:path w="4371340" h="841375">
                  <a:moveTo>
                    <a:pt x="4347972" y="815340"/>
                  </a:moveTo>
                  <a:lnTo>
                    <a:pt x="4325112" y="815340"/>
                  </a:lnTo>
                  <a:lnTo>
                    <a:pt x="4335780" y="806195"/>
                  </a:lnTo>
                  <a:lnTo>
                    <a:pt x="4344924" y="795528"/>
                  </a:lnTo>
                  <a:lnTo>
                    <a:pt x="4362450" y="795528"/>
                  </a:lnTo>
                  <a:lnTo>
                    <a:pt x="4361688" y="797051"/>
                  </a:lnTo>
                  <a:lnTo>
                    <a:pt x="4357116" y="804672"/>
                  </a:lnTo>
                  <a:lnTo>
                    <a:pt x="4357116" y="806195"/>
                  </a:lnTo>
                  <a:lnTo>
                    <a:pt x="4347972" y="815340"/>
                  </a:lnTo>
                  <a:close/>
                </a:path>
                <a:path w="4371340" h="841375">
                  <a:moveTo>
                    <a:pt x="4336288" y="826008"/>
                  </a:moveTo>
                  <a:lnTo>
                    <a:pt x="4294632" y="826008"/>
                  </a:lnTo>
                  <a:lnTo>
                    <a:pt x="4300728" y="824484"/>
                  </a:lnTo>
                  <a:lnTo>
                    <a:pt x="4308348" y="822960"/>
                  </a:lnTo>
                  <a:lnTo>
                    <a:pt x="4314444" y="821436"/>
                  </a:lnTo>
                  <a:lnTo>
                    <a:pt x="4319016" y="818388"/>
                  </a:lnTo>
                  <a:lnTo>
                    <a:pt x="4327482" y="813307"/>
                  </a:lnTo>
                  <a:lnTo>
                    <a:pt x="4325112" y="815340"/>
                  </a:lnTo>
                  <a:lnTo>
                    <a:pt x="4347972" y="815340"/>
                  </a:lnTo>
                  <a:lnTo>
                    <a:pt x="4346448" y="816864"/>
                  </a:lnTo>
                  <a:lnTo>
                    <a:pt x="4346448" y="818388"/>
                  </a:lnTo>
                  <a:lnTo>
                    <a:pt x="4336288" y="826008"/>
                  </a:lnTo>
                  <a:close/>
                </a:path>
                <a:path w="4371340" h="841375">
                  <a:moveTo>
                    <a:pt x="47244" y="815340"/>
                  </a:moveTo>
                  <a:lnTo>
                    <a:pt x="45720" y="815340"/>
                  </a:lnTo>
                  <a:lnTo>
                    <a:pt x="45720" y="813816"/>
                  </a:lnTo>
                  <a:lnTo>
                    <a:pt x="47244" y="815340"/>
                  </a:lnTo>
                  <a:close/>
                </a:path>
              </a:pathLst>
            </a:custGeom>
            <a:solidFill>
              <a:srgbClr val="6D44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082539" y="4732019"/>
              <a:ext cx="62865" cy="824865"/>
            </a:xfrm>
            <a:custGeom>
              <a:avLst/>
              <a:gdLst/>
              <a:ahLst/>
              <a:cxnLst/>
              <a:rect l="l" t="t" r="r" b="b"/>
              <a:pathLst>
                <a:path w="62864" h="824864">
                  <a:moveTo>
                    <a:pt x="32004" y="824484"/>
                  </a:moveTo>
                  <a:lnTo>
                    <a:pt x="19288" y="822078"/>
                  </a:lnTo>
                  <a:lnTo>
                    <a:pt x="9144" y="815530"/>
                  </a:lnTo>
                  <a:lnTo>
                    <a:pt x="2428" y="805838"/>
                  </a:lnTo>
                  <a:lnTo>
                    <a:pt x="0" y="794004"/>
                  </a:lnTo>
                  <a:lnTo>
                    <a:pt x="0" y="30480"/>
                  </a:lnTo>
                  <a:lnTo>
                    <a:pt x="2428" y="18645"/>
                  </a:lnTo>
                  <a:lnTo>
                    <a:pt x="9144" y="8953"/>
                  </a:lnTo>
                  <a:lnTo>
                    <a:pt x="19288" y="2405"/>
                  </a:lnTo>
                  <a:lnTo>
                    <a:pt x="32004" y="0"/>
                  </a:lnTo>
                  <a:lnTo>
                    <a:pt x="43838" y="2405"/>
                  </a:lnTo>
                  <a:lnTo>
                    <a:pt x="53530" y="8953"/>
                  </a:lnTo>
                  <a:lnTo>
                    <a:pt x="60078" y="18645"/>
                  </a:lnTo>
                  <a:lnTo>
                    <a:pt x="62484" y="30480"/>
                  </a:lnTo>
                  <a:lnTo>
                    <a:pt x="62484" y="794004"/>
                  </a:lnTo>
                  <a:lnTo>
                    <a:pt x="60078" y="805838"/>
                  </a:lnTo>
                  <a:lnTo>
                    <a:pt x="53530" y="815530"/>
                  </a:lnTo>
                  <a:lnTo>
                    <a:pt x="43838" y="822078"/>
                  </a:lnTo>
                  <a:lnTo>
                    <a:pt x="32004" y="824484"/>
                  </a:lnTo>
                  <a:close/>
                </a:path>
              </a:pathLst>
            </a:custGeom>
            <a:solidFill>
              <a:srgbClr val="A85B9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290856" y="4871753"/>
            <a:ext cx="1516380" cy="213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>
                <a:solidFill>
                  <a:srgbClr val="DAD8E8"/>
                </a:solidFill>
                <a:latin typeface="Arial MT"/>
                <a:cs typeface="Arial MT"/>
              </a:rPr>
              <a:t>Weekday</a:t>
            </a:r>
            <a:r>
              <a:rPr dirty="0" sz="1200" spc="120">
                <a:solidFill>
                  <a:srgbClr val="DAD8E8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DAD8E8"/>
                </a:solidFill>
                <a:latin typeface="Arial MT"/>
                <a:cs typeface="Arial MT"/>
              </a:rPr>
              <a:t>Dominance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290808" y="5182567"/>
            <a:ext cx="36518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60">
                <a:solidFill>
                  <a:srgbClr val="DAD8E8"/>
                </a:solidFill>
                <a:latin typeface="Tahoma"/>
                <a:cs typeface="Tahoma"/>
              </a:rPr>
              <a:t>Weekday</a:t>
            </a:r>
            <a:r>
              <a:rPr dirty="0" sz="110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bookings</a:t>
            </a:r>
            <a:r>
              <a:rPr dirty="0" sz="110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dominate</a:t>
            </a:r>
            <a:r>
              <a:rPr dirty="0" sz="110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AD8E8"/>
                </a:solidFill>
                <a:latin typeface="Tahoma"/>
                <a:cs typeface="Tahoma"/>
              </a:rPr>
              <a:t>over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55">
                <a:solidFill>
                  <a:srgbClr val="DAD8E8"/>
                </a:solidFill>
                <a:latin typeface="Tahoma"/>
                <a:cs typeface="Tahoma"/>
              </a:rPr>
              <a:t>weekend</a:t>
            </a:r>
            <a:r>
              <a:rPr dirty="0" sz="110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AD8E8"/>
                </a:solidFill>
                <a:latin typeface="Tahoma"/>
                <a:cs typeface="Tahoma"/>
              </a:rPr>
              <a:t>occupancy</a:t>
            </a:r>
            <a:r>
              <a:rPr dirty="0" sz="110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DAD8E8"/>
                </a:solidFill>
                <a:latin typeface="Tahoma"/>
                <a:cs typeface="Tahoma"/>
              </a:rPr>
              <a:t>patterns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08778" y="5872951"/>
            <a:ext cx="53949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25" b="1">
                <a:solidFill>
                  <a:srgbClr val="DAD8E8"/>
                </a:solidFill>
                <a:latin typeface="Tahoma"/>
                <a:cs typeface="Tahoma"/>
              </a:rPr>
              <a:t>Highlight:</a:t>
            </a:r>
            <a:r>
              <a:rPr dirty="0" sz="1100" spc="-95" b="1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60">
                <a:solidFill>
                  <a:srgbClr val="DAD8E8"/>
                </a:solidFill>
                <a:latin typeface="Tahoma"/>
                <a:cs typeface="Tahoma"/>
              </a:rPr>
              <a:t>These</a:t>
            </a:r>
            <a:r>
              <a:rPr dirty="0" sz="110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insights</a:t>
            </a:r>
            <a:r>
              <a:rPr dirty="0" sz="110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AD8E8"/>
                </a:solidFill>
                <a:latin typeface="Tahoma"/>
                <a:cs typeface="Tahoma"/>
              </a:rPr>
              <a:t>reveal</a:t>
            </a:r>
            <a:r>
              <a:rPr dirty="0" sz="110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DAD8E8"/>
                </a:solidFill>
                <a:latin typeface="Tahoma"/>
                <a:cs typeface="Tahoma"/>
              </a:rPr>
              <a:t>gaps</a:t>
            </a:r>
            <a:r>
              <a:rPr dirty="0" sz="110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25">
                <a:solidFill>
                  <a:srgbClr val="DAD8E8"/>
                </a:solidFill>
                <a:latin typeface="Tahoma"/>
                <a:cs typeface="Tahoma"/>
              </a:rPr>
              <a:t>in</a:t>
            </a:r>
            <a:r>
              <a:rPr dirty="0" sz="1100" spc="-4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customer</a:t>
            </a:r>
            <a:r>
              <a:rPr dirty="0" sz="110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5">
                <a:solidFill>
                  <a:srgbClr val="DAD8E8"/>
                </a:solidFill>
                <a:latin typeface="Tahoma"/>
                <a:cs typeface="Tahoma"/>
              </a:rPr>
              <a:t>retention,</a:t>
            </a:r>
            <a:r>
              <a:rPr dirty="0" sz="110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45">
                <a:solidFill>
                  <a:srgbClr val="DAD8E8"/>
                </a:solidFill>
                <a:latin typeface="Tahoma"/>
                <a:cs typeface="Tahoma"/>
              </a:rPr>
              <a:t>pricing,</a:t>
            </a:r>
            <a:r>
              <a:rPr dirty="0" sz="1100" spc="-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50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10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30">
                <a:solidFill>
                  <a:srgbClr val="DAD8E8"/>
                </a:solidFill>
                <a:latin typeface="Tahoma"/>
                <a:cs typeface="Tahoma"/>
              </a:rPr>
              <a:t>operational</a:t>
            </a:r>
            <a:r>
              <a:rPr dirty="0" sz="110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100" spc="-10">
                <a:solidFill>
                  <a:srgbClr val="DAD8E8"/>
                </a:solidFill>
                <a:latin typeface="Tahoma"/>
                <a:cs typeface="Tahoma"/>
              </a:rPr>
              <a:t>efficiency.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06551" y="5710428"/>
            <a:ext cx="15240" cy="532130"/>
          </a:xfrm>
          <a:custGeom>
            <a:avLst/>
            <a:gdLst/>
            <a:ahLst/>
            <a:cxnLst/>
            <a:rect l="l" t="t" r="r" b="b"/>
            <a:pathLst>
              <a:path w="15240" h="532129">
                <a:moveTo>
                  <a:pt x="15239" y="531875"/>
                </a:moveTo>
                <a:lnTo>
                  <a:pt x="0" y="531875"/>
                </a:lnTo>
                <a:lnTo>
                  <a:pt x="0" y="0"/>
                </a:lnTo>
                <a:lnTo>
                  <a:pt x="15239" y="0"/>
                </a:lnTo>
                <a:lnTo>
                  <a:pt x="15239" y="531875"/>
                </a:lnTo>
                <a:close/>
              </a:path>
            </a:pathLst>
          </a:custGeom>
          <a:solidFill>
            <a:srgbClr val="A85B9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799576" y="6323088"/>
            <a:ext cx="1259205" cy="373380"/>
          </a:xfrm>
          <a:custGeom>
            <a:avLst/>
            <a:gdLst/>
            <a:ahLst/>
            <a:cxnLst/>
            <a:rect l="l" t="t" r="r" b="b"/>
            <a:pathLst>
              <a:path w="1259204" h="373379">
                <a:moveTo>
                  <a:pt x="1258824" y="0"/>
                </a:moveTo>
                <a:lnTo>
                  <a:pt x="0" y="0"/>
                </a:lnTo>
                <a:lnTo>
                  <a:pt x="0" y="373380"/>
                </a:lnTo>
                <a:lnTo>
                  <a:pt x="1258824" y="373380"/>
                </a:lnTo>
                <a:lnTo>
                  <a:pt x="1258824" y="368808"/>
                </a:lnTo>
                <a:lnTo>
                  <a:pt x="1258824" y="364236"/>
                </a:lnTo>
                <a:lnTo>
                  <a:pt x="1258824" y="7620"/>
                </a:lnTo>
                <a:lnTo>
                  <a:pt x="1258824" y="3048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27007" y="6385560"/>
            <a:ext cx="1185671" cy="2834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799576" y="6323088"/>
            <a:ext cx="1259205" cy="373380"/>
          </a:xfrm>
          <a:custGeom>
            <a:avLst/>
            <a:gdLst/>
            <a:ahLst/>
            <a:cxnLst/>
            <a:rect l="l" t="t" r="r" b="b"/>
            <a:pathLst>
              <a:path w="1259204" h="373379">
                <a:moveTo>
                  <a:pt x="1258824" y="0"/>
                </a:moveTo>
                <a:lnTo>
                  <a:pt x="0" y="0"/>
                </a:lnTo>
                <a:lnTo>
                  <a:pt x="0" y="373380"/>
                </a:lnTo>
                <a:lnTo>
                  <a:pt x="1258824" y="373380"/>
                </a:lnTo>
                <a:lnTo>
                  <a:pt x="1258824" y="368808"/>
                </a:lnTo>
                <a:lnTo>
                  <a:pt x="1258824" y="364236"/>
                </a:lnTo>
                <a:lnTo>
                  <a:pt x="1258824" y="7620"/>
                </a:lnTo>
                <a:lnTo>
                  <a:pt x="1258824" y="3048"/>
                </a:lnTo>
                <a:lnTo>
                  <a:pt x="1258824" y="0"/>
                </a:lnTo>
                <a:close/>
              </a:path>
            </a:pathLst>
          </a:custGeom>
          <a:solidFill>
            <a:srgbClr val="000C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5404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7936" y="2206266"/>
            <a:ext cx="8557895" cy="327025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36830" marR="5080">
              <a:lnSpc>
                <a:spcPct val="154400"/>
              </a:lnSpc>
              <a:spcBef>
                <a:spcPts val="75"/>
              </a:spcBef>
            </a:pP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This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project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demonstrates</a:t>
            </a:r>
            <a:r>
              <a:rPr dirty="0" sz="1350" spc="-13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how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data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analytics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helps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convert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raw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data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into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meaningful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insights.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DAD8E8"/>
                </a:solidFill>
                <a:latin typeface="Tahoma"/>
                <a:cs typeface="Tahoma"/>
              </a:rPr>
              <a:t>The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use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of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Power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45">
                <a:solidFill>
                  <a:srgbClr val="DAD8E8"/>
                </a:solidFill>
                <a:latin typeface="Tahoma"/>
                <a:cs typeface="Tahoma"/>
              </a:rPr>
              <a:t>BI</a:t>
            </a:r>
            <a:r>
              <a:rPr dirty="0" sz="135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for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visualization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decision-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making</a:t>
            </a:r>
            <a:r>
              <a:rPr dirty="0" sz="1350" spc="-12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enables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stakeholders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to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identify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trends,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patterns,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opportunities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for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improvement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across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all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operational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dimensions.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500">
                <a:solidFill>
                  <a:srgbClr val="C6BFED"/>
                </a:solidFill>
                <a:latin typeface="Arial MT"/>
                <a:cs typeface="Arial MT"/>
              </a:rPr>
              <a:t>Key</a:t>
            </a:r>
            <a:r>
              <a:rPr dirty="0" sz="1500" spc="-35">
                <a:solidFill>
                  <a:srgbClr val="C6BFED"/>
                </a:solidFill>
                <a:latin typeface="Arial MT"/>
                <a:cs typeface="Arial MT"/>
              </a:rPr>
              <a:t> </a:t>
            </a:r>
            <a:r>
              <a:rPr dirty="0" sz="1500" spc="-10">
                <a:solidFill>
                  <a:srgbClr val="C6BFED"/>
                </a:solidFill>
                <a:latin typeface="Arial MT"/>
                <a:cs typeface="Arial MT"/>
              </a:rPr>
              <a:t>Takeaways</a:t>
            </a:r>
            <a:endParaRPr sz="1500">
              <a:latin typeface="Arial MT"/>
              <a:cs typeface="Arial MT"/>
            </a:endParaRPr>
          </a:p>
          <a:p>
            <a:pPr marL="384810" indent="-236854">
              <a:lnSpc>
                <a:spcPct val="100000"/>
              </a:lnSpc>
              <a:spcBef>
                <a:spcPts val="1460"/>
              </a:spcBef>
              <a:buChar char="•"/>
              <a:tabLst>
                <a:tab pos="384810" algn="l"/>
              </a:tabLst>
            </a:pP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Revenue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performance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analysis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reveals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significant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variation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across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types</a:t>
            </a:r>
            <a:r>
              <a:rPr dirty="0" sz="1350" spc="-6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market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segments</a:t>
            </a:r>
            <a:endParaRPr sz="1350">
              <a:latin typeface="Tahoma"/>
              <a:cs typeface="Tahoma"/>
            </a:endParaRPr>
          </a:p>
          <a:p>
            <a:pPr marL="384810" indent="-236854">
              <a:lnSpc>
                <a:spcPct val="100000"/>
              </a:lnSpc>
              <a:spcBef>
                <a:spcPts val="865"/>
              </a:spcBef>
              <a:buChar char="•"/>
              <a:tabLst>
                <a:tab pos="384810" algn="l"/>
              </a:tabLst>
            </a:pP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Customer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booking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behavior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understanding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shows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heavy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reliance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on</a:t>
            </a: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new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customers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third-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party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channels</a:t>
            </a:r>
            <a:endParaRPr sz="1350">
              <a:latin typeface="Tahoma"/>
              <a:cs typeface="Tahoma"/>
            </a:endParaRPr>
          </a:p>
          <a:p>
            <a:pPr marL="384810" indent="-236854">
              <a:lnSpc>
                <a:spcPct val="100000"/>
              </a:lnSpc>
              <a:spcBef>
                <a:spcPts val="850"/>
              </a:spcBef>
              <a:buChar char="•"/>
              <a:tabLst>
                <a:tab pos="384810" algn="l"/>
              </a:tabLst>
            </a:pP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Pricing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strategy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evaluation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indicates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need</a:t>
            </a:r>
            <a:r>
              <a:rPr dirty="0" sz="135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DAD8E8"/>
                </a:solidFill>
                <a:latin typeface="Tahoma"/>
                <a:cs typeface="Tahoma"/>
              </a:rPr>
              <a:t>for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dynamic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pricing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based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on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seasonal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demand</a:t>
            </a:r>
            <a:endParaRPr sz="1350">
              <a:latin typeface="Tahoma"/>
              <a:cs typeface="Tahoma"/>
            </a:endParaRPr>
          </a:p>
          <a:p>
            <a:pPr marL="384810" indent="-236854">
              <a:lnSpc>
                <a:spcPct val="100000"/>
              </a:lnSpc>
              <a:spcBef>
                <a:spcPts val="865"/>
              </a:spcBef>
              <a:buChar char="•"/>
              <a:tabLst>
                <a:tab pos="384810" algn="l"/>
              </a:tabLst>
            </a:pP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Operational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insights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identification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highlights</a:t>
            </a:r>
            <a:r>
              <a:rPr dirty="0" sz="1350" spc="-12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DAD8E8"/>
                </a:solidFill>
                <a:latin typeface="Tahoma"/>
                <a:cs typeface="Tahoma"/>
              </a:rPr>
              <a:t>weekday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dominance</a:t>
            </a:r>
            <a:r>
              <a:rPr dirty="0" sz="1350" spc="-11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low</a:t>
            </a:r>
            <a:r>
              <a:rPr dirty="0" sz="135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weekend</a:t>
            </a:r>
            <a:r>
              <a:rPr dirty="0" sz="1350" spc="-9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occupancy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50" spc="-60">
                <a:solidFill>
                  <a:srgbClr val="DAD8E8"/>
                </a:solidFill>
                <a:latin typeface="Tahoma"/>
                <a:cs typeface="Tahoma"/>
              </a:rPr>
              <a:t>These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insights</a:t>
            </a:r>
            <a:r>
              <a:rPr dirty="0" sz="1350" spc="-10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DAD8E8"/>
                </a:solidFill>
                <a:latin typeface="Tahoma"/>
                <a:cs typeface="Tahoma"/>
              </a:rPr>
              <a:t>support</a:t>
            </a:r>
            <a:r>
              <a:rPr dirty="0" sz="1350" spc="-8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0">
                <a:solidFill>
                  <a:srgbClr val="DAD8E8"/>
                </a:solidFill>
                <a:latin typeface="Tahoma"/>
                <a:cs typeface="Tahoma"/>
              </a:rPr>
              <a:t>data-</a:t>
            </a:r>
            <a:r>
              <a:rPr dirty="0" sz="1350" spc="-35">
                <a:solidFill>
                  <a:srgbClr val="DAD8E8"/>
                </a:solidFill>
                <a:latin typeface="Tahoma"/>
                <a:cs typeface="Tahoma"/>
              </a:rPr>
              <a:t>driven</a:t>
            </a:r>
            <a:r>
              <a:rPr dirty="0" sz="1350" spc="-10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5">
                <a:solidFill>
                  <a:srgbClr val="DAD8E8"/>
                </a:solidFill>
                <a:latin typeface="Tahoma"/>
                <a:cs typeface="Tahoma"/>
              </a:rPr>
              <a:t>decision-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making</a:t>
            </a:r>
            <a:r>
              <a:rPr dirty="0" sz="1350" spc="-7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55">
                <a:solidFill>
                  <a:srgbClr val="DAD8E8"/>
                </a:solidFill>
                <a:latin typeface="Tahoma"/>
                <a:cs typeface="Tahoma"/>
              </a:rPr>
              <a:t>and</a:t>
            </a:r>
            <a:r>
              <a:rPr dirty="0" sz="1350" spc="-114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help</a:t>
            </a:r>
            <a:r>
              <a:rPr dirty="0" sz="1350" spc="-7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DAD8E8"/>
                </a:solidFill>
                <a:latin typeface="Tahoma"/>
                <a:cs typeface="Tahoma"/>
              </a:rPr>
              <a:t>improve</a:t>
            </a:r>
            <a:r>
              <a:rPr dirty="0" sz="1350" spc="-9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40">
                <a:solidFill>
                  <a:srgbClr val="DAD8E8"/>
                </a:solidFill>
                <a:latin typeface="Tahoma"/>
                <a:cs typeface="Tahoma"/>
              </a:rPr>
              <a:t>overall</a:t>
            </a:r>
            <a:r>
              <a:rPr dirty="0" sz="1350" spc="-80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DAD8E8"/>
                </a:solidFill>
                <a:latin typeface="Tahoma"/>
                <a:cs typeface="Tahoma"/>
              </a:rPr>
              <a:t>hotel</a:t>
            </a:r>
            <a:r>
              <a:rPr dirty="0" sz="1350" spc="-65">
                <a:solidFill>
                  <a:srgbClr val="DAD8E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DAD8E8"/>
                </a:solidFill>
                <a:latin typeface="Tahoma"/>
                <a:cs typeface="Tahoma"/>
              </a:rPr>
              <a:t>performance.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 BOKARE</dc:creator>
  <dc:title>Microsoft PowerPoint - Final Hotel-Revenue-Analysis-2018-2020</dc:title>
  <dcterms:created xsi:type="dcterms:W3CDTF">2026-03-27T14:12:42Z</dcterms:created>
  <dcterms:modified xsi:type="dcterms:W3CDTF">2026-03-27T14:12:42Z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2026-03-26T00:00:00Z</vt:filetime>
  </property>
  <property fmtid="{D5CDD505-2E9C-101B-9397-08002B2CF9AE}" pid="3" name="LastSaved">
    <vt:filetime>2026-03-27T00:00:00Z</vt:filetime>
  </property>
  <property fmtid="{D5CDD505-2E9C-101B-9397-08002B2CF9AE}" pid="4" name="Producer">
    <vt:lpwstr>Microsoft: Print To PDF</vt:lpwstr>
  </property>
</Properties>
</file>